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1"/>
  </p:sldMasterIdLst>
  <p:notesMasterIdLst>
    <p:notesMasterId r:id="rId27"/>
  </p:notesMasterIdLst>
  <p:sldIdLst>
    <p:sldId id="281" r:id="rId2"/>
    <p:sldId id="283"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Lst>
  <p:sldSz cx="12192000" cy="6858000"/>
  <p:notesSz cx="6858000" cy="12192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46" d="100"/>
          <a:sy n="46" d="100"/>
        </p:scale>
        <p:origin x="1420" y="5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47125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7/12/2026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965258845"/>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7/12/2026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928502849"/>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962777321"/>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dirty="0"/>
              <a:t>7/12/2026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dirty="0"/>
              <a:t>‹#›</a:t>
            </a:fld>
            <a:endParaRPr lang="en-US" dirty="0"/>
          </a:p>
        </p:txBody>
      </p:sp>
    </p:spTree>
    <p:extLst>
      <p:ext uri="{BB962C8B-B14F-4D97-AF65-F5344CB8AC3E}">
        <p14:creationId xmlns:p14="http://schemas.microsoft.com/office/powerpoint/2010/main" val="2868150992"/>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7/12/2026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224462577"/>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7/12/2026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066370901"/>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7/12/2026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611350750"/>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t>7/12/2026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extLst>
      <p:ext uri="{BB962C8B-B14F-4D97-AF65-F5344CB8AC3E}">
        <p14:creationId xmlns:p14="http://schemas.microsoft.com/office/powerpoint/2010/main" val="297952810"/>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7/12/2026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4102495985"/>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4251428883"/>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750883619"/>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893372027"/>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056065897"/>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60494921"/>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7/12/2026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extLst>
      <p:ext uri="{BB962C8B-B14F-4D97-AF65-F5344CB8AC3E}">
        <p14:creationId xmlns:p14="http://schemas.microsoft.com/office/powerpoint/2010/main" val="3423365183"/>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7/12/2026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4044512085"/>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284921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7/12/2026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2733248635"/>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Lst>
  <p:hf sldNum="0"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7.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7.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7.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7.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7.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8545" y="845128"/>
            <a:ext cx="11546353" cy="5846618"/>
          </a:xfrm>
        </p:spPr>
        <p:txBody>
          <a:bodyPr/>
          <a:lstStyle/>
          <a:p>
            <a:pPr algn="ctr">
              <a:lnSpc>
                <a:spcPct val="150000"/>
              </a:lnSpc>
            </a:pPr>
            <a:r>
              <a:rPr lang="en-GB" sz="1400" b="1" dirty="0" smtClean="0">
                <a:solidFill>
                  <a:schemeClr val="tx2"/>
                </a:solidFill>
                <a:latin typeface="Times New Roman" panose="02020603050405020304" pitchFamily="18" charset="0"/>
                <a:cs typeface="Times New Roman" panose="02020603050405020304" pitchFamily="18" charset="0"/>
              </a:rPr>
              <a:t>UNIVERSITY OF PROFESSIONAL STUDIES, ACCRA</a:t>
            </a:r>
            <a:br>
              <a:rPr lang="en-GB" sz="1400" b="1" dirty="0" smtClean="0">
                <a:solidFill>
                  <a:schemeClr val="tx2"/>
                </a:solidFill>
                <a:latin typeface="Times New Roman" panose="02020603050405020304" pitchFamily="18" charset="0"/>
                <a:cs typeface="Times New Roman" panose="02020603050405020304" pitchFamily="18" charset="0"/>
              </a:rPr>
            </a:br>
            <a:r>
              <a:rPr lang="en-GB" sz="1400" b="1" dirty="0" smtClean="0">
                <a:solidFill>
                  <a:schemeClr val="tx2"/>
                </a:solidFill>
                <a:latin typeface="Times New Roman" panose="02020603050405020304" pitchFamily="18" charset="0"/>
                <a:cs typeface="Times New Roman" panose="02020603050405020304" pitchFamily="18" charset="0"/>
              </a:rPr>
              <a:t>PROGRAMME</a:t>
            </a:r>
            <a:r>
              <a:rPr lang="en-GB" sz="1400" b="1" dirty="0">
                <a:solidFill>
                  <a:schemeClr val="tx2"/>
                </a:solidFill>
                <a:latin typeface="Times New Roman" panose="02020603050405020304" pitchFamily="18" charset="0"/>
                <a:cs typeface="Times New Roman" panose="02020603050405020304" pitchFamily="18" charset="0"/>
              </a:rPr>
              <a:t>: BSc Information Technology</a:t>
            </a:r>
            <a:r>
              <a:rPr lang="en-US" sz="1400" dirty="0">
                <a:solidFill>
                  <a:schemeClr val="tx2"/>
                </a:solidFill>
                <a:latin typeface="Times New Roman" panose="02020603050405020304" pitchFamily="18" charset="0"/>
                <a:cs typeface="Times New Roman" panose="02020603050405020304" pitchFamily="18" charset="0"/>
              </a:rPr>
              <a:t/>
            </a:r>
            <a:br>
              <a:rPr lang="en-US" sz="1400" dirty="0">
                <a:solidFill>
                  <a:schemeClr val="tx2"/>
                </a:solidFill>
                <a:latin typeface="Times New Roman" panose="02020603050405020304" pitchFamily="18" charset="0"/>
                <a:cs typeface="Times New Roman" panose="02020603050405020304" pitchFamily="18" charset="0"/>
              </a:rPr>
            </a:br>
            <a:r>
              <a:rPr lang="en-GB" sz="1400" b="1" dirty="0">
                <a:solidFill>
                  <a:schemeClr val="tx2"/>
                </a:solidFill>
                <a:latin typeface="Times New Roman" panose="02020603050405020304" pitchFamily="18" charset="0"/>
                <a:cs typeface="Times New Roman" panose="02020603050405020304" pitchFamily="18" charset="0"/>
              </a:rPr>
              <a:t>COURSE: Introduction to Management</a:t>
            </a:r>
            <a:r>
              <a:rPr lang="en-US" sz="1400" dirty="0">
                <a:solidFill>
                  <a:schemeClr val="tx2"/>
                </a:solidFill>
                <a:latin typeface="Times New Roman" panose="02020603050405020304" pitchFamily="18" charset="0"/>
                <a:cs typeface="Times New Roman" panose="02020603050405020304" pitchFamily="18" charset="0"/>
              </a:rPr>
              <a:t/>
            </a:r>
            <a:br>
              <a:rPr lang="en-US" sz="1400" dirty="0">
                <a:solidFill>
                  <a:schemeClr val="tx2"/>
                </a:solidFill>
                <a:latin typeface="Times New Roman" panose="02020603050405020304" pitchFamily="18" charset="0"/>
                <a:cs typeface="Times New Roman" panose="02020603050405020304" pitchFamily="18" charset="0"/>
              </a:rPr>
            </a:br>
            <a:r>
              <a:rPr lang="en-GB" sz="1400" b="1" dirty="0">
                <a:solidFill>
                  <a:schemeClr val="tx2"/>
                </a:solidFill>
                <a:latin typeface="Times New Roman" panose="02020603050405020304" pitchFamily="18" charset="0"/>
                <a:cs typeface="Times New Roman" panose="02020603050405020304" pitchFamily="18" charset="0"/>
              </a:rPr>
              <a:t>COURSE CODE: BCPC 108</a:t>
            </a:r>
            <a:r>
              <a:rPr lang="en-US" sz="1400" dirty="0">
                <a:solidFill>
                  <a:schemeClr val="tx2"/>
                </a:solidFill>
                <a:latin typeface="Times New Roman" panose="02020603050405020304" pitchFamily="18" charset="0"/>
                <a:cs typeface="Times New Roman" panose="02020603050405020304" pitchFamily="18" charset="0"/>
              </a:rPr>
              <a:t/>
            </a:r>
            <a:br>
              <a:rPr lang="en-US" sz="1400" dirty="0">
                <a:solidFill>
                  <a:schemeClr val="tx2"/>
                </a:solidFill>
                <a:latin typeface="Times New Roman" panose="02020603050405020304" pitchFamily="18" charset="0"/>
                <a:cs typeface="Times New Roman" panose="02020603050405020304" pitchFamily="18" charset="0"/>
              </a:rPr>
            </a:br>
            <a:r>
              <a:rPr lang="en-GB" sz="1400" b="1" dirty="0">
                <a:solidFill>
                  <a:schemeClr val="tx2"/>
                </a:solidFill>
                <a:latin typeface="Times New Roman" panose="02020603050405020304" pitchFamily="18" charset="0"/>
                <a:cs typeface="Times New Roman" panose="02020603050405020304" pitchFamily="18" charset="0"/>
              </a:rPr>
              <a:t>CLASS: IT 1 (GROUP 7)</a:t>
            </a:r>
            <a:r>
              <a:rPr lang="en-US" sz="1400" dirty="0">
                <a:solidFill>
                  <a:schemeClr val="tx2"/>
                </a:solidFill>
                <a:latin typeface="Times New Roman" panose="02020603050405020304" pitchFamily="18" charset="0"/>
                <a:cs typeface="Times New Roman" panose="02020603050405020304" pitchFamily="18" charset="0"/>
              </a:rPr>
              <a:t/>
            </a:r>
            <a:br>
              <a:rPr lang="en-US" sz="1400" dirty="0">
                <a:solidFill>
                  <a:schemeClr val="tx2"/>
                </a:solidFill>
                <a:latin typeface="Times New Roman" panose="02020603050405020304" pitchFamily="18" charset="0"/>
                <a:cs typeface="Times New Roman" panose="02020603050405020304" pitchFamily="18" charset="0"/>
              </a:rPr>
            </a:br>
            <a:r>
              <a:rPr lang="en-GB" sz="1400" b="1" dirty="0">
                <a:solidFill>
                  <a:schemeClr val="tx2"/>
                </a:solidFill>
                <a:latin typeface="Times New Roman" panose="02020603050405020304" pitchFamily="18" charset="0"/>
                <a:cs typeface="Times New Roman" panose="02020603050405020304" pitchFamily="18" charset="0"/>
              </a:rPr>
              <a:t>SESSION: Weekend</a:t>
            </a:r>
            <a:r>
              <a:rPr lang="en-US" sz="1400" dirty="0">
                <a:solidFill>
                  <a:schemeClr val="tx2"/>
                </a:solidFill>
                <a:latin typeface="Times New Roman" panose="02020603050405020304" pitchFamily="18" charset="0"/>
                <a:cs typeface="Times New Roman" panose="02020603050405020304" pitchFamily="18" charset="0"/>
              </a:rPr>
              <a:t/>
            </a:r>
            <a:br>
              <a:rPr lang="en-US" sz="1400" dirty="0">
                <a:solidFill>
                  <a:schemeClr val="tx2"/>
                </a:solidFill>
                <a:latin typeface="Times New Roman" panose="02020603050405020304" pitchFamily="18" charset="0"/>
                <a:cs typeface="Times New Roman" panose="02020603050405020304" pitchFamily="18" charset="0"/>
              </a:rPr>
            </a:br>
            <a:r>
              <a:rPr lang="en-GB" sz="1400" b="1" dirty="0">
                <a:solidFill>
                  <a:schemeClr val="tx2"/>
                </a:solidFill>
                <a:latin typeface="Times New Roman" panose="02020603050405020304" pitchFamily="18" charset="0"/>
                <a:cs typeface="Times New Roman" panose="02020603050405020304" pitchFamily="18" charset="0"/>
              </a:rPr>
              <a:t>NAME OF LECTURER: ABDUL-JAIL IBRAHIM</a:t>
            </a:r>
            <a:r>
              <a:rPr lang="en-US" sz="1400" dirty="0">
                <a:solidFill>
                  <a:schemeClr val="tx2"/>
                </a:solidFill>
                <a:latin typeface="Times New Roman" panose="02020603050405020304" pitchFamily="18" charset="0"/>
                <a:cs typeface="Times New Roman" panose="02020603050405020304" pitchFamily="18" charset="0"/>
              </a:rPr>
              <a:t/>
            </a:r>
            <a:br>
              <a:rPr lang="en-US" sz="1400" dirty="0">
                <a:solidFill>
                  <a:schemeClr val="tx2"/>
                </a:solidFill>
                <a:latin typeface="Times New Roman" panose="02020603050405020304" pitchFamily="18" charset="0"/>
                <a:cs typeface="Times New Roman" panose="02020603050405020304" pitchFamily="18" charset="0"/>
              </a:rPr>
            </a:br>
            <a:r>
              <a:rPr lang="en-GB" sz="1400" dirty="0">
                <a:solidFill>
                  <a:schemeClr val="tx2"/>
                </a:solidFill>
                <a:latin typeface="Times New Roman" panose="02020603050405020304" pitchFamily="18" charset="0"/>
                <a:cs typeface="Times New Roman" panose="02020603050405020304" pitchFamily="18" charset="0"/>
              </a:rPr>
              <a:t>NAMES OF </a:t>
            </a:r>
            <a:r>
              <a:rPr lang="en-GB" sz="1400" dirty="0" smtClean="0">
                <a:solidFill>
                  <a:schemeClr val="tx2"/>
                </a:solidFill>
                <a:latin typeface="Times New Roman" panose="02020603050405020304" pitchFamily="18" charset="0"/>
                <a:cs typeface="Times New Roman" panose="02020603050405020304" pitchFamily="18" charset="0"/>
              </a:rPr>
              <a:t>MEMBERS</a:t>
            </a:r>
            <a:br>
              <a:rPr lang="en-GB" sz="1400" dirty="0" smtClean="0">
                <a:solidFill>
                  <a:schemeClr val="tx2"/>
                </a:solidFill>
                <a:latin typeface="Times New Roman" panose="02020603050405020304" pitchFamily="18" charset="0"/>
                <a:cs typeface="Times New Roman" panose="02020603050405020304" pitchFamily="18" charset="0"/>
              </a:rPr>
            </a:br>
            <a:r>
              <a:rPr lang="en-GB" sz="1400" i="1" dirty="0" smtClean="0">
                <a:solidFill>
                  <a:schemeClr val="tx2"/>
                </a:solidFill>
                <a:latin typeface="Times New Roman" panose="02020603050405020304" pitchFamily="18" charset="0"/>
                <a:cs typeface="Times New Roman" panose="02020603050405020304" pitchFamily="18" charset="0"/>
              </a:rPr>
              <a:t>ROONEY ADJETEY          10342006</a:t>
            </a:r>
            <a:br>
              <a:rPr lang="en-GB" sz="1400" i="1" dirty="0" smtClean="0">
                <a:solidFill>
                  <a:schemeClr val="tx2"/>
                </a:solidFill>
                <a:latin typeface="Times New Roman" panose="02020603050405020304" pitchFamily="18" charset="0"/>
                <a:cs typeface="Times New Roman" panose="02020603050405020304" pitchFamily="18" charset="0"/>
              </a:rPr>
            </a:br>
            <a:r>
              <a:rPr lang="en-GB" sz="1400" i="1" dirty="0" smtClean="0">
                <a:solidFill>
                  <a:schemeClr val="tx2"/>
                </a:solidFill>
                <a:latin typeface="Times New Roman" panose="02020603050405020304" pitchFamily="18" charset="0"/>
                <a:cs typeface="Times New Roman" panose="02020603050405020304" pitchFamily="18" charset="0"/>
              </a:rPr>
              <a:t>PRINCE MARTEY ARDEN 10348709</a:t>
            </a:r>
            <a:br>
              <a:rPr lang="en-GB" sz="1400" i="1" dirty="0" smtClean="0">
                <a:solidFill>
                  <a:schemeClr val="tx2"/>
                </a:solidFill>
                <a:latin typeface="Times New Roman" panose="02020603050405020304" pitchFamily="18" charset="0"/>
                <a:cs typeface="Times New Roman" panose="02020603050405020304" pitchFamily="18" charset="0"/>
              </a:rPr>
            </a:br>
            <a:r>
              <a:rPr lang="en-GB" sz="1400" i="1" dirty="0" smtClean="0">
                <a:solidFill>
                  <a:schemeClr val="tx2"/>
                </a:solidFill>
                <a:latin typeface="Times New Roman" panose="02020603050405020304" pitchFamily="18" charset="0"/>
                <a:cs typeface="Times New Roman" panose="02020603050405020304" pitchFamily="18" charset="0"/>
              </a:rPr>
              <a:t>KWAME TABIRI OBIRI AMOAKO     10341572</a:t>
            </a:r>
            <a:br>
              <a:rPr lang="en-GB" sz="1400" i="1" dirty="0" smtClean="0">
                <a:solidFill>
                  <a:schemeClr val="tx2"/>
                </a:solidFill>
                <a:latin typeface="Times New Roman" panose="02020603050405020304" pitchFamily="18" charset="0"/>
                <a:cs typeface="Times New Roman" panose="02020603050405020304" pitchFamily="18" charset="0"/>
              </a:rPr>
            </a:br>
            <a:r>
              <a:rPr lang="en-GB" sz="1400" i="1" dirty="0" smtClean="0">
                <a:solidFill>
                  <a:schemeClr val="tx2"/>
                </a:solidFill>
                <a:latin typeface="Times New Roman" panose="02020603050405020304" pitchFamily="18" charset="0"/>
                <a:cs typeface="Times New Roman" panose="02020603050405020304" pitchFamily="18" charset="0"/>
              </a:rPr>
              <a:t>JOSEPH MANAWUBA   10337576</a:t>
            </a:r>
            <a:br>
              <a:rPr lang="en-GB" sz="1400" i="1" dirty="0" smtClean="0">
                <a:solidFill>
                  <a:schemeClr val="tx2"/>
                </a:solidFill>
                <a:latin typeface="Times New Roman" panose="02020603050405020304" pitchFamily="18" charset="0"/>
                <a:cs typeface="Times New Roman" panose="02020603050405020304" pitchFamily="18" charset="0"/>
              </a:rPr>
            </a:br>
            <a:r>
              <a:rPr lang="en-GB" sz="1400" i="1" dirty="0" smtClean="0">
                <a:solidFill>
                  <a:schemeClr val="tx2"/>
                </a:solidFill>
                <a:latin typeface="Times New Roman" panose="02020603050405020304" pitchFamily="18" charset="0"/>
                <a:cs typeface="Times New Roman" panose="02020603050405020304" pitchFamily="18" charset="0"/>
              </a:rPr>
              <a:t>AMENYO JOHN YAW    10342213</a:t>
            </a:r>
            <a:br>
              <a:rPr lang="en-GB" sz="1400" i="1" dirty="0" smtClean="0">
                <a:solidFill>
                  <a:schemeClr val="tx2"/>
                </a:solidFill>
                <a:latin typeface="Times New Roman" panose="02020603050405020304" pitchFamily="18" charset="0"/>
                <a:cs typeface="Times New Roman" panose="02020603050405020304" pitchFamily="18" charset="0"/>
              </a:rPr>
            </a:br>
            <a:r>
              <a:rPr lang="en-GB" sz="1400" i="1" dirty="0" smtClean="0">
                <a:solidFill>
                  <a:schemeClr val="tx2"/>
                </a:solidFill>
                <a:latin typeface="Times New Roman" panose="02020603050405020304" pitchFamily="18" charset="0"/>
                <a:cs typeface="Times New Roman" panose="02020603050405020304" pitchFamily="18" charset="0"/>
              </a:rPr>
              <a:t>ADJETEY ROONEY ADJEI    10343006</a:t>
            </a:r>
            <a:br>
              <a:rPr lang="en-GB" sz="1400" i="1" dirty="0" smtClean="0">
                <a:solidFill>
                  <a:schemeClr val="tx2"/>
                </a:solidFill>
                <a:latin typeface="Times New Roman" panose="02020603050405020304" pitchFamily="18" charset="0"/>
                <a:cs typeface="Times New Roman" panose="02020603050405020304" pitchFamily="18" charset="0"/>
              </a:rPr>
            </a:br>
            <a:r>
              <a:rPr lang="en-GB" sz="1400" i="1" dirty="0" smtClean="0">
                <a:solidFill>
                  <a:schemeClr val="tx2"/>
                </a:solidFill>
                <a:latin typeface="Times New Roman" panose="02020603050405020304" pitchFamily="18" charset="0"/>
                <a:cs typeface="Times New Roman" panose="02020603050405020304" pitchFamily="18" charset="0"/>
              </a:rPr>
              <a:t>AARON ADAMS ANKRAH   10341565</a:t>
            </a:r>
            <a:r>
              <a:rPr lang="en-GB" sz="1400" dirty="0" smtClean="0">
                <a:solidFill>
                  <a:schemeClr val="tx2"/>
                </a:solidFill>
                <a:latin typeface="Times New Roman" panose="02020603050405020304" pitchFamily="18" charset="0"/>
                <a:cs typeface="Times New Roman" panose="02020603050405020304" pitchFamily="18" charset="0"/>
              </a:rPr>
              <a:t/>
            </a:r>
            <a:br>
              <a:rPr lang="en-GB" sz="1400" dirty="0" smtClean="0">
                <a:solidFill>
                  <a:schemeClr val="tx2"/>
                </a:solidFill>
                <a:latin typeface="Times New Roman" panose="02020603050405020304" pitchFamily="18" charset="0"/>
                <a:cs typeface="Times New Roman" panose="02020603050405020304" pitchFamily="18" charset="0"/>
              </a:rPr>
            </a:br>
            <a:endParaRPr lang="en-US" sz="1400" dirty="0">
              <a:solidFill>
                <a:schemeClr val="tx2"/>
              </a:solidFill>
              <a:latin typeface="Times New Roman" panose="02020603050405020304" pitchFamily="18" charset="0"/>
              <a:cs typeface="Times New Roman" panose="02020603050405020304" pitchFamily="18" charset="0"/>
            </a:endParaRPr>
          </a:p>
        </p:txBody>
      </p:sp>
      <p:pic>
        <p:nvPicPr>
          <p:cNvPr id="4" name="Picture 3" descr="C:\Users\madam\AppData\Local\Temp\UPSA NEW LOGO.png"/>
          <p:cNvPicPr/>
          <p:nvPr/>
        </p:nvPicPr>
        <p:blipFill>
          <a:blip r:embed="rId2" cstate="print"/>
          <a:srcRect/>
          <a:stretch>
            <a:fillRect/>
          </a:stretch>
        </p:blipFill>
        <p:spPr bwMode="auto">
          <a:xfrm>
            <a:off x="6433167" y="404603"/>
            <a:ext cx="5251731" cy="987227"/>
          </a:xfrm>
          <a:prstGeom prst="rect">
            <a:avLst/>
          </a:prstGeom>
          <a:noFill/>
          <a:ln w="9525">
            <a:noFill/>
            <a:miter lim="800000"/>
            <a:headEnd/>
            <a:tailEnd/>
          </a:ln>
        </p:spPr>
      </p:pic>
    </p:spTree>
    <p:extLst>
      <p:ext uri="{BB962C8B-B14F-4D97-AF65-F5344CB8AC3E}">
        <p14:creationId xmlns:p14="http://schemas.microsoft.com/office/powerpoint/2010/main" val="11263616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8036" y="1565564"/>
            <a:ext cx="10958946" cy="2867891"/>
          </a:xfrm>
        </p:spPr>
        <p:txBody>
          <a:bodyPr>
            <a:normAutofit/>
          </a:bodyPr>
          <a:lstStyle/>
          <a:p>
            <a:r>
              <a:rPr lang="en-US" sz="2700" dirty="0" smtClean="0">
                <a:solidFill>
                  <a:schemeClr val="tx1"/>
                </a:solidFill>
                <a:latin typeface="Calibri" panose="020F0502020204030204" pitchFamily="34" charset="0"/>
                <a:ea typeface="Calibri" panose="020F0502020204030204" pitchFamily="34" charset="0"/>
                <a:cs typeface="Calibri" panose="020F0502020204030204" pitchFamily="34" charset="0"/>
              </a:rPr>
              <a:t>WEEK 7 . MANAGEMENT</a:t>
            </a:r>
            <a:r>
              <a:rPr lang="en-US" sz="2400" dirty="0" smtClean="0">
                <a:solidFill>
                  <a:schemeClr val="tx1"/>
                </a:solidFill>
                <a:latin typeface="Calibri" panose="020F0502020204030204" pitchFamily="34" charset="0"/>
                <a:ea typeface="Calibri" panose="020F0502020204030204" pitchFamily="34" charset="0"/>
                <a:cs typeface="Calibri" panose="020F0502020204030204" pitchFamily="34" charset="0"/>
              </a:rPr>
              <a:t/>
            </a:r>
            <a:br>
              <a:rPr lang="en-US" sz="2400" dirty="0" smtClean="0">
                <a:solidFill>
                  <a:schemeClr val="tx1"/>
                </a:solidFill>
                <a:latin typeface="Calibri" panose="020F0502020204030204" pitchFamily="34" charset="0"/>
                <a:ea typeface="Calibri" panose="020F0502020204030204" pitchFamily="34" charset="0"/>
                <a:cs typeface="Calibri" panose="020F0502020204030204" pitchFamily="34" charset="0"/>
              </a:rPr>
            </a:br>
            <a:r>
              <a:rPr lang="en-US" sz="4400" dirty="0" smtClean="0">
                <a:latin typeface="Calibri" panose="020F0502020204030204" pitchFamily="34" charset="0"/>
                <a:ea typeface="Calibri" panose="020F0502020204030204" pitchFamily="34" charset="0"/>
                <a:cs typeface="Calibri" panose="020F0502020204030204" pitchFamily="34" charset="0"/>
              </a:rPr>
              <a:t>Organizing</a:t>
            </a:r>
            <a:r>
              <a:rPr lang="en-US" sz="4400" dirty="0" smtClean="0">
                <a:solidFill>
                  <a:schemeClr val="tx1"/>
                </a:solidFill>
                <a:latin typeface="Calibri" panose="020F0502020204030204" pitchFamily="34" charset="0"/>
                <a:ea typeface="Calibri" panose="020F0502020204030204" pitchFamily="34" charset="0"/>
                <a:cs typeface="Calibri" panose="020F0502020204030204" pitchFamily="34" charset="0"/>
              </a:rPr>
              <a:t/>
            </a:r>
            <a:br>
              <a:rPr lang="en-US" sz="4400" dirty="0" smtClean="0">
                <a:solidFill>
                  <a:schemeClr val="tx1"/>
                </a:solidFill>
                <a:latin typeface="Calibri" panose="020F0502020204030204" pitchFamily="34" charset="0"/>
                <a:ea typeface="Calibri" panose="020F0502020204030204" pitchFamily="34" charset="0"/>
                <a:cs typeface="Calibri" panose="020F0502020204030204" pitchFamily="34" charset="0"/>
              </a:rPr>
            </a:br>
            <a:r>
              <a:rPr lang="en-US" sz="4400" dirty="0" smtClean="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rPr>
              <a:t>A simple, student-friendly guide to how companies structure their work</a:t>
            </a:r>
            <a:r>
              <a:rPr lang="en-US" sz="4400" dirty="0" smtClean="0">
                <a:solidFill>
                  <a:schemeClr val="tx1"/>
                </a:solidFill>
                <a:latin typeface="Calibri" panose="020F0502020204030204" pitchFamily="34" charset="0"/>
                <a:ea typeface="Calibri" panose="020F0502020204030204" pitchFamily="34" charset="0"/>
                <a:cs typeface="Calibri" panose="020F0502020204030204" pitchFamily="34" charset="0"/>
              </a:rPr>
              <a:t>.</a:t>
            </a:r>
            <a:endParaRPr lang="en-US" sz="440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pic>
        <p:nvPicPr>
          <p:cNvPr id="5" name="Picture 4" descr="C:\Users\madam\AppData\Local\Temp\UPSA NEW LOGO.png"/>
          <p:cNvPicPr/>
          <p:nvPr/>
        </p:nvPicPr>
        <p:blipFill>
          <a:blip r:embed="rId2" cstate="print"/>
          <a:srcRect/>
          <a:stretch>
            <a:fillRect/>
          </a:stretch>
        </p:blipFill>
        <p:spPr bwMode="auto">
          <a:xfrm>
            <a:off x="6262255" y="124691"/>
            <a:ext cx="5458690" cy="1440873"/>
          </a:xfrm>
          <a:prstGeom prst="rect">
            <a:avLst/>
          </a:prstGeom>
          <a:noFill/>
          <a:ln w="9525">
            <a:noFill/>
            <a:miter lim="800000"/>
            <a:headEnd/>
            <a:tailEnd/>
          </a:ln>
        </p:spPr>
      </p:pic>
    </p:spTree>
    <p:extLst>
      <p:ext uri="{BB962C8B-B14F-4D97-AF65-F5344CB8AC3E}">
        <p14:creationId xmlns:p14="http://schemas.microsoft.com/office/powerpoint/2010/main" val="41961793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ROADMAP</a:t>
            </a:r>
            <a:endParaRPr lang="en-US" sz="1200" dirty="0"/>
          </a:p>
        </p:txBody>
      </p:sp>
      <p:sp>
        <p:nvSpPr>
          <p:cNvPr id="3" name="Text 1"/>
          <p:cNvSpPr/>
          <p:nvPr/>
        </p:nvSpPr>
        <p:spPr>
          <a:xfrm>
            <a:off x="548640" y="594360"/>
            <a:ext cx="10972800" cy="685800"/>
          </a:xfrm>
          <a:prstGeom prst="rect">
            <a:avLst/>
          </a:prstGeom>
          <a:noFill/>
          <a:ln/>
        </p:spPr>
        <p:txBody>
          <a:bodyPr wrap="square" rtlCol="0" anchor="ctr"/>
          <a:lstStyle/>
          <a:p>
            <a:pPr marL="0" indent="0">
              <a:buNone/>
            </a:pPr>
            <a:r>
              <a:rPr lang="en-US" sz="2800" b="1" dirty="0">
                <a:solidFill>
                  <a:srgbClr val="21295C"/>
                </a:solidFill>
                <a:latin typeface="Cambria" pitchFamily="34" charset="0"/>
                <a:ea typeface="Cambria" pitchFamily="34" charset="-122"/>
                <a:cs typeface="Cambria" pitchFamily="34" charset="-120"/>
              </a:rPr>
              <a:t>What We'll Cover</a:t>
            </a:r>
            <a:endParaRPr lang="en-US" sz="2800" dirty="0"/>
          </a:p>
        </p:txBody>
      </p:sp>
      <p:sp>
        <p:nvSpPr>
          <p:cNvPr id="4" name="Text 2"/>
          <p:cNvSpPr/>
          <p:nvPr/>
        </p:nvSpPr>
        <p:spPr>
          <a:xfrm>
            <a:off x="548640" y="6473952"/>
            <a:ext cx="5486400" cy="274320"/>
          </a:xfrm>
          <a:prstGeom prst="rect">
            <a:avLst/>
          </a:prstGeom>
          <a:noFill/>
          <a:ln/>
        </p:spPr>
        <p:txBody>
          <a:bodyPr wrap="square" rtlCol="0" anchor="ctr"/>
          <a:lstStyle/>
          <a:p>
            <a:pPr marL="0" indent="0">
              <a:buNone/>
            </a:pPr>
            <a:r>
              <a:rPr lang="en-US" sz="900" dirty="0">
                <a:solidFill>
                  <a:srgbClr val="AAAAAA"/>
                </a:solidFill>
                <a:latin typeface="Calibri" pitchFamily="34" charset="0"/>
                <a:ea typeface="Calibri" pitchFamily="34" charset="-122"/>
                <a:cs typeface="Calibri" pitchFamily="34" charset="-120"/>
              </a:rPr>
              <a:t>Organizing — Study Guide</a:t>
            </a:r>
            <a:endParaRPr lang="en-US" sz="900" dirty="0"/>
          </a:p>
        </p:txBody>
      </p:sp>
      <p:sp>
        <p:nvSpPr>
          <p:cNvPr id="5" name="Shape 3"/>
          <p:cNvSpPr/>
          <p:nvPr/>
        </p:nvSpPr>
        <p:spPr>
          <a:xfrm>
            <a:off x="640080" y="1645920"/>
            <a:ext cx="502920" cy="502920"/>
          </a:xfrm>
          <a:prstGeom prst="ellipse">
            <a:avLst/>
          </a:prstGeom>
          <a:solidFill>
            <a:srgbClr val="1C7293"/>
          </a:solidFill>
          <a:ln/>
        </p:spPr>
      </p:sp>
      <p:sp>
        <p:nvSpPr>
          <p:cNvPr id="6" name="Text 4"/>
          <p:cNvSpPr/>
          <p:nvPr/>
        </p:nvSpPr>
        <p:spPr>
          <a:xfrm>
            <a:off x="640080" y="1645920"/>
            <a:ext cx="502920" cy="50292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7" name="Text 5"/>
          <p:cNvSpPr/>
          <p:nvPr/>
        </p:nvSpPr>
        <p:spPr>
          <a:xfrm>
            <a:off x="1371600" y="1600200"/>
            <a:ext cx="9144000" cy="548640"/>
          </a:xfrm>
          <a:prstGeom prst="rect">
            <a:avLst/>
          </a:prstGeom>
          <a:noFill/>
          <a:ln/>
        </p:spPr>
        <p:txBody>
          <a:bodyPr wrap="square" rtlCol="0" anchor="ctr"/>
          <a:lstStyle/>
          <a:p>
            <a:pPr marL="0" indent="0">
              <a:buNone/>
            </a:pPr>
            <a:r>
              <a:rPr lang="en-US" sz="1900" b="1" dirty="0">
                <a:solidFill>
                  <a:srgbClr val="222222"/>
                </a:solidFill>
                <a:latin typeface="Calibri" pitchFamily="34" charset="0"/>
                <a:ea typeface="Calibri" pitchFamily="34" charset="-122"/>
                <a:cs typeface="Calibri" pitchFamily="34" charset="-120"/>
              </a:rPr>
              <a:t>Organizational Chart</a:t>
            </a:r>
            <a:endParaRPr lang="en-US" sz="1900" dirty="0"/>
          </a:p>
        </p:txBody>
      </p:sp>
      <p:sp>
        <p:nvSpPr>
          <p:cNvPr id="8" name="Shape 6"/>
          <p:cNvSpPr/>
          <p:nvPr/>
        </p:nvSpPr>
        <p:spPr>
          <a:xfrm>
            <a:off x="640080" y="2542032"/>
            <a:ext cx="502920" cy="502920"/>
          </a:xfrm>
          <a:prstGeom prst="ellipse">
            <a:avLst/>
          </a:prstGeom>
          <a:solidFill>
            <a:srgbClr val="1C7293"/>
          </a:solidFill>
          <a:ln/>
        </p:spPr>
      </p:sp>
      <p:sp>
        <p:nvSpPr>
          <p:cNvPr id="9" name="Text 7"/>
          <p:cNvSpPr/>
          <p:nvPr/>
        </p:nvSpPr>
        <p:spPr>
          <a:xfrm>
            <a:off x="640080" y="2542032"/>
            <a:ext cx="502920" cy="50292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0" name="Text 8"/>
          <p:cNvSpPr/>
          <p:nvPr/>
        </p:nvSpPr>
        <p:spPr>
          <a:xfrm>
            <a:off x="1371600" y="2496312"/>
            <a:ext cx="9144000" cy="548640"/>
          </a:xfrm>
          <a:prstGeom prst="rect">
            <a:avLst/>
          </a:prstGeom>
          <a:noFill/>
          <a:ln/>
        </p:spPr>
        <p:txBody>
          <a:bodyPr wrap="square" rtlCol="0" anchor="ctr"/>
          <a:lstStyle/>
          <a:p>
            <a:pPr marL="0" indent="0">
              <a:buNone/>
            </a:pPr>
            <a:r>
              <a:rPr lang="en-US" sz="1900" b="1" dirty="0">
                <a:solidFill>
                  <a:srgbClr val="222222"/>
                </a:solidFill>
                <a:latin typeface="Calibri" pitchFamily="34" charset="0"/>
                <a:ea typeface="Calibri" pitchFamily="34" charset="-122"/>
                <a:cs typeface="Calibri" pitchFamily="34" charset="-120"/>
              </a:rPr>
              <a:t>Kinds of Organizational Charts</a:t>
            </a:r>
            <a:endParaRPr lang="en-US" sz="1900" dirty="0"/>
          </a:p>
        </p:txBody>
      </p:sp>
      <p:sp>
        <p:nvSpPr>
          <p:cNvPr id="11" name="Shape 9"/>
          <p:cNvSpPr/>
          <p:nvPr/>
        </p:nvSpPr>
        <p:spPr>
          <a:xfrm>
            <a:off x="640080" y="3438144"/>
            <a:ext cx="502920" cy="502920"/>
          </a:xfrm>
          <a:prstGeom prst="ellipse">
            <a:avLst/>
          </a:prstGeom>
          <a:solidFill>
            <a:srgbClr val="1C7293"/>
          </a:solidFill>
          <a:ln/>
        </p:spPr>
      </p:sp>
      <p:sp>
        <p:nvSpPr>
          <p:cNvPr id="12" name="Text 10"/>
          <p:cNvSpPr/>
          <p:nvPr/>
        </p:nvSpPr>
        <p:spPr>
          <a:xfrm>
            <a:off x="640080" y="3438144"/>
            <a:ext cx="502920" cy="50292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3" name="Text 11"/>
          <p:cNvSpPr/>
          <p:nvPr/>
        </p:nvSpPr>
        <p:spPr>
          <a:xfrm>
            <a:off x="1371600" y="3392424"/>
            <a:ext cx="9144000" cy="548640"/>
          </a:xfrm>
          <a:prstGeom prst="rect">
            <a:avLst/>
          </a:prstGeom>
          <a:noFill/>
          <a:ln/>
        </p:spPr>
        <p:txBody>
          <a:bodyPr wrap="square" rtlCol="0" anchor="ctr"/>
          <a:lstStyle/>
          <a:p>
            <a:pPr marL="0" indent="0">
              <a:buNone/>
            </a:pPr>
            <a:r>
              <a:rPr lang="en-US" sz="1900" b="1" dirty="0">
                <a:solidFill>
                  <a:srgbClr val="222222"/>
                </a:solidFill>
                <a:latin typeface="Calibri" pitchFamily="34" charset="0"/>
                <a:ea typeface="Calibri" pitchFamily="34" charset="-122"/>
                <a:cs typeface="Calibri" pitchFamily="34" charset="-120"/>
              </a:rPr>
              <a:t>Span of Management</a:t>
            </a:r>
            <a:endParaRPr lang="en-US" sz="1900" dirty="0"/>
          </a:p>
        </p:txBody>
      </p:sp>
      <p:sp>
        <p:nvSpPr>
          <p:cNvPr id="14" name="Shape 12"/>
          <p:cNvSpPr/>
          <p:nvPr/>
        </p:nvSpPr>
        <p:spPr>
          <a:xfrm>
            <a:off x="640080" y="4334256"/>
            <a:ext cx="502920" cy="502920"/>
          </a:xfrm>
          <a:prstGeom prst="ellipse">
            <a:avLst/>
          </a:prstGeom>
          <a:solidFill>
            <a:srgbClr val="1C7293"/>
          </a:solidFill>
          <a:ln/>
        </p:spPr>
      </p:sp>
      <p:sp>
        <p:nvSpPr>
          <p:cNvPr id="15" name="Text 13"/>
          <p:cNvSpPr/>
          <p:nvPr/>
        </p:nvSpPr>
        <p:spPr>
          <a:xfrm>
            <a:off x="640080" y="4334256"/>
            <a:ext cx="502920" cy="50292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16" name="Text 14"/>
          <p:cNvSpPr/>
          <p:nvPr/>
        </p:nvSpPr>
        <p:spPr>
          <a:xfrm>
            <a:off x="1371600" y="4288536"/>
            <a:ext cx="9144000" cy="548640"/>
          </a:xfrm>
          <a:prstGeom prst="rect">
            <a:avLst/>
          </a:prstGeom>
          <a:noFill/>
          <a:ln/>
        </p:spPr>
        <p:txBody>
          <a:bodyPr wrap="square" rtlCol="0" anchor="ctr"/>
          <a:lstStyle/>
          <a:p>
            <a:pPr marL="0" indent="0">
              <a:buNone/>
            </a:pPr>
            <a:r>
              <a:rPr lang="en-US" sz="1900" b="1" dirty="0">
                <a:solidFill>
                  <a:srgbClr val="222222"/>
                </a:solidFill>
                <a:latin typeface="Calibri" pitchFamily="34" charset="0"/>
                <a:ea typeface="Calibri" pitchFamily="34" charset="-122"/>
                <a:cs typeface="Calibri" pitchFamily="34" charset="-120"/>
              </a:rPr>
              <a:t>Principles of Organizing</a:t>
            </a:r>
            <a:endParaRPr lang="en-US" sz="1900" dirty="0"/>
          </a:p>
        </p:txBody>
      </p:sp>
      <p:sp>
        <p:nvSpPr>
          <p:cNvPr id="17" name="Shape 15"/>
          <p:cNvSpPr/>
          <p:nvPr/>
        </p:nvSpPr>
        <p:spPr>
          <a:xfrm>
            <a:off x="640080" y="5230368"/>
            <a:ext cx="502920" cy="502920"/>
          </a:xfrm>
          <a:prstGeom prst="ellipse">
            <a:avLst/>
          </a:prstGeom>
          <a:solidFill>
            <a:srgbClr val="1C7293"/>
          </a:solidFill>
          <a:ln/>
        </p:spPr>
      </p:sp>
      <p:sp>
        <p:nvSpPr>
          <p:cNvPr id="18" name="Text 16"/>
          <p:cNvSpPr/>
          <p:nvPr/>
        </p:nvSpPr>
        <p:spPr>
          <a:xfrm>
            <a:off x="640080" y="5230368"/>
            <a:ext cx="502920" cy="50292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5</a:t>
            </a:r>
            <a:endParaRPr lang="en-US" sz="2000" dirty="0"/>
          </a:p>
        </p:txBody>
      </p:sp>
      <p:sp>
        <p:nvSpPr>
          <p:cNvPr id="19" name="Text 17"/>
          <p:cNvSpPr/>
          <p:nvPr/>
        </p:nvSpPr>
        <p:spPr>
          <a:xfrm>
            <a:off x="1371600" y="5184648"/>
            <a:ext cx="9144000" cy="548640"/>
          </a:xfrm>
          <a:prstGeom prst="rect">
            <a:avLst/>
          </a:prstGeom>
          <a:noFill/>
          <a:ln/>
        </p:spPr>
        <p:txBody>
          <a:bodyPr wrap="square" rtlCol="0" anchor="ctr"/>
          <a:lstStyle/>
          <a:p>
            <a:pPr marL="0" indent="0">
              <a:buNone/>
            </a:pPr>
            <a:r>
              <a:rPr lang="en-US" sz="1900" b="1" dirty="0">
                <a:solidFill>
                  <a:srgbClr val="222222"/>
                </a:solidFill>
                <a:latin typeface="Calibri" pitchFamily="34" charset="0"/>
                <a:ea typeface="Calibri" pitchFamily="34" charset="-122"/>
                <a:cs typeface="Calibri" pitchFamily="34" charset="-120"/>
              </a:rPr>
              <a:t>Formal and Informal Organization</a:t>
            </a:r>
            <a:endParaRPr lang="en-US" sz="1900" dirty="0"/>
          </a:p>
        </p:txBody>
      </p:sp>
      <p:pic>
        <p:nvPicPr>
          <p:cNvPr id="20" name="Picture 19" descr="C:\Users\madam\AppData\Local\Temp\UPSA NEW LOGO.png"/>
          <p:cNvPicPr/>
          <p:nvPr/>
        </p:nvPicPr>
        <p:blipFill>
          <a:blip r:embed="rId3" cstate="print"/>
          <a:srcRect/>
          <a:stretch>
            <a:fillRect/>
          </a:stretch>
        </p:blipFill>
        <p:spPr bwMode="auto">
          <a:xfrm>
            <a:off x="6035040" y="320041"/>
            <a:ext cx="5860252" cy="853304"/>
          </a:xfrm>
          <a:prstGeom prst="rect">
            <a:avLst/>
          </a:prstGeom>
          <a:noFill/>
          <a:ln w="9525">
            <a:noFill/>
            <a:miter lim="800000"/>
            <a:headEnd/>
            <a:tailEnd/>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065A82"/>
        </a:solidFill>
        <a:effectLst/>
      </p:bgPr>
    </p:bg>
    <p:spTree>
      <p:nvGrpSpPr>
        <p:cNvPr id="1" name=""/>
        <p:cNvGrpSpPr/>
        <p:nvPr/>
      </p:nvGrpSpPr>
      <p:grpSpPr>
        <a:xfrm>
          <a:off x="0" y="0"/>
          <a:ext cx="0" cy="0"/>
          <a:chOff x="0" y="0"/>
          <a:chExt cx="0" cy="0"/>
        </a:xfrm>
      </p:grpSpPr>
      <p:sp>
        <p:nvSpPr>
          <p:cNvPr id="2" name="Text 0"/>
          <p:cNvSpPr/>
          <p:nvPr/>
        </p:nvSpPr>
        <p:spPr>
          <a:xfrm>
            <a:off x="822960" y="2286000"/>
            <a:ext cx="3657600" cy="1371600"/>
          </a:xfrm>
          <a:prstGeom prst="rect">
            <a:avLst/>
          </a:prstGeom>
          <a:noFill/>
          <a:ln/>
        </p:spPr>
        <p:txBody>
          <a:bodyPr wrap="square" rtlCol="0" anchor="ctr"/>
          <a:lstStyle/>
          <a:p>
            <a:pPr marL="0" indent="0">
              <a:buNone/>
            </a:pPr>
            <a:r>
              <a:rPr lang="en-US" sz="7200" b="1" dirty="0">
                <a:solidFill>
                  <a:srgbClr val="3D85A6"/>
                </a:solidFill>
                <a:latin typeface="Cambria" pitchFamily="34" charset="0"/>
                <a:ea typeface="Cambria" pitchFamily="34" charset="-122"/>
                <a:cs typeface="Cambria" pitchFamily="34" charset="-120"/>
              </a:rPr>
              <a:t>01</a:t>
            </a:r>
            <a:endParaRPr lang="en-US" sz="7200" dirty="0"/>
          </a:p>
        </p:txBody>
      </p:sp>
      <p:sp>
        <p:nvSpPr>
          <p:cNvPr id="3" name="Text 1"/>
          <p:cNvSpPr/>
          <p:nvPr/>
        </p:nvSpPr>
        <p:spPr>
          <a:xfrm>
            <a:off x="822960" y="3383280"/>
            <a:ext cx="9601200" cy="1097280"/>
          </a:xfrm>
          <a:prstGeom prst="rect">
            <a:avLst/>
          </a:prstGeom>
          <a:noFill/>
          <a:ln/>
        </p:spPr>
        <p:txBody>
          <a:bodyPr wrap="square" rtlCol="0" anchor="ctr"/>
          <a:lstStyle/>
          <a:p>
            <a:pPr marL="0" indent="0">
              <a:buNone/>
            </a:pPr>
            <a:r>
              <a:rPr lang="en-US" sz="3800" b="1" dirty="0">
                <a:solidFill>
                  <a:srgbClr val="FFFFFF"/>
                </a:solidFill>
                <a:latin typeface="Cambria" pitchFamily="34" charset="0"/>
                <a:ea typeface="Cambria" pitchFamily="34" charset="-122"/>
                <a:cs typeface="Cambria" pitchFamily="34" charset="-120"/>
              </a:rPr>
              <a:t>Organizational Chart</a:t>
            </a:r>
            <a:endParaRPr lang="en-US" sz="3800" dirty="0"/>
          </a:p>
        </p:txBody>
      </p:sp>
      <p:sp>
        <p:nvSpPr>
          <p:cNvPr id="4" name="Shape 2"/>
          <p:cNvSpPr/>
          <p:nvPr/>
        </p:nvSpPr>
        <p:spPr>
          <a:xfrm>
            <a:off x="0" y="0"/>
            <a:ext cx="164592" cy="6858000"/>
          </a:xfrm>
          <a:prstGeom prst="rect">
            <a:avLst/>
          </a:prstGeom>
          <a:solidFill>
            <a:srgbClr val="1C7293"/>
          </a:solidFill>
          <a:ln/>
        </p:spPr>
      </p:sp>
      <p:pic>
        <p:nvPicPr>
          <p:cNvPr id="5" name="Picture 4" descr="C:\Users\madam\AppData\Local\Temp\UPSA NEW LOGO.png"/>
          <p:cNvPicPr/>
          <p:nvPr/>
        </p:nvPicPr>
        <p:blipFill>
          <a:blip r:embed="rId3" cstate="print"/>
          <a:srcRect/>
          <a:stretch>
            <a:fillRect/>
          </a:stretch>
        </p:blipFill>
        <p:spPr bwMode="auto">
          <a:xfrm>
            <a:off x="5963830" y="469339"/>
            <a:ext cx="5915278" cy="1157160"/>
          </a:xfrm>
          <a:prstGeom prst="rect">
            <a:avLst/>
          </a:prstGeom>
          <a:noFill/>
          <a:ln w="9525">
            <a:noFill/>
            <a:miter lim="800000"/>
            <a:headEnd/>
            <a:tailEnd/>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119744"/>
            <a:ext cx="7315200" cy="969819"/>
          </a:xfrm>
          <a:prstGeom prst="rect">
            <a:avLst/>
          </a:prstGeom>
          <a:noFill/>
          <a:ln/>
        </p:spPr>
        <p:txBody>
          <a:bodyPr wrap="square"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ORGANIZATIONAL CHART</a:t>
            </a:r>
            <a:endParaRPr lang="en-US" sz="1200" dirty="0"/>
          </a:p>
        </p:txBody>
      </p:sp>
      <p:sp>
        <p:nvSpPr>
          <p:cNvPr id="3" name="Text 1"/>
          <p:cNvSpPr/>
          <p:nvPr/>
        </p:nvSpPr>
        <p:spPr>
          <a:xfrm>
            <a:off x="548640" y="2784764"/>
            <a:ext cx="10354887" cy="704088"/>
          </a:xfrm>
          <a:prstGeom prst="rect">
            <a:avLst/>
          </a:prstGeom>
          <a:noFill/>
          <a:ln/>
        </p:spPr>
        <p:txBody>
          <a:bodyPr wrap="square" rtlCol="0" anchor="ctr"/>
          <a:lstStyle/>
          <a:p>
            <a:pPr marL="0" indent="0">
              <a:buNone/>
            </a:pPr>
            <a:r>
              <a:rPr lang="en-US" sz="2800" b="1" dirty="0">
                <a:solidFill>
                  <a:srgbClr val="21295C"/>
                </a:solidFill>
                <a:latin typeface="Cambria" pitchFamily="34" charset="0"/>
                <a:ea typeface="Cambria" pitchFamily="34" charset="-122"/>
                <a:cs typeface="Cambria" pitchFamily="34" charset="-120"/>
              </a:rPr>
              <a:t>Why Do We Need One?</a:t>
            </a:r>
            <a:endParaRPr lang="en-US" sz="2800" dirty="0"/>
          </a:p>
        </p:txBody>
      </p:sp>
      <p:sp>
        <p:nvSpPr>
          <p:cNvPr id="4" name="Text 2"/>
          <p:cNvSpPr/>
          <p:nvPr/>
        </p:nvSpPr>
        <p:spPr>
          <a:xfrm>
            <a:off x="548640" y="6473952"/>
            <a:ext cx="5486400" cy="274320"/>
          </a:xfrm>
          <a:prstGeom prst="rect">
            <a:avLst/>
          </a:prstGeom>
          <a:noFill/>
          <a:ln/>
        </p:spPr>
        <p:txBody>
          <a:bodyPr wrap="square" rtlCol="0" anchor="ctr"/>
          <a:lstStyle/>
          <a:p>
            <a:pPr marL="0" indent="0">
              <a:buNone/>
            </a:pPr>
            <a:r>
              <a:rPr lang="en-US" sz="900" dirty="0">
                <a:solidFill>
                  <a:srgbClr val="AAAAAA"/>
                </a:solidFill>
                <a:latin typeface="Calibri" pitchFamily="34" charset="0"/>
                <a:ea typeface="Calibri" pitchFamily="34" charset="-122"/>
                <a:cs typeface="Calibri" pitchFamily="34" charset="-120"/>
              </a:rPr>
              <a:t>Organizing — Study Guide</a:t>
            </a:r>
            <a:endParaRPr lang="en-US" sz="900" dirty="0"/>
          </a:p>
        </p:txBody>
      </p:sp>
      <p:sp>
        <p:nvSpPr>
          <p:cNvPr id="5" name="Text 3"/>
          <p:cNvSpPr/>
          <p:nvPr/>
        </p:nvSpPr>
        <p:spPr>
          <a:xfrm>
            <a:off x="640080" y="3699164"/>
            <a:ext cx="10748356" cy="2564476"/>
          </a:xfrm>
          <a:prstGeom prst="rect">
            <a:avLst/>
          </a:prstGeom>
          <a:noFill/>
          <a:ln/>
        </p:spPr>
        <p:txBody>
          <a:bodyPr wrap="square" rtlCol="0" anchor="t"/>
          <a:lstStyle/>
          <a:p>
            <a:pPr marL="228600" indent="-228600">
              <a:spcAft>
                <a:spcPts val="1200"/>
              </a:spcAft>
              <a:buSzPct val="100000"/>
              <a:buChar char="●"/>
            </a:pPr>
            <a:r>
              <a:rPr lang="en-US" sz="1600" dirty="0">
                <a:solidFill>
                  <a:srgbClr val="222222"/>
                </a:solidFill>
                <a:latin typeface="Calibri" pitchFamily="34" charset="0"/>
                <a:ea typeface="Calibri" pitchFamily="34" charset="-122"/>
                <a:cs typeface="Calibri" pitchFamily="34" charset="-120"/>
              </a:rPr>
              <a:t>As companies grow, they get more departments, sub-units, and people.</a:t>
            </a:r>
            <a:endParaRPr lang="en-US" sz="1600" dirty="0"/>
          </a:p>
          <a:p>
            <a:pPr marL="228600" indent="-228600">
              <a:spcAft>
                <a:spcPts val="1200"/>
              </a:spcAft>
              <a:buSzPct val="100000"/>
              <a:buChar char="●"/>
            </a:pPr>
            <a:r>
              <a:rPr lang="en-US" sz="1600" dirty="0">
                <a:solidFill>
                  <a:srgbClr val="222222"/>
                </a:solidFill>
                <a:latin typeface="Calibri" pitchFamily="34" charset="0"/>
                <a:ea typeface="Calibri" pitchFamily="34" charset="-122"/>
                <a:cs typeface="Calibri" pitchFamily="34" charset="-120"/>
              </a:rPr>
              <a:t>The distance between top executives and lower-level staff increases.</a:t>
            </a:r>
            <a:endParaRPr lang="en-US" sz="1600" dirty="0"/>
          </a:p>
          <a:p>
            <a:pPr marL="228600" indent="-228600">
              <a:spcAft>
                <a:spcPts val="1200"/>
              </a:spcAft>
              <a:buSzPct val="100000"/>
              <a:buChar char="●"/>
            </a:pPr>
            <a:r>
              <a:rPr lang="en-US" sz="1600" dirty="0">
                <a:solidFill>
                  <a:srgbClr val="222222"/>
                </a:solidFill>
                <a:latin typeface="Calibri" pitchFamily="34" charset="0"/>
                <a:ea typeface="Calibri" pitchFamily="34" charset="-122"/>
                <a:cs typeface="Calibri" pitchFamily="34" charset="-120"/>
              </a:rPr>
              <a:t>Interactions between people become more complex.</a:t>
            </a:r>
            <a:endParaRPr lang="en-US" sz="1600" dirty="0"/>
          </a:p>
          <a:p>
            <a:pPr marL="228600" indent="-228600">
              <a:spcAft>
                <a:spcPts val="1200"/>
              </a:spcAft>
              <a:buSzPct val="100000"/>
              <a:buChar char="●"/>
            </a:pPr>
            <a:r>
              <a:rPr lang="en-US" sz="1600" dirty="0">
                <a:solidFill>
                  <a:srgbClr val="222222"/>
                </a:solidFill>
                <a:latin typeface="Calibri" pitchFamily="34" charset="0"/>
                <a:ea typeface="Calibri" pitchFamily="34" charset="-122"/>
                <a:cs typeface="Calibri" pitchFamily="34" charset="-120"/>
              </a:rPr>
              <a:t>A visual map helps everyone understand positions, departments, and how they relate.</a:t>
            </a:r>
            <a:endParaRPr lang="en-US" sz="1600" dirty="0"/>
          </a:p>
        </p:txBody>
      </p:sp>
      <p:pic>
        <p:nvPicPr>
          <p:cNvPr id="6" name="Picture 5" descr="C:\Users\madam\AppData\Local\Temp\UPSA NEW LOGO.png"/>
          <p:cNvPicPr/>
          <p:nvPr/>
        </p:nvPicPr>
        <p:blipFill>
          <a:blip r:embed="rId3" cstate="print"/>
          <a:srcRect/>
          <a:stretch>
            <a:fillRect/>
          </a:stretch>
        </p:blipFill>
        <p:spPr bwMode="auto">
          <a:xfrm>
            <a:off x="6805402" y="320041"/>
            <a:ext cx="5386597" cy="1120341"/>
          </a:xfrm>
          <a:prstGeom prst="rect">
            <a:avLst/>
          </a:prstGeom>
          <a:noFill/>
          <a:ln w="9525">
            <a:noFill/>
            <a:miter lim="800000"/>
            <a:headEnd/>
            <a:tailEnd/>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280160"/>
            <a:ext cx="7315200" cy="630936"/>
          </a:xfrm>
          <a:prstGeom prst="rect">
            <a:avLst/>
          </a:prstGeom>
          <a:noFill/>
          <a:ln/>
        </p:spPr>
        <p:txBody>
          <a:bodyPr wrap="square"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ORGANIZATIONAL CHART</a:t>
            </a:r>
            <a:endParaRPr lang="en-US" sz="1200" dirty="0"/>
          </a:p>
        </p:txBody>
      </p:sp>
      <p:sp>
        <p:nvSpPr>
          <p:cNvPr id="3" name="Text 1"/>
          <p:cNvSpPr/>
          <p:nvPr/>
        </p:nvSpPr>
        <p:spPr>
          <a:xfrm>
            <a:off x="548640" y="2048256"/>
            <a:ext cx="10972800" cy="528688"/>
          </a:xfrm>
          <a:prstGeom prst="rect">
            <a:avLst/>
          </a:prstGeom>
          <a:noFill/>
          <a:ln/>
        </p:spPr>
        <p:txBody>
          <a:bodyPr wrap="square" rtlCol="0" anchor="ctr"/>
          <a:lstStyle/>
          <a:p>
            <a:pPr marL="0" indent="0">
              <a:buNone/>
            </a:pPr>
            <a:r>
              <a:rPr lang="en-US" sz="2800" b="1" dirty="0">
                <a:solidFill>
                  <a:srgbClr val="21295C"/>
                </a:solidFill>
                <a:latin typeface="Cambria" pitchFamily="34" charset="0"/>
                <a:ea typeface="Cambria" pitchFamily="34" charset="-122"/>
                <a:cs typeface="Cambria" pitchFamily="34" charset="-120"/>
              </a:rPr>
              <a:t>What Is It?</a:t>
            </a:r>
            <a:endParaRPr lang="en-US" sz="2800" dirty="0"/>
          </a:p>
        </p:txBody>
      </p:sp>
      <p:sp>
        <p:nvSpPr>
          <p:cNvPr id="4" name="Text 2"/>
          <p:cNvSpPr/>
          <p:nvPr/>
        </p:nvSpPr>
        <p:spPr>
          <a:xfrm>
            <a:off x="548640" y="6473952"/>
            <a:ext cx="5486400" cy="274320"/>
          </a:xfrm>
          <a:prstGeom prst="rect">
            <a:avLst/>
          </a:prstGeom>
          <a:noFill/>
          <a:ln/>
        </p:spPr>
        <p:txBody>
          <a:bodyPr wrap="square" rtlCol="0" anchor="ctr"/>
          <a:lstStyle/>
          <a:p>
            <a:pPr marL="0" indent="0">
              <a:buNone/>
            </a:pPr>
            <a:r>
              <a:rPr lang="en-US" sz="900" dirty="0">
                <a:solidFill>
                  <a:srgbClr val="AAAAAA"/>
                </a:solidFill>
                <a:latin typeface="Calibri" pitchFamily="34" charset="0"/>
                <a:ea typeface="Calibri" pitchFamily="34" charset="-122"/>
                <a:cs typeface="Calibri" pitchFamily="34" charset="-120"/>
              </a:rPr>
              <a:t>Organizing — Study Guide</a:t>
            </a:r>
            <a:endParaRPr lang="en-US" sz="900" dirty="0"/>
          </a:p>
        </p:txBody>
      </p:sp>
      <p:sp>
        <p:nvSpPr>
          <p:cNvPr id="5" name="Text 3"/>
          <p:cNvSpPr/>
          <p:nvPr/>
        </p:nvSpPr>
        <p:spPr>
          <a:xfrm>
            <a:off x="640080" y="1508760"/>
            <a:ext cx="6675120" cy="3931920"/>
          </a:xfrm>
          <a:prstGeom prst="rect">
            <a:avLst/>
          </a:prstGeom>
          <a:noFill/>
          <a:ln/>
        </p:spPr>
        <p:txBody>
          <a:bodyPr wrap="square" rtlCol="0" anchor="ctr"/>
          <a:lstStyle/>
          <a:p>
            <a:pPr marL="342900" indent="-342900">
              <a:spcAft>
                <a:spcPts val="1000"/>
              </a:spcAft>
              <a:buSzPct val="100000"/>
              <a:buChar char="●"/>
            </a:pPr>
            <a:r>
              <a:rPr lang="en-US" sz="1600" dirty="0">
                <a:solidFill>
                  <a:srgbClr val="222222"/>
                </a:solidFill>
                <a:latin typeface="Calibri" pitchFamily="34" charset="0"/>
                <a:ea typeface="Calibri" pitchFamily="34" charset="-122"/>
                <a:cs typeface="Calibri" pitchFamily="34" charset="-120"/>
              </a:rPr>
              <a:t>A visual picture of a company's structure and reporting lines.</a:t>
            </a:r>
            <a:endParaRPr lang="en-US" sz="1600" dirty="0"/>
          </a:p>
          <a:p>
            <a:pPr marL="342900" indent="-342900">
              <a:spcAft>
                <a:spcPts val="1000"/>
              </a:spcAft>
              <a:buSzPct val="100000"/>
              <a:buChar char="●"/>
            </a:pPr>
            <a:r>
              <a:rPr lang="en-US" sz="1600" dirty="0">
                <a:solidFill>
                  <a:srgbClr val="222222"/>
                </a:solidFill>
                <a:latin typeface="Calibri" pitchFamily="34" charset="0"/>
                <a:ea typeface="Calibri" pitchFamily="34" charset="-122"/>
                <a:cs typeface="Calibri" pitchFamily="34" charset="-120"/>
              </a:rPr>
              <a:t>Shows the division of labour — who does what.</a:t>
            </a:r>
            <a:endParaRPr lang="en-US" sz="1600" dirty="0"/>
          </a:p>
          <a:p>
            <a:pPr marL="342900" indent="-342900">
              <a:spcAft>
                <a:spcPts val="1000"/>
              </a:spcAft>
              <a:buSzPct val="100000"/>
              <a:buChar char="●"/>
            </a:pPr>
            <a:r>
              <a:rPr lang="en-US" sz="1600" dirty="0">
                <a:solidFill>
                  <a:srgbClr val="222222"/>
                </a:solidFill>
                <a:latin typeface="Calibri" pitchFamily="34" charset="0"/>
                <a:ea typeface="Calibri" pitchFamily="34" charset="-122"/>
                <a:cs typeface="Calibri" pitchFamily="34" charset="-120"/>
              </a:rPr>
              <a:t>Shows each person's authority, responsibility, and accountability.</a:t>
            </a:r>
            <a:endParaRPr lang="en-US" sz="1600" dirty="0"/>
          </a:p>
          <a:p>
            <a:pPr marL="342900" indent="-342900">
              <a:spcAft>
                <a:spcPts val="1000"/>
              </a:spcAft>
              <a:buSzPct val="100000"/>
              <a:buChar char="●"/>
            </a:pPr>
            <a:r>
              <a:rPr lang="en-US" sz="1600" dirty="0">
                <a:solidFill>
                  <a:srgbClr val="222222"/>
                </a:solidFill>
                <a:latin typeface="Calibri" pitchFamily="34" charset="0"/>
                <a:ea typeface="Calibri" pitchFamily="34" charset="-122"/>
                <a:cs typeface="Calibri" pitchFamily="34" charset="-120"/>
              </a:rPr>
              <a:t>Respects the chain of command: unity of command + scalar chain.</a:t>
            </a:r>
            <a:endParaRPr lang="en-US" sz="1600" dirty="0"/>
          </a:p>
        </p:txBody>
      </p:sp>
      <p:sp>
        <p:nvSpPr>
          <p:cNvPr id="6" name="Shape 4"/>
          <p:cNvSpPr/>
          <p:nvPr/>
        </p:nvSpPr>
        <p:spPr>
          <a:xfrm>
            <a:off x="548640" y="5669280"/>
            <a:ext cx="11064240" cy="658368"/>
          </a:xfrm>
          <a:prstGeom prst="roundRect">
            <a:avLst>
              <a:gd name="adj" fmla="val 11111"/>
            </a:avLst>
          </a:prstGeom>
          <a:solidFill>
            <a:srgbClr val="EAF3F7"/>
          </a:solidFill>
          <a:ln/>
        </p:spPr>
      </p:sp>
      <p:sp>
        <p:nvSpPr>
          <p:cNvPr id="7" name="Text 5"/>
          <p:cNvSpPr/>
          <p:nvPr/>
        </p:nvSpPr>
        <p:spPr>
          <a:xfrm>
            <a:off x="777240" y="5724144"/>
            <a:ext cx="10607040" cy="548640"/>
          </a:xfrm>
          <a:prstGeom prst="rect">
            <a:avLst/>
          </a:prstGeom>
          <a:noFill/>
          <a:ln/>
        </p:spPr>
        <p:txBody>
          <a:bodyPr wrap="square" rtlCol="0" anchor="ctr"/>
          <a:lstStyle/>
          <a:p>
            <a:pPr marL="0" indent="0">
              <a:buNone/>
            </a:pPr>
            <a:r>
              <a:rPr lang="en-US" sz="1300" i="1" dirty="0">
                <a:solidFill>
                  <a:srgbClr val="21295C"/>
                </a:solidFill>
                <a:latin typeface="Calibri" pitchFamily="34" charset="0"/>
                <a:ea typeface="Calibri" pitchFamily="34" charset="-122"/>
                <a:cs typeface="Calibri" pitchFamily="34" charset="-120"/>
              </a:rPr>
              <a:t>💡 Think of it like a family tree — but for a company.</a:t>
            </a:r>
            <a:endParaRPr lang="en-US" sz="1300" dirty="0"/>
          </a:p>
        </p:txBody>
      </p:sp>
      <p:sp>
        <p:nvSpPr>
          <p:cNvPr id="8" name="Shape 6"/>
          <p:cNvSpPr/>
          <p:nvPr/>
        </p:nvSpPr>
        <p:spPr>
          <a:xfrm>
            <a:off x="7680960" y="1600200"/>
            <a:ext cx="3931920" cy="3931920"/>
          </a:xfrm>
          <a:prstGeom prst="roundRect">
            <a:avLst>
              <a:gd name="adj" fmla="val 2326"/>
            </a:avLst>
          </a:prstGeom>
          <a:solidFill>
            <a:srgbClr val="EAF3F7"/>
          </a:solidFill>
          <a:ln/>
        </p:spPr>
      </p:sp>
      <p:sp>
        <p:nvSpPr>
          <p:cNvPr id="9" name="Text 7"/>
          <p:cNvSpPr/>
          <p:nvPr/>
        </p:nvSpPr>
        <p:spPr>
          <a:xfrm>
            <a:off x="7955280" y="1783080"/>
            <a:ext cx="3474720" cy="365760"/>
          </a:xfrm>
          <a:prstGeom prst="rect">
            <a:avLst/>
          </a:prstGeom>
          <a:noFill/>
          <a:ln/>
        </p:spPr>
        <p:txBody>
          <a:bodyPr wrap="square" rtlCol="0" anchor="ctr"/>
          <a:lstStyle/>
          <a:p>
            <a:pPr marL="0" indent="0">
              <a:buNone/>
            </a:pPr>
            <a:r>
              <a:rPr lang="en-US" sz="1400" b="1" dirty="0">
                <a:solidFill>
                  <a:srgbClr val="065A82"/>
                </a:solidFill>
                <a:latin typeface="Calibri" pitchFamily="34" charset="0"/>
                <a:ea typeface="Calibri" pitchFamily="34" charset="-122"/>
                <a:cs typeface="Calibri" pitchFamily="34" charset="-120"/>
              </a:rPr>
              <a:t>A Chart Shows:</a:t>
            </a:r>
            <a:endParaRPr lang="en-US" sz="1400" dirty="0"/>
          </a:p>
        </p:txBody>
      </p:sp>
      <p:sp>
        <p:nvSpPr>
          <p:cNvPr id="10" name="Text 8"/>
          <p:cNvSpPr/>
          <p:nvPr/>
        </p:nvSpPr>
        <p:spPr>
          <a:xfrm>
            <a:off x="7955280" y="2194560"/>
            <a:ext cx="3474720" cy="3108960"/>
          </a:xfrm>
          <a:prstGeom prst="rect">
            <a:avLst/>
          </a:prstGeom>
          <a:noFill/>
          <a:ln/>
        </p:spPr>
        <p:txBody>
          <a:bodyPr wrap="square" rtlCol="0" anchor="ctr"/>
          <a:lstStyle/>
          <a:p>
            <a:pPr marL="342900" indent="-342900">
              <a:spcAft>
                <a:spcPts val="800"/>
              </a:spcAft>
              <a:buSzPct val="100000"/>
              <a:buChar char="•"/>
            </a:pPr>
            <a:r>
              <a:rPr lang="en-US" sz="1300" dirty="0">
                <a:solidFill>
                  <a:srgbClr val="222222"/>
                </a:solidFill>
                <a:latin typeface="Calibri" pitchFamily="34" charset="0"/>
                <a:ea typeface="Calibri" pitchFamily="34" charset="-122"/>
                <a:cs typeface="Calibri" pitchFamily="34" charset="-120"/>
              </a:rPr>
              <a:t>Levels of hierarchy</a:t>
            </a:r>
            <a:endParaRPr lang="en-US" sz="1300" dirty="0"/>
          </a:p>
          <a:p>
            <a:pPr marL="342900" indent="-342900">
              <a:spcAft>
                <a:spcPts val="800"/>
              </a:spcAft>
              <a:buSzPct val="100000"/>
              <a:buChar char="•"/>
            </a:pPr>
            <a:r>
              <a:rPr lang="en-US" sz="1300" dirty="0">
                <a:solidFill>
                  <a:srgbClr val="222222"/>
                </a:solidFill>
                <a:latin typeface="Calibri" pitchFamily="34" charset="0"/>
                <a:ea typeface="Calibri" pitchFamily="34" charset="-122"/>
                <a:cs typeface="Calibri" pitchFamily="34" charset="-120"/>
              </a:rPr>
              <a:t>Chain of command</a:t>
            </a:r>
            <a:endParaRPr lang="en-US" sz="1300" dirty="0"/>
          </a:p>
          <a:p>
            <a:pPr marL="342900" indent="-342900">
              <a:spcAft>
                <a:spcPts val="800"/>
              </a:spcAft>
              <a:buSzPct val="100000"/>
              <a:buChar char="•"/>
            </a:pPr>
            <a:r>
              <a:rPr lang="en-US" sz="1300" dirty="0">
                <a:solidFill>
                  <a:srgbClr val="222222"/>
                </a:solidFill>
                <a:latin typeface="Calibri" pitchFamily="34" charset="0"/>
                <a:ea typeface="Calibri" pitchFamily="34" charset="-122"/>
                <a:cs typeface="Calibri" pitchFamily="34" charset="-120"/>
              </a:rPr>
              <a:t>Span of management</a:t>
            </a:r>
            <a:endParaRPr lang="en-US" sz="1300" dirty="0"/>
          </a:p>
          <a:p>
            <a:pPr marL="342900" indent="-342900">
              <a:spcAft>
                <a:spcPts val="800"/>
              </a:spcAft>
              <a:buSzPct val="100000"/>
              <a:buChar char="•"/>
            </a:pPr>
            <a:r>
              <a:rPr lang="en-US" sz="1300" dirty="0">
                <a:solidFill>
                  <a:srgbClr val="222222"/>
                </a:solidFill>
                <a:latin typeface="Calibri" pitchFamily="34" charset="0"/>
                <a:ea typeface="Calibri" pitchFamily="34" charset="-122"/>
                <a:cs typeface="Calibri" pitchFamily="34" charset="-120"/>
              </a:rPr>
              <a:t>How work is structured</a:t>
            </a:r>
            <a:endParaRPr lang="en-US" sz="1300" dirty="0"/>
          </a:p>
          <a:p>
            <a:pPr marL="342900" indent="-342900">
              <a:spcAft>
                <a:spcPts val="800"/>
              </a:spcAft>
              <a:buSzPct val="100000"/>
              <a:buChar char="•"/>
            </a:pPr>
            <a:r>
              <a:rPr lang="en-US" sz="1300" dirty="0">
                <a:solidFill>
                  <a:srgbClr val="222222"/>
                </a:solidFill>
                <a:latin typeface="Calibri" pitchFamily="34" charset="0"/>
                <a:ea typeface="Calibri" pitchFamily="34" charset="-122"/>
                <a:cs typeface="Calibri" pitchFamily="34" charset="-120"/>
              </a:rPr>
              <a:t>Reporting relationships</a:t>
            </a:r>
            <a:endParaRPr lang="en-US" sz="1300" dirty="0"/>
          </a:p>
        </p:txBody>
      </p:sp>
      <p:pic>
        <p:nvPicPr>
          <p:cNvPr id="11" name="Picture 10" descr="C:\Users\madam\AppData\Local\Temp\UPSA NEW LOGO.png"/>
          <p:cNvPicPr/>
          <p:nvPr/>
        </p:nvPicPr>
        <p:blipFill>
          <a:blip r:embed="rId3" cstate="print"/>
          <a:srcRect/>
          <a:stretch>
            <a:fillRect/>
          </a:stretch>
        </p:blipFill>
        <p:spPr bwMode="auto">
          <a:xfrm>
            <a:off x="6247050" y="320041"/>
            <a:ext cx="5632057" cy="1042415"/>
          </a:xfrm>
          <a:prstGeom prst="rect">
            <a:avLst/>
          </a:prstGeom>
          <a:noFill/>
          <a:ln w="9525">
            <a:noFill/>
            <a:miter lim="800000"/>
            <a:headEnd/>
            <a:tailEnd/>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065A82"/>
        </a:solidFill>
        <a:effectLst/>
      </p:bgPr>
    </p:bg>
    <p:spTree>
      <p:nvGrpSpPr>
        <p:cNvPr id="1" name=""/>
        <p:cNvGrpSpPr/>
        <p:nvPr/>
      </p:nvGrpSpPr>
      <p:grpSpPr>
        <a:xfrm>
          <a:off x="0" y="0"/>
          <a:ext cx="0" cy="0"/>
          <a:chOff x="0" y="0"/>
          <a:chExt cx="0" cy="0"/>
        </a:xfrm>
      </p:grpSpPr>
      <p:sp>
        <p:nvSpPr>
          <p:cNvPr id="2" name="Text 0"/>
          <p:cNvSpPr/>
          <p:nvPr/>
        </p:nvSpPr>
        <p:spPr>
          <a:xfrm>
            <a:off x="822960" y="2286000"/>
            <a:ext cx="3657600" cy="1371600"/>
          </a:xfrm>
          <a:prstGeom prst="rect">
            <a:avLst/>
          </a:prstGeom>
          <a:noFill/>
          <a:ln/>
        </p:spPr>
        <p:txBody>
          <a:bodyPr wrap="square" rtlCol="0" anchor="ctr"/>
          <a:lstStyle/>
          <a:p>
            <a:pPr marL="0" indent="0">
              <a:buNone/>
            </a:pPr>
            <a:r>
              <a:rPr lang="en-US" sz="7200" b="1" dirty="0">
                <a:solidFill>
                  <a:srgbClr val="3D85A6"/>
                </a:solidFill>
                <a:latin typeface="Cambria" pitchFamily="34" charset="0"/>
                <a:ea typeface="Cambria" pitchFamily="34" charset="-122"/>
                <a:cs typeface="Cambria" pitchFamily="34" charset="-120"/>
              </a:rPr>
              <a:t>02</a:t>
            </a:r>
            <a:endParaRPr lang="en-US" sz="7200" dirty="0"/>
          </a:p>
        </p:txBody>
      </p:sp>
      <p:sp>
        <p:nvSpPr>
          <p:cNvPr id="3" name="Text 1"/>
          <p:cNvSpPr/>
          <p:nvPr/>
        </p:nvSpPr>
        <p:spPr>
          <a:xfrm>
            <a:off x="822960" y="3383280"/>
            <a:ext cx="9601200" cy="1097280"/>
          </a:xfrm>
          <a:prstGeom prst="rect">
            <a:avLst/>
          </a:prstGeom>
          <a:noFill/>
          <a:ln/>
        </p:spPr>
        <p:txBody>
          <a:bodyPr wrap="square" rtlCol="0" anchor="ctr"/>
          <a:lstStyle/>
          <a:p>
            <a:pPr marL="0" indent="0">
              <a:buNone/>
            </a:pPr>
            <a:r>
              <a:rPr lang="en-US" sz="3800" b="1" dirty="0">
                <a:solidFill>
                  <a:srgbClr val="FFFFFF"/>
                </a:solidFill>
                <a:latin typeface="Cambria" pitchFamily="34" charset="0"/>
                <a:ea typeface="Cambria" pitchFamily="34" charset="-122"/>
                <a:cs typeface="Cambria" pitchFamily="34" charset="-120"/>
              </a:rPr>
              <a:t>Kinds of Organizational Charts</a:t>
            </a:r>
            <a:endParaRPr lang="en-US" sz="3800" dirty="0"/>
          </a:p>
        </p:txBody>
      </p:sp>
      <p:sp>
        <p:nvSpPr>
          <p:cNvPr id="4" name="Shape 2"/>
          <p:cNvSpPr/>
          <p:nvPr/>
        </p:nvSpPr>
        <p:spPr>
          <a:xfrm>
            <a:off x="0" y="0"/>
            <a:ext cx="164592" cy="6858000"/>
          </a:xfrm>
          <a:prstGeom prst="rect">
            <a:avLst/>
          </a:prstGeom>
          <a:solidFill>
            <a:srgbClr val="1C7293"/>
          </a:solidFill>
          <a:ln/>
        </p:spPr>
      </p:sp>
      <p:pic>
        <p:nvPicPr>
          <p:cNvPr id="5" name="Picture 4" descr="C:\Users\madam\AppData\Local\Temp\UPSA NEW LOGO.png"/>
          <p:cNvPicPr/>
          <p:nvPr/>
        </p:nvPicPr>
        <p:blipFill>
          <a:blip r:embed="rId3" cstate="print"/>
          <a:srcRect/>
          <a:stretch>
            <a:fillRect/>
          </a:stretch>
        </p:blipFill>
        <p:spPr bwMode="auto">
          <a:xfrm>
            <a:off x="5866726" y="323681"/>
            <a:ext cx="6052841" cy="1068149"/>
          </a:xfrm>
          <a:prstGeom prst="rect">
            <a:avLst/>
          </a:prstGeom>
          <a:noFill/>
          <a:ln w="9525">
            <a:noFill/>
            <a:miter lim="800000"/>
            <a:headEnd/>
            <a:tailEnd/>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KINDS OF CHARTS</a:t>
            </a:r>
            <a:endParaRPr lang="en-US" sz="1200" dirty="0"/>
          </a:p>
        </p:txBody>
      </p:sp>
      <p:sp>
        <p:nvSpPr>
          <p:cNvPr id="3" name="Text 1"/>
          <p:cNvSpPr/>
          <p:nvPr/>
        </p:nvSpPr>
        <p:spPr>
          <a:xfrm>
            <a:off x="548640" y="594360"/>
            <a:ext cx="10972800" cy="685800"/>
          </a:xfrm>
          <a:prstGeom prst="rect">
            <a:avLst/>
          </a:prstGeom>
          <a:noFill/>
          <a:ln/>
        </p:spPr>
        <p:txBody>
          <a:bodyPr wrap="square" rtlCol="0" anchor="ctr"/>
          <a:lstStyle/>
          <a:p>
            <a:pPr marL="0" indent="0">
              <a:buNone/>
            </a:pPr>
            <a:r>
              <a:rPr lang="en-US" sz="2800" b="1" dirty="0">
                <a:solidFill>
                  <a:srgbClr val="21295C"/>
                </a:solidFill>
                <a:latin typeface="Cambria" pitchFamily="34" charset="0"/>
                <a:ea typeface="Cambria" pitchFamily="34" charset="-122"/>
                <a:cs typeface="Cambria" pitchFamily="34" charset="-120"/>
              </a:rPr>
              <a:t>Three Main Types</a:t>
            </a:r>
            <a:endParaRPr lang="en-US" sz="2800" dirty="0"/>
          </a:p>
        </p:txBody>
      </p:sp>
      <p:sp>
        <p:nvSpPr>
          <p:cNvPr id="4" name="Text 2"/>
          <p:cNvSpPr/>
          <p:nvPr/>
        </p:nvSpPr>
        <p:spPr>
          <a:xfrm>
            <a:off x="548640" y="6473952"/>
            <a:ext cx="5486400" cy="274320"/>
          </a:xfrm>
          <a:prstGeom prst="rect">
            <a:avLst/>
          </a:prstGeom>
          <a:noFill/>
          <a:ln/>
        </p:spPr>
        <p:txBody>
          <a:bodyPr wrap="square" rtlCol="0" anchor="ctr"/>
          <a:lstStyle/>
          <a:p>
            <a:pPr marL="0" indent="0">
              <a:buNone/>
            </a:pPr>
            <a:r>
              <a:rPr lang="en-US" sz="900" dirty="0">
                <a:solidFill>
                  <a:srgbClr val="AAAAAA"/>
                </a:solidFill>
                <a:latin typeface="Calibri" pitchFamily="34" charset="0"/>
                <a:ea typeface="Calibri" pitchFamily="34" charset="-122"/>
                <a:cs typeface="Calibri" pitchFamily="34" charset="-120"/>
              </a:rPr>
              <a:t>Organizing — Study Guide</a:t>
            </a:r>
            <a:endParaRPr lang="en-US" sz="900" dirty="0"/>
          </a:p>
        </p:txBody>
      </p:sp>
      <p:sp>
        <p:nvSpPr>
          <p:cNvPr id="5" name="Shape 3"/>
          <p:cNvSpPr/>
          <p:nvPr/>
        </p:nvSpPr>
        <p:spPr>
          <a:xfrm>
            <a:off x="640080" y="1645920"/>
            <a:ext cx="3520440" cy="4206240"/>
          </a:xfrm>
          <a:prstGeom prst="roundRect">
            <a:avLst>
              <a:gd name="adj" fmla="val 2597"/>
            </a:avLst>
          </a:prstGeom>
          <a:solidFill>
            <a:srgbClr val="EAF3F7"/>
          </a:solidFill>
          <a:ln/>
        </p:spPr>
      </p:sp>
      <p:sp>
        <p:nvSpPr>
          <p:cNvPr id="6" name="Shape 4"/>
          <p:cNvSpPr/>
          <p:nvPr/>
        </p:nvSpPr>
        <p:spPr>
          <a:xfrm>
            <a:off x="960120" y="1965960"/>
            <a:ext cx="548640" cy="548640"/>
          </a:xfrm>
          <a:prstGeom prst="ellipse">
            <a:avLst/>
          </a:prstGeom>
          <a:solidFill>
            <a:srgbClr val="1C7293"/>
          </a:solidFill>
          <a:ln/>
        </p:spPr>
      </p:sp>
      <p:sp>
        <p:nvSpPr>
          <p:cNvPr id="7" name="Text 5"/>
          <p:cNvSpPr/>
          <p:nvPr/>
        </p:nvSpPr>
        <p:spPr>
          <a:xfrm>
            <a:off x="960120" y="1965960"/>
            <a:ext cx="548640" cy="548640"/>
          </a:xfrm>
          <a:prstGeom prst="rect">
            <a:avLst/>
          </a:prstGeom>
          <a:noFill/>
          <a:ln/>
        </p:spPr>
        <p:txBody>
          <a:bodyPr wrap="square" rtlCol="0" anchor="ctr"/>
          <a:lstStyle/>
          <a:p>
            <a:pPr marL="0" indent="0" algn="ctr">
              <a:buNone/>
            </a:pPr>
            <a:endParaRPr lang="en-US" sz="2000" dirty="0"/>
          </a:p>
        </p:txBody>
      </p:sp>
      <p:sp>
        <p:nvSpPr>
          <p:cNvPr id="8" name="Text 6"/>
          <p:cNvSpPr/>
          <p:nvPr/>
        </p:nvSpPr>
        <p:spPr>
          <a:xfrm>
            <a:off x="960120" y="2743200"/>
            <a:ext cx="2880360" cy="457200"/>
          </a:xfrm>
          <a:prstGeom prst="rect">
            <a:avLst/>
          </a:prstGeom>
          <a:noFill/>
          <a:ln/>
        </p:spPr>
        <p:txBody>
          <a:bodyPr wrap="square" rtlCol="0" anchor="ctr"/>
          <a:lstStyle/>
          <a:p>
            <a:pPr marL="0" indent="0">
              <a:buNone/>
            </a:pPr>
            <a:r>
              <a:rPr lang="en-US" sz="2000" b="1" dirty="0">
                <a:solidFill>
                  <a:srgbClr val="21295C"/>
                </a:solidFill>
                <a:latin typeface="Cambria" pitchFamily="34" charset="0"/>
                <a:ea typeface="Cambria" pitchFamily="34" charset="-122"/>
                <a:cs typeface="Cambria" pitchFamily="34" charset="-120"/>
              </a:rPr>
              <a:t>Vertical</a:t>
            </a:r>
            <a:endParaRPr lang="en-US" sz="2000" dirty="0"/>
          </a:p>
        </p:txBody>
      </p:sp>
      <p:sp>
        <p:nvSpPr>
          <p:cNvPr id="9" name="Text 7"/>
          <p:cNvSpPr/>
          <p:nvPr/>
        </p:nvSpPr>
        <p:spPr>
          <a:xfrm>
            <a:off x="960120" y="3291840"/>
            <a:ext cx="2880360" cy="2286000"/>
          </a:xfrm>
          <a:prstGeom prst="rect">
            <a:avLst/>
          </a:prstGeom>
          <a:noFill/>
          <a:ln/>
        </p:spPr>
        <p:txBody>
          <a:bodyPr wrap="square" rtlCol="0" anchor="ctr"/>
          <a:lstStyle/>
          <a:p>
            <a:pPr marL="0" indent="0">
              <a:buNone/>
            </a:pPr>
            <a:r>
              <a:rPr lang="en-US" sz="1400" dirty="0">
                <a:solidFill>
                  <a:srgbClr val="222222"/>
                </a:solidFill>
                <a:latin typeface="Calibri" pitchFamily="34" charset="0"/>
                <a:ea typeface="Calibri" pitchFamily="34" charset="-122"/>
                <a:cs typeface="Calibri" pitchFamily="34" charset="-120"/>
              </a:rPr>
              <a:t>Authority flows top to bottom. The most commonly used chart type.</a:t>
            </a:r>
            <a:endParaRPr lang="en-US" sz="1400" dirty="0"/>
          </a:p>
        </p:txBody>
      </p:sp>
      <p:sp>
        <p:nvSpPr>
          <p:cNvPr id="10" name="Shape 8"/>
          <p:cNvSpPr/>
          <p:nvPr/>
        </p:nvSpPr>
        <p:spPr>
          <a:xfrm>
            <a:off x="4480560" y="1645920"/>
            <a:ext cx="3520440" cy="4206240"/>
          </a:xfrm>
          <a:prstGeom prst="roundRect">
            <a:avLst>
              <a:gd name="adj" fmla="val 2597"/>
            </a:avLst>
          </a:prstGeom>
          <a:solidFill>
            <a:srgbClr val="065A82"/>
          </a:solidFill>
          <a:ln/>
        </p:spPr>
      </p:sp>
      <p:sp>
        <p:nvSpPr>
          <p:cNvPr id="11" name="Shape 9"/>
          <p:cNvSpPr/>
          <p:nvPr/>
        </p:nvSpPr>
        <p:spPr>
          <a:xfrm>
            <a:off x="4800600" y="1965960"/>
            <a:ext cx="548640" cy="548640"/>
          </a:xfrm>
          <a:prstGeom prst="ellipse">
            <a:avLst/>
          </a:prstGeom>
          <a:solidFill>
            <a:srgbClr val="1C7293"/>
          </a:solidFill>
          <a:ln/>
        </p:spPr>
      </p:sp>
      <p:sp>
        <p:nvSpPr>
          <p:cNvPr id="12" name="Text 10"/>
          <p:cNvSpPr/>
          <p:nvPr/>
        </p:nvSpPr>
        <p:spPr>
          <a:xfrm>
            <a:off x="4800600" y="1965960"/>
            <a:ext cx="548640" cy="548640"/>
          </a:xfrm>
          <a:prstGeom prst="rect">
            <a:avLst/>
          </a:prstGeom>
          <a:noFill/>
          <a:ln/>
        </p:spPr>
        <p:txBody>
          <a:bodyPr wrap="square" rtlCol="0" anchor="ctr"/>
          <a:lstStyle/>
          <a:p>
            <a:pPr marL="0" indent="0" algn="ctr">
              <a:buNone/>
            </a:pPr>
            <a:endParaRPr lang="en-US" sz="2000" dirty="0"/>
          </a:p>
        </p:txBody>
      </p:sp>
      <p:sp>
        <p:nvSpPr>
          <p:cNvPr id="13" name="Text 11"/>
          <p:cNvSpPr/>
          <p:nvPr/>
        </p:nvSpPr>
        <p:spPr>
          <a:xfrm>
            <a:off x="4800600" y="2743200"/>
            <a:ext cx="2880360" cy="457200"/>
          </a:xfrm>
          <a:prstGeom prst="rect">
            <a:avLst/>
          </a:prstGeom>
          <a:noFill/>
          <a:ln/>
        </p:spPr>
        <p:txBody>
          <a:bodyPr wrap="square"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Horizontal</a:t>
            </a:r>
            <a:endParaRPr lang="en-US" sz="2000" dirty="0"/>
          </a:p>
        </p:txBody>
      </p:sp>
      <p:sp>
        <p:nvSpPr>
          <p:cNvPr id="14" name="Text 12"/>
          <p:cNvSpPr/>
          <p:nvPr/>
        </p:nvSpPr>
        <p:spPr>
          <a:xfrm>
            <a:off x="4800600" y="3291840"/>
            <a:ext cx="2880360" cy="2286000"/>
          </a:xfrm>
          <a:prstGeom prst="rect">
            <a:avLst/>
          </a:prstGeom>
          <a:noFill/>
          <a:ln/>
        </p:spPr>
        <p:txBody>
          <a:bodyPr wrap="square" rtlCol="0" anchor="ctr"/>
          <a:lstStyle/>
          <a:p>
            <a:pPr marL="0" indent="0">
              <a:buNone/>
            </a:pPr>
            <a:r>
              <a:rPr lang="en-US" sz="1400" dirty="0">
                <a:solidFill>
                  <a:srgbClr val="FFFFFF"/>
                </a:solidFill>
                <a:latin typeface="Calibri" pitchFamily="34" charset="0"/>
                <a:ea typeface="Calibri" pitchFamily="34" charset="-122"/>
                <a:cs typeface="Calibri" pitchFamily="34" charset="-120"/>
              </a:rPr>
              <a:t>Authority flows left to right across the page.</a:t>
            </a:r>
            <a:endParaRPr lang="en-US" sz="1400" dirty="0"/>
          </a:p>
        </p:txBody>
      </p:sp>
      <p:sp>
        <p:nvSpPr>
          <p:cNvPr id="15" name="Shape 13"/>
          <p:cNvSpPr/>
          <p:nvPr/>
        </p:nvSpPr>
        <p:spPr>
          <a:xfrm>
            <a:off x="8321040" y="1645920"/>
            <a:ext cx="3520440" cy="4206240"/>
          </a:xfrm>
          <a:prstGeom prst="roundRect">
            <a:avLst>
              <a:gd name="adj" fmla="val 2597"/>
            </a:avLst>
          </a:prstGeom>
          <a:solidFill>
            <a:srgbClr val="EAF3F7"/>
          </a:solidFill>
          <a:ln/>
        </p:spPr>
      </p:sp>
      <p:sp>
        <p:nvSpPr>
          <p:cNvPr id="16" name="Shape 14"/>
          <p:cNvSpPr/>
          <p:nvPr/>
        </p:nvSpPr>
        <p:spPr>
          <a:xfrm>
            <a:off x="8641080" y="1965960"/>
            <a:ext cx="548640" cy="548640"/>
          </a:xfrm>
          <a:prstGeom prst="ellipse">
            <a:avLst/>
          </a:prstGeom>
          <a:solidFill>
            <a:srgbClr val="1C7293"/>
          </a:solidFill>
          <a:ln/>
        </p:spPr>
      </p:sp>
      <p:sp>
        <p:nvSpPr>
          <p:cNvPr id="17" name="Text 15"/>
          <p:cNvSpPr/>
          <p:nvPr/>
        </p:nvSpPr>
        <p:spPr>
          <a:xfrm>
            <a:off x="8641080" y="1965960"/>
            <a:ext cx="548640" cy="548640"/>
          </a:xfrm>
          <a:prstGeom prst="rect">
            <a:avLst/>
          </a:prstGeom>
          <a:noFill/>
          <a:ln/>
        </p:spPr>
        <p:txBody>
          <a:bodyPr wrap="square" rtlCol="0" anchor="ctr"/>
          <a:lstStyle/>
          <a:p>
            <a:pPr marL="0" indent="0" algn="ctr">
              <a:buNone/>
            </a:pPr>
            <a:endParaRPr lang="en-US" sz="2000" dirty="0"/>
          </a:p>
        </p:txBody>
      </p:sp>
      <p:sp>
        <p:nvSpPr>
          <p:cNvPr id="18" name="Text 16"/>
          <p:cNvSpPr/>
          <p:nvPr/>
        </p:nvSpPr>
        <p:spPr>
          <a:xfrm>
            <a:off x="8641080" y="2743200"/>
            <a:ext cx="2880360" cy="457200"/>
          </a:xfrm>
          <a:prstGeom prst="rect">
            <a:avLst/>
          </a:prstGeom>
          <a:noFill/>
          <a:ln/>
        </p:spPr>
        <p:txBody>
          <a:bodyPr wrap="square" rtlCol="0" anchor="ctr"/>
          <a:lstStyle/>
          <a:p>
            <a:pPr marL="0" indent="0">
              <a:buNone/>
            </a:pPr>
            <a:r>
              <a:rPr lang="en-US" sz="2000" b="1" dirty="0">
                <a:solidFill>
                  <a:srgbClr val="21295C"/>
                </a:solidFill>
                <a:latin typeface="Cambria" pitchFamily="34" charset="0"/>
                <a:ea typeface="Cambria" pitchFamily="34" charset="-122"/>
                <a:cs typeface="Cambria" pitchFamily="34" charset="-120"/>
              </a:rPr>
              <a:t>Circular</a:t>
            </a:r>
            <a:endParaRPr lang="en-US" sz="2000" dirty="0"/>
          </a:p>
        </p:txBody>
      </p:sp>
      <p:sp>
        <p:nvSpPr>
          <p:cNvPr id="19" name="Text 17"/>
          <p:cNvSpPr/>
          <p:nvPr/>
        </p:nvSpPr>
        <p:spPr>
          <a:xfrm>
            <a:off x="8641080" y="3291840"/>
            <a:ext cx="2880360" cy="2286000"/>
          </a:xfrm>
          <a:prstGeom prst="rect">
            <a:avLst/>
          </a:prstGeom>
          <a:noFill/>
          <a:ln/>
        </p:spPr>
        <p:txBody>
          <a:bodyPr wrap="square" rtlCol="0" anchor="ctr"/>
          <a:lstStyle/>
          <a:p>
            <a:pPr marL="0" indent="0">
              <a:buNone/>
            </a:pPr>
            <a:r>
              <a:rPr lang="en-US" sz="1400" dirty="0">
                <a:solidFill>
                  <a:srgbClr val="222222"/>
                </a:solidFill>
                <a:latin typeface="Calibri" pitchFamily="34" charset="0"/>
                <a:ea typeface="Calibri" pitchFamily="34" charset="-122"/>
                <a:cs typeface="Calibri" pitchFamily="34" charset="-120"/>
              </a:rPr>
              <a:t>Top position sits in the center; lower levels sit in outer rings.</a:t>
            </a:r>
            <a:endParaRPr lang="en-US" sz="1400" dirty="0"/>
          </a:p>
        </p:txBody>
      </p:sp>
      <p:pic>
        <p:nvPicPr>
          <p:cNvPr id="20" name="Picture 19" descr="C:\Users\madam\AppData\Local\Temp\UPSA NEW LOGO.png"/>
          <p:cNvPicPr/>
          <p:nvPr/>
        </p:nvPicPr>
        <p:blipFill>
          <a:blip r:embed="rId3" cstate="print"/>
          <a:srcRect/>
          <a:stretch>
            <a:fillRect/>
          </a:stretch>
        </p:blipFill>
        <p:spPr bwMode="auto">
          <a:xfrm>
            <a:off x="7234280" y="320041"/>
            <a:ext cx="4741931" cy="960119"/>
          </a:xfrm>
          <a:prstGeom prst="rect">
            <a:avLst/>
          </a:prstGeom>
          <a:noFill/>
          <a:ln w="9525">
            <a:noFill/>
            <a:miter lim="800000"/>
            <a:headEnd/>
            <a:tailEnd/>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065A82"/>
        </a:solidFill>
        <a:effectLst/>
      </p:bgPr>
    </p:bg>
    <p:spTree>
      <p:nvGrpSpPr>
        <p:cNvPr id="1" name=""/>
        <p:cNvGrpSpPr/>
        <p:nvPr/>
      </p:nvGrpSpPr>
      <p:grpSpPr>
        <a:xfrm>
          <a:off x="0" y="0"/>
          <a:ext cx="0" cy="0"/>
          <a:chOff x="0" y="0"/>
          <a:chExt cx="0" cy="0"/>
        </a:xfrm>
      </p:grpSpPr>
      <p:sp>
        <p:nvSpPr>
          <p:cNvPr id="2" name="Text 0"/>
          <p:cNvSpPr/>
          <p:nvPr/>
        </p:nvSpPr>
        <p:spPr>
          <a:xfrm>
            <a:off x="822960" y="2286000"/>
            <a:ext cx="3657600" cy="1371600"/>
          </a:xfrm>
          <a:prstGeom prst="rect">
            <a:avLst/>
          </a:prstGeom>
          <a:noFill/>
          <a:ln/>
        </p:spPr>
        <p:txBody>
          <a:bodyPr wrap="square" rtlCol="0" anchor="ctr"/>
          <a:lstStyle/>
          <a:p>
            <a:pPr marL="0" indent="0">
              <a:buNone/>
            </a:pPr>
            <a:r>
              <a:rPr lang="en-US" sz="7200" b="1" dirty="0">
                <a:solidFill>
                  <a:srgbClr val="3D85A6"/>
                </a:solidFill>
                <a:latin typeface="Cambria" pitchFamily="34" charset="0"/>
                <a:ea typeface="Cambria" pitchFamily="34" charset="-122"/>
                <a:cs typeface="Cambria" pitchFamily="34" charset="-120"/>
              </a:rPr>
              <a:t>03</a:t>
            </a:r>
            <a:endParaRPr lang="en-US" sz="7200" dirty="0"/>
          </a:p>
        </p:txBody>
      </p:sp>
      <p:sp>
        <p:nvSpPr>
          <p:cNvPr id="3" name="Text 1"/>
          <p:cNvSpPr/>
          <p:nvPr/>
        </p:nvSpPr>
        <p:spPr>
          <a:xfrm>
            <a:off x="822960" y="3383280"/>
            <a:ext cx="9601200" cy="1097280"/>
          </a:xfrm>
          <a:prstGeom prst="rect">
            <a:avLst/>
          </a:prstGeom>
          <a:noFill/>
          <a:ln/>
        </p:spPr>
        <p:txBody>
          <a:bodyPr wrap="square" rtlCol="0" anchor="ctr"/>
          <a:lstStyle/>
          <a:p>
            <a:pPr marL="0" indent="0">
              <a:buNone/>
            </a:pPr>
            <a:r>
              <a:rPr lang="en-US" sz="3800" b="1" dirty="0">
                <a:solidFill>
                  <a:srgbClr val="FFFFFF"/>
                </a:solidFill>
                <a:latin typeface="Cambria" pitchFamily="34" charset="0"/>
                <a:ea typeface="Cambria" pitchFamily="34" charset="-122"/>
                <a:cs typeface="Cambria" pitchFamily="34" charset="-120"/>
              </a:rPr>
              <a:t>Span of Management</a:t>
            </a:r>
            <a:endParaRPr lang="en-US" sz="3800" dirty="0"/>
          </a:p>
        </p:txBody>
      </p:sp>
      <p:sp>
        <p:nvSpPr>
          <p:cNvPr id="4" name="Shape 2"/>
          <p:cNvSpPr/>
          <p:nvPr/>
        </p:nvSpPr>
        <p:spPr>
          <a:xfrm>
            <a:off x="0" y="0"/>
            <a:ext cx="164592" cy="6858000"/>
          </a:xfrm>
          <a:prstGeom prst="rect">
            <a:avLst/>
          </a:prstGeom>
          <a:solidFill>
            <a:srgbClr val="1C7293"/>
          </a:solidFill>
          <a:ln/>
        </p:spPr>
      </p:sp>
      <p:pic>
        <p:nvPicPr>
          <p:cNvPr id="5" name="Picture 4" descr="C:\Users\madam\AppData\Local\Temp\UPSA NEW LOGO.png"/>
          <p:cNvPicPr/>
          <p:nvPr/>
        </p:nvPicPr>
        <p:blipFill>
          <a:blip r:embed="rId3" cstate="print"/>
          <a:srcRect/>
          <a:stretch>
            <a:fillRect/>
          </a:stretch>
        </p:blipFill>
        <p:spPr bwMode="auto">
          <a:xfrm>
            <a:off x="6853953" y="267037"/>
            <a:ext cx="5195087" cy="1196003"/>
          </a:xfrm>
          <a:prstGeom prst="rect">
            <a:avLst/>
          </a:prstGeom>
          <a:noFill/>
          <a:ln w="9525">
            <a:noFill/>
            <a:miter lim="800000"/>
            <a:headEnd/>
            <a:tailEnd/>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953490"/>
            <a:ext cx="7315200" cy="651163"/>
          </a:xfrm>
          <a:prstGeom prst="rect">
            <a:avLst/>
          </a:prstGeom>
          <a:noFill/>
          <a:ln/>
        </p:spPr>
        <p:txBody>
          <a:bodyPr wrap="square"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SPAN OF MANAGEMENT</a:t>
            </a:r>
            <a:endParaRPr lang="en-US" sz="1200" dirty="0"/>
          </a:p>
        </p:txBody>
      </p:sp>
      <p:sp>
        <p:nvSpPr>
          <p:cNvPr id="3" name="Text 1"/>
          <p:cNvSpPr/>
          <p:nvPr/>
        </p:nvSpPr>
        <p:spPr>
          <a:xfrm>
            <a:off x="548640" y="2604654"/>
            <a:ext cx="10972800" cy="775853"/>
          </a:xfrm>
          <a:prstGeom prst="rect">
            <a:avLst/>
          </a:prstGeom>
          <a:noFill/>
          <a:ln/>
        </p:spPr>
        <p:txBody>
          <a:bodyPr wrap="square" rtlCol="0" anchor="ctr"/>
          <a:lstStyle/>
          <a:p>
            <a:pPr marL="0" indent="0">
              <a:buNone/>
            </a:pPr>
            <a:r>
              <a:rPr lang="en-US" sz="2800" b="1" dirty="0">
                <a:solidFill>
                  <a:srgbClr val="21295C"/>
                </a:solidFill>
                <a:latin typeface="Cambria" pitchFamily="34" charset="0"/>
                <a:ea typeface="Cambria" pitchFamily="34" charset="-122"/>
                <a:cs typeface="Cambria" pitchFamily="34" charset="-120"/>
              </a:rPr>
              <a:t>What Is Span of Control?</a:t>
            </a:r>
            <a:endParaRPr lang="en-US" sz="2800" dirty="0"/>
          </a:p>
        </p:txBody>
      </p:sp>
      <p:sp>
        <p:nvSpPr>
          <p:cNvPr id="4" name="Text 2"/>
          <p:cNvSpPr/>
          <p:nvPr/>
        </p:nvSpPr>
        <p:spPr>
          <a:xfrm>
            <a:off x="548640" y="6473952"/>
            <a:ext cx="5486400" cy="274320"/>
          </a:xfrm>
          <a:prstGeom prst="rect">
            <a:avLst/>
          </a:prstGeom>
          <a:noFill/>
          <a:ln/>
        </p:spPr>
        <p:txBody>
          <a:bodyPr wrap="square" rtlCol="0" anchor="ctr"/>
          <a:lstStyle/>
          <a:p>
            <a:pPr marL="0" indent="0">
              <a:buNone/>
            </a:pPr>
            <a:r>
              <a:rPr lang="en-US" sz="900" dirty="0">
                <a:solidFill>
                  <a:srgbClr val="AAAAAA"/>
                </a:solidFill>
                <a:latin typeface="Calibri" pitchFamily="34" charset="0"/>
                <a:ea typeface="Calibri" pitchFamily="34" charset="-122"/>
                <a:cs typeface="Calibri" pitchFamily="34" charset="-120"/>
              </a:rPr>
              <a:t>Organizing — Study Guide</a:t>
            </a:r>
            <a:endParaRPr lang="en-US" sz="900" dirty="0"/>
          </a:p>
        </p:txBody>
      </p:sp>
      <p:sp>
        <p:nvSpPr>
          <p:cNvPr id="5" name="Text 3"/>
          <p:cNvSpPr/>
          <p:nvPr/>
        </p:nvSpPr>
        <p:spPr>
          <a:xfrm>
            <a:off x="640080" y="3380508"/>
            <a:ext cx="10881360" cy="2883131"/>
          </a:xfrm>
          <a:prstGeom prst="rect">
            <a:avLst/>
          </a:prstGeom>
          <a:noFill/>
          <a:ln/>
        </p:spPr>
        <p:txBody>
          <a:bodyPr wrap="square" rtlCol="0" anchor="t"/>
          <a:lstStyle/>
          <a:p>
            <a:pPr marL="228600" indent="-228600">
              <a:spcAft>
                <a:spcPts val="1200"/>
              </a:spcAft>
              <a:buSzPct val="100000"/>
              <a:buChar char="●"/>
            </a:pPr>
            <a:r>
              <a:rPr lang="en-US" sz="1600" dirty="0">
                <a:solidFill>
                  <a:srgbClr val="222222"/>
                </a:solidFill>
                <a:latin typeface="Calibri" pitchFamily="34" charset="0"/>
                <a:ea typeface="Calibri" pitchFamily="34" charset="-122"/>
                <a:cs typeface="Calibri" pitchFamily="34" charset="-120"/>
              </a:rPr>
              <a:t>The number of workers a manager can effectively supervise.</a:t>
            </a:r>
            <a:endParaRPr lang="en-US" sz="1600" dirty="0"/>
          </a:p>
          <a:p>
            <a:pPr marL="228600" indent="-228600">
              <a:spcAft>
                <a:spcPts val="1200"/>
              </a:spcAft>
              <a:buSzPct val="100000"/>
              <a:buChar char="●"/>
            </a:pPr>
            <a:r>
              <a:rPr lang="en-US" sz="1600" dirty="0">
                <a:solidFill>
                  <a:srgbClr val="222222"/>
                </a:solidFill>
                <a:latin typeface="Calibri" pitchFamily="34" charset="0"/>
                <a:ea typeface="Calibri" pitchFamily="34" charset="-122"/>
                <a:cs typeface="Calibri" pitchFamily="34" charset="-120"/>
              </a:rPr>
              <a:t>Historically, experts believed 5–6 subordinates was the max at senior levels.</a:t>
            </a:r>
            <a:endParaRPr lang="en-US" sz="1600" dirty="0"/>
          </a:p>
          <a:p>
            <a:pPr marL="228600" indent="-228600">
              <a:spcAft>
                <a:spcPts val="1200"/>
              </a:spcAft>
              <a:buSzPct val="100000"/>
              <a:buChar char="●"/>
            </a:pPr>
            <a:r>
              <a:rPr lang="en-US" sz="1600" dirty="0">
                <a:solidFill>
                  <a:srgbClr val="222222"/>
                </a:solidFill>
                <a:latin typeface="Calibri" pitchFamily="34" charset="0"/>
                <a:ea typeface="Calibri" pitchFamily="34" charset="-122"/>
                <a:cs typeface="Calibri" pitchFamily="34" charset="-120"/>
              </a:rPr>
              <a:t>Beyond that, managers faced: work overload, coordination difficulty, and control problems.</a:t>
            </a:r>
            <a:endParaRPr lang="en-US" sz="1600" dirty="0"/>
          </a:p>
          <a:p>
            <a:pPr marL="228600" indent="-228600">
              <a:spcAft>
                <a:spcPts val="1200"/>
              </a:spcAft>
              <a:buSzPct val="100000"/>
              <a:buChar char="●"/>
            </a:pPr>
            <a:r>
              <a:rPr lang="en-US" sz="1600" dirty="0">
                <a:solidFill>
                  <a:srgbClr val="222222"/>
                </a:solidFill>
                <a:latin typeface="Calibri" pitchFamily="34" charset="0"/>
                <a:ea typeface="Calibri" pitchFamily="34" charset="-122"/>
                <a:cs typeface="Calibri" pitchFamily="34" charset="-120"/>
              </a:rPr>
              <a:t>Today, span of management is situational — there's no fixed "right" number.</a:t>
            </a:r>
            <a:endParaRPr lang="en-US" sz="1600" dirty="0"/>
          </a:p>
        </p:txBody>
      </p:sp>
      <p:pic>
        <p:nvPicPr>
          <p:cNvPr id="6" name="Picture 5" descr="C:\Users\madam\AppData\Local\Temp\UPSA NEW LOGO.png"/>
          <p:cNvPicPr/>
          <p:nvPr/>
        </p:nvPicPr>
        <p:blipFill>
          <a:blip r:embed="rId3" cstate="print"/>
          <a:srcRect/>
          <a:stretch>
            <a:fillRect/>
          </a:stretch>
        </p:blipFill>
        <p:spPr bwMode="auto">
          <a:xfrm>
            <a:off x="6748758" y="129474"/>
            <a:ext cx="5259822" cy="1043872"/>
          </a:xfrm>
          <a:prstGeom prst="rect">
            <a:avLst/>
          </a:prstGeom>
          <a:noFill/>
          <a:ln w="9525">
            <a:noFill/>
            <a:miter lim="800000"/>
            <a:headEnd/>
            <a:tailEnd/>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SPAN OF MANAGEMENT</a:t>
            </a:r>
            <a:endParaRPr lang="en-US" sz="1200" dirty="0"/>
          </a:p>
        </p:txBody>
      </p:sp>
      <p:sp>
        <p:nvSpPr>
          <p:cNvPr id="3" name="Text 1"/>
          <p:cNvSpPr/>
          <p:nvPr/>
        </p:nvSpPr>
        <p:spPr>
          <a:xfrm>
            <a:off x="548640" y="594360"/>
            <a:ext cx="10972800" cy="685800"/>
          </a:xfrm>
          <a:prstGeom prst="rect">
            <a:avLst/>
          </a:prstGeom>
          <a:noFill/>
          <a:ln/>
        </p:spPr>
        <p:txBody>
          <a:bodyPr wrap="square" rtlCol="0" anchor="ctr"/>
          <a:lstStyle/>
          <a:p>
            <a:pPr marL="0" indent="0">
              <a:buNone/>
            </a:pPr>
            <a:r>
              <a:rPr lang="en-US" sz="2800" b="1" dirty="0">
                <a:solidFill>
                  <a:srgbClr val="21295C"/>
                </a:solidFill>
                <a:latin typeface="Cambria" pitchFamily="34" charset="0"/>
                <a:ea typeface="Cambria" pitchFamily="34" charset="-122"/>
                <a:cs typeface="Cambria" pitchFamily="34" charset="-120"/>
              </a:rPr>
              <a:t>Tall vs. Flat Structures</a:t>
            </a:r>
            <a:endParaRPr lang="en-US" sz="2800" dirty="0"/>
          </a:p>
        </p:txBody>
      </p:sp>
      <p:sp>
        <p:nvSpPr>
          <p:cNvPr id="4" name="Text 2"/>
          <p:cNvSpPr/>
          <p:nvPr/>
        </p:nvSpPr>
        <p:spPr>
          <a:xfrm>
            <a:off x="548640" y="6473952"/>
            <a:ext cx="5486400" cy="274320"/>
          </a:xfrm>
          <a:prstGeom prst="rect">
            <a:avLst/>
          </a:prstGeom>
          <a:noFill/>
          <a:ln/>
        </p:spPr>
        <p:txBody>
          <a:bodyPr wrap="square" rtlCol="0" anchor="ctr"/>
          <a:lstStyle/>
          <a:p>
            <a:pPr marL="0" indent="0">
              <a:buNone/>
            </a:pPr>
            <a:r>
              <a:rPr lang="en-US" sz="900" dirty="0">
                <a:solidFill>
                  <a:srgbClr val="AAAAAA"/>
                </a:solidFill>
                <a:latin typeface="Calibri" pitchFamily="34" charset="0"/>
                <a:ea typeface="Calibri" pitchFamily="34" charset="-122"/>
                <a:cs typeface="Calibri" pitchFamily="34" charset="-120"/>
              </a:rPr>
              <a:t>Organizing — Study Guide</a:t>
            </a:r>
            <a:endParaRPr lang="en-US" sz="900" dirty="0"/>
          </a:p>
        </p:txBody>
      </p:sp>
      <p:sp>
        <p:nvSpPr>
          <p:cNvPr id="5" name="Shape 3"/>
          <p:cNvSpPr/>
          <p:nvPr/>
        </p:nvSpPr>
        <p:spPr>
          <a:xfrm>
            <a:off x="640080" y="1554480"/>
            <a:ext cx="5257800" cy="4480560"/>
          </a:xfrm>
          <a:prstGeom prst="roundRect">
            <a:avLst>
              <a:gd name="adj" fmla="val 2041"/>
            </a:avLst>
          </a:prstGeom>
          <a:solidFill>
            <a:srgbClr val="EAF3F7"/>
          </a:solidFill>
          <a:ln/>
        </p:spPr>
      </p:sp>
      <p:sp>
        <p:nvSpPr>
          <p:cNvPr id="6" name="Shape 4"/>
          <p:cNvSpPr/>
          <p:nvPr/>
        </p:nvSpPr>
        <p:spPr>
          <a:xfrm>
            <a:off x="640080" y="1554480"/>
            <a:ext cx="5257800" cy="822960"/>
          </a:xfrm>
          <a:prstGeom prst="rect">
            <a:avLst/>
          </a:prstGeom>
          <a:solidFill>
            <a:srgbClr val="065A82"/>
          </a:solidFill>
          <a:ln/>
        </p:spPr>
      </p:sp>
      <p:sp>
        <p:nvSpPr>
          <p:cNvPr id="7" name="Text 5"/>
          <p:cNvSpPr/>
          <p:nvPr/>
        </p:nvSpPr>
        <p:spPr>
          <a:xfrm>
            <a:off x="914400" y="1627632"/>
            <a:ext cx="4709160" cy="411480"/>
          </a:xfrm>
          <a:prstGeom prst="rect">
            <a:avLst/>
          </a:prstGeom>
          <a:noFill/>
          <a:ln/>
        </p:spPr>
        <p:txBody>
          <a:bodyPr wrap="square"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Tall Structure</a:t>
            </a:r>
            <a:endParaRPr lang="en-US" sz="2000" dirty="0"/>
          </a:p>
        </p:txBody>
      </p:sp>
      <p:sp>
        <p:nvSpPr>
          <p:cNvPr id="8" name="Text 6"/>
          <p:cNvSpPr/>
          <p:nvPr/>
        </p:nvSpPr>
        <p:spPr>
          <a:xfrm>
            <a:off x="914400" y="2011680"/>
            <a:ext cx="4709160" cy="320040"/>
          </a:xfrm>
          <a:prstGeom prst="rect">
            <a:avLst/>
          </a:prstGeom>
          <a:noFill/>
          <a:ln/>
        </p:spPr>
        <p:txBody>
          <a:bodyPr wrap="square" rtlCol="0" anchor="ctr"/>
          <a:lstStyle/>
          <a:p>
            <a:pPr marL="0" indent="0">
              <a:buNone/>
            </a:pPr>
            <a:r>
              <a:rPr lang="en-US" sz="1200" i="1" dirty="0">
                <a:solidFill>
                  <a:srgbClr val="E4F0F5"/>
                </a:solidFill>
                <a:latin typeface="Calibri" pitchFamily="34" charset="0"/>
                <a:ea typeface="Calibri" pitchFamily="34" charset="-122"/>
                <a:cs typeface="Calibri" pitchFamily="34" charset="-120"/>
              </a:rPr>
              <a:t>Narrow span of control</a:t>
            </a:r>
            <a:endParaRPr lang="en-US" sz="1200" dirty="0"/>
          </a:p>
        </p:txBody>
      </p:sp>
      <p:sp>
        <p:nvSpPr>
          <p:cNvPr id="9" name="Text 7"/>
          <p:cNvSpPr/>
          <p:nvPr/>
        </p:nvSpPr>
        <p:spPr>
          <a:xfrm>
            <a:off x="914400" y="2606040"/>
            <a:ext cx="4709160" cy="3200400"/>
          </a:xfrm>
          <a:prstGeom prst="rect">
            <a:avLst/>
          </a:prstGeom>
          <a:noFill/>
          <a:ln/>
        </p:spPr>
        <p:txBody>
          <a:bodyPr wrap="square" rtlCol="0" anchor="ctr"/>
          <a:lstStyle/>
          <a:p>
            <a:pPr marL="342900" indent="-342900">
              <a:spcAft>
                <a:spcPts val="1200"/>
              </a:spcAft>
              <a:buSzPct val="100000"/>
              <a:buChar char="●"/>
            </a:pPr>
            <a:r>
              <a:rPr lang="en-US" sz="1400" dirty="0">
                <a:solidFill>
                  <a:srgbClr val="222222"/>
                </a:solidFill>
                <a:latin typeface="Calibri" pitchFamily="34" charset="0"/>
                <a:ea typeface="Calibri" pitchFamily="34" charset="-122"/>
                <a:cs typeface="Calibri" pitchFamily="34" charset="-120"/>
              </a:rPr>
              <a:t>A manager supervises only a few people</a:t>
            </a:r>
            <a:endParaRPr lang="en-US" sz="1400" dirty="0"/>
          </a:p>
          <a:p>
            <a:pPr marL="342900" indent="-342900">
              <a:spcAft>
                <a:spcPts val="1200"/>
              </a:spcAft>
              <a:buSzPct val="100000"/>
              <a:buChar char="●"/>
            </a:pPr>
            <a:r>
              <a:rPr lang="en-US" sz="1400" dirty="0">
                <a:solidFill>
                  <a:srgbClr val="222222"/>
                </a:solidFill>
                <a:latin typeface="Calibri" pitchFamily="34" charset="0"/>
                <a:ea typeface="Calibri" pitchFamily="34" charset="-122"/>
                <a:cs typeface="Calibri" pitchFamily="34" charset="-120"/>
              </a:rPr>
              <a:t>Creates many levels in the company</a:t>
            </a:r>
            <a:endParaRPr lang="en-US" sz="1400" dirty="0"/>
          </a:p>
          <a:p>
            <a:pPr marL="342900" indent="-342900">
              <a:spcAft>
                <a:spcPts val="1200"/>
              </a:spcAft>
              <a:buSzPct val="100000"/>
              <a:buChar char="●"/>
            </a:pPr>
            <a:r>
              <a:rPr lang="en-US" sz="1400" dirty="0">
                <a:solidFill>
                  <a:srgbClr val="222222"/>
                </a:solidFill>
                <a:latin typeface="Calibri" pitchFamily="34" charset="0"/>
                <a:ea typeface="Calibri" pitchFamily="34" charset="-122"/>
                <a:cs typeface="Calibri" pitchFamily="34" charset="-120"/>
              </a:rPr>
              <a:t>Allows tighter control over activities</a:t>
            </a:r>
            <a:endParaRPr lang="en-US" sz="1400" dirty="0"/>
          </a:p>
          <a:p>
            <a:pPr marL="342900" indent="-342900">
              <a:spcAft>
                <a:spcPts val="1200"/>
              </a:spcAft>
              <a:buSzPct val="100000"/>
              <a:buChar char="●"/>
            </a:pPr>
            <a:r>
              <a:rPr lang="en-US" sz="1400" dirty="0">
                <a:solidFill>
                  <a:srgbClr val="222222"/>
                </a:solidFill>
                <a:latin typeface="Calibri" pitchFamily="34" charset="0"/>
                <a:ea typeface="Calibri" pitchFamily="34" charset="-122"/>
                <a:cs typeface="Calibri" pitchFamily="34" charset="-120"/>
              </a:rPr>
              <a:t>Common in classical bureaucratic organizations</a:t>
            </a:r>
            <a:endParaRPr lang="en-US" sz="1400" dirty="0"/>
          </a:p>
        </p:txBody>
      </p:sp>
      <p:sp>
        <p:nvSpPr>
          <p:cNvPr id="10" name="Shape 8"/>
          <p:cNvSpPr/>
          <p:nvPr/>
        </p:nvSpPr>
        <p:spPr>
          <a:xfrm>
            <a:off x="6355080" y="1554480"/>
            <a:ext cx="5257800" cy="4480560"/>
          </a:xfrm>
          <a:prstGeom prst="roundRect">
            <a:avLst>
              <a:gd name="adj" fmla="val 2041"/>
            </a:avLst>
          </a:prstGeom>
          <a:solidFill>
            <a:srgbClr val="EAF3F7"/>
          </a:solidFill>
          <a:ln/>
        </p:spPr>
      </p:sp>
      <p:sp>
        <p:nvSpPr>
          <p:cNvPr id="11" name="Shape 9"/>
          <p:cNvSpPr/>
          <p:nvPr/>
        </p:nvSpPr>
        <p:spPr>
          <a:xfrm>
            <a:off x="6355080" y="1554480"/>
            <a:ext cx="5257800" cy="822960"/>
          </a:xfrm>
          <a:prstGeom prst="rect">
            <a:avLst/>
          </a:prstGeom>
          <a:solidFill>
            <a:srgbClr val="1C7293"/>
          </a:solidFill>
          <a:ln/>
        </p:spPr>
      </p:sp>
      <p:sp>
        <p:nvSpPr>
          <p:cNvPr id="12" name="Text 10"/>
          <p:cNvSpPr/>
          <p:nvPr/>
        </p:nvSpPr>
        <p:spPr>
          <a:xfrm>
            <a:off x="6629400" y="1627632"/>
            <a:ext cx="4709160" cy="411480"/>
          </a:xfrm>
          <a:prstGeom prst="rect">
            <a:avLst/>
          </a:prstGeom>
          <a:noFill/>
          <a:ln/>
        </p:spPr>
        <p:txBody>
          <a:bodyPr wrap="square"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Flat Structure</a:t>
            </a:r>
            <a:endParaRPr lang="en-US" sz="2000" dirty="0"/>
          </a:p>
        </p:txBody>
      </p:sp>
      <p:sp>
        <p:nvSpPr>
          <p:cNvPr id="13" name="Text 11"/>
          <p:cNvSpPr/>
          <p:nvPr/>
        </p:nvSpPr>
        <p:spPr>
          <a:xfrm>
            <a:off x="6629400" y="2011680"/>
            <a:ext cx="4709160" cy="320040"/>
          </a:xfrm>
          <a:prstGeom prst="rect">
            <a:avLst/>
          </a:prstGeom>
          <a:noFill/>
          <a:ln/>
        </p:spPr>
        <p:txBody>
          <a:bodyPr wrap="square" rtlCol="0" anchor="ctr"/>
          <a:lstStyle/>
          <a:p>
            <a:pPr marL="0" indent="0">
              <a:buNone/>
            </a:pPr>
            <a:r>
              <a:rPr lang="en-US" sz="1200" i="1" dirty="0">
                <a:solidFill>
                  <a:srgbClr val="E4F0F5"/>
                </a:solidFill>
                <a:latin typeface="Calibri" pitchFamily="34" charset="0"/>
                <a:ea typeface="Calibri" pitchFamily="34" charset="-122"/>
                <a:cs typeface="Calibri" pitchFamily="34" charset="-120"/>
              </a:rPr>
              <a:t>Wide span of control</a:t>
            </a:r>
            <a:endParaRPr lang="en-US" sz="1200" dirty="0"/>
          </a:p>
        </p:txBody>
      </p:sp>
      <p:sp>
        <p:nvSpPr>
          <p:cNvPr id="14" name="Text 12"/>
          <p:cNvSpPr/>
          <p:nvPr/>
        </p:nvSpPr>
        <p:spPr>
          <a:xfrm>
            <a:off x="6629400" y="2606040"/>
            <a:ext cx="4709160" cy="3200400"/>
          </a:xfrm>
          <a:prstGeom prst="rect">
            <a:avLst/>
          </a:prstGeom>
          <a:noFill/>
          <a:ln/>
        </p:spPr>
        <p:txBody>
          <a:bodyPr wrap="square" rtlCol="0" anchor="ctr"/>
          <a:lstStyle/>
          <a:p>
            <a:pPr marL="342900" indent="-342900">
              <a:spcAft>
                <a:spcPts val="1200"/>
              </a:spcAft>
              <a:buSzPct val="100000"/>
              <a:buChar char="●"/>
            </a:pPr>
            <a:r>
              <a:rPr lang="en-US" sz="1400" dirty="0">
                <a:solidFill>
                  <a:srgbClr val="222222"/>
                </a:solidFill>
                <a:latin typeface="Calibri" pitchFamily="34" charset="0"/>
                <a:ea typeface="Calibri" pitchFamily="34" charset="-122"/>
                <a:cs typeface="Calibri" pitchFamily="34" charset="-120"/>
              </a:rPr>
              <a:t>One manager supervises many people</a:t>
            </a:r>
            <a:endParaRPr lang="en-US" sz="1400" dirty="0"/>
          </a:p>
          <a:p>
            <a:pPr marL="342900" indent="-342900">
              <a:spcAft>
                <a:spcPts val="1200"/>
              </a:spcAft>
              <a:buSzPct val="100000"/>
              <a:buChar char="●"/>
            </a:pPr>
            <a:r>
              <a:rPr lang="en-US" sz="1400" dirty="0">
                <a:solidFill>
                  <a:srgbClr val="222222"/>
                </a:solidFill>
                <a:latin typeface="Calibri" pitchFamily="34" charset="0"/>
                <a:ea typeface="Calibri" pitchFamily="34" charset="-122"/>
                <a:cs typeface="Calibri" pitchFamily="34" charset="-120"/>
              </a:rPr>
              <a:t>Creates fewer hierarchical levels</a:t>
            </a:r>
            <a:endParaRPr lang="en-US" sz="1400" dirty="0"/>
          </a:p>
          <a:p>
            <a:pPr marL="342900" indent="-342900">
              <a:spcAft>
                <a:spcPts val="1200"/>
              </a:spcAft>
              <a:buSzPct val="100000"/>
              <a:buChar char="●"/>
            </a:pPr>
            <a:r>
              <a:rPr lang="en-US" sz="1400" dirty="0">
                <a:solidFill>
                  <a:srgbClr val="222222"/>
                </a:solidFill>
                <a:latin typeface="Calibri" pitchFamily="34" charset="0"/>
                <a:ea typeface="Calibri" pitchFamily="34" charset="-122"/>
                <a:cs typeface="Calibri" pitchFamily="34" charset="-120"/>
              </a:rPr>
              <a:t>Common when work is routine or repetitive</a:t>
            </a:r>
            <a:endParaRPr lang="en-US" sz="1400" dirty="0"/>
          </a:p>
          <a:p>
            <a:pPr marL="342900" indent="-342900">
              <a:spcAft>
                <a:spcPts val="1200"/>
              </a:spcAft>
              <a:buSzPct val="100000"/>
              <a:buChar char="●"/>
            </a:pPr>
            <a:r>
              <a:rPr lang="en-US" sz="1400" dirty="0">
                <a:solidFill>
                  <a:srgbClr val="222222"/>
                </a:solidFill>
                <a:latin typeface="Calibri" pitchFamily="34" charset="0"/>
                <a:ea typeface="Calibri" pitchFamily="34" charset="-122"/>
                <a:cs typeface="Calibri" pitchFamily="34" charset="-120"/>
              </a:rPr>
              <a:t>Needs competent, self-sufficient staff</a:t>
            </a:r>
            <a:endParaRPr lang="en-US" sz="1400" dirty="0"/>
          </a:p>
        </p:txBody>
      </p:sp>
      <p:pic>
        <p:nvPicPr>
          <p:cNvPr id="15" name="Picture 14" descr="C:\Users\madam\AppData\Local\Temp\UPSA NEW LOGO.png"/>
          <p:cNvPicPr/>
          <p:nvPr/>
        </p:nvPicPr>
        <p:blipFill>
          <a:blip r:embed="rId3" cstate="print"/>
          <a:srcRect/>
          <a:stretch>
            <a:fillRect/>
          </a:stretch>
        </p:blipFill>
        <p:spPr bwMode="auto">
          <a:xfrm>
            <a:off x="7048163" y="242761"/>
            <a:ext cx="5041338" cy="1156271"/>
          </a:xfrm>
          <a:prstGeom prst="rect">
            <a:avLst/>
          </a:prstGeom>
          <a:noFill/>
          <a:ln w="9525">
            <a:noFill/>
            <a:miter lim="800000"/>
            <a:headEnd/>
            <a:tailEnd/>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SPAN OF MANAGEMENT</a:t>
            </a:r>
            <a:endParaRPr lang="en-US" sz="1200" dirty="0"/>
          </a:p>
        </p:txBody>
      </p:sp>
      <p:sp>
        <p:nvSpPr>
          <p:cNvPr id="3" name="Text 1"/>
          <p:cNvSpPr/>
          <p:nvPr/>
        </p:nvSpPr>
        <p:spPr>
          <a:xfrm>
            <a:off x="548640" y="594360"/>
            <a:ext cx="10972800" cy="685800"/>
          </a:xfrm>
          <a:prstGeom prst="rect">
            <a:avLst/>
          </a:prstGeom>
          <a:noFill/>
          <a:ln/>
        </p:spPr>
        <p:txBody>
          <a:bodyPr wrap="square" rtlCol="0" anchor="ctr"/>
          <a:lstStyle/>
          <a:p>
            <a:pPr marL="0" indent="0">
              <a:buNone/>
            </a:pPr>
            <a:r>
              <a:rPr lang="en-US" sz="2800" b="1" dirty="0">
                <a:solidFill>
                  <a:srgbClr val="21295C"/>
                </a:solidFill>
                <a:latin typeface="Cambria" pitchFamily="34" charset="0"/>
                <a:ea typeface="Cambria" pitchFamily="34" charset="-122"/>
                <a:cs typeface="Cambria" pitchFamily="34" charset="-120"/>
              </a:rPr>
              <a:t>Tall Structure: Pros &amp; Cons</a:t>
            </a:r>
            <a:endParaRPr lang="en-US" sz="2800" dirty="0"/>
          </a:p>
        </p:txBody>
      </p:sp>
      <p:sp>
        <p:nvSpPr>
          <p:cNvPr id="4" name="Text 2"/>
          <p:cNvSpPr/>
          <p:nvPr/>
        </p:nvSpPr>
        <p:spPr>
          <a:xfrm>
            <a:off x="548640" y="6473952"/>
            <a:ext cx="5486400" cy="274320"/>
          </a:xfrm>
          <a:prstGeom prst="rect">
            <a:avLst/>
          </a:prstGeom>
          <a:noFill/>
          <a:ln/>
        </p:spPr>
        <p:txBody>
          <a:bodyPr wrap="square" rtlCol="0" anchor="ctr"/>
          <a:lstStyle/>
          <a:p>
            <a:pPr marL="0" indent="0">
              <a:buNone/>
            </a:pPr>
            <a:r>
              <a:rPr lang="en-US" sz="900" dirty="0">
                <a:solidFill>
                  <a:srgbClr val="AAAAAA"/>
                </a:solidFill>
                <a:latin typeface="Calibri" pitchFamily="34" charset="0"/>
                <a:ea typeface="Calibri" pitchFamily="34" charset="-122"/>
                <a:cs typeface="Calibri" pitchFamily="34" charset="-120"/>
              </a:rPr>
              <a:t>Organizing — Study Guide</a:t>
            </a:r>
            <a:endParaRPr lang="en-US" sz="900" dirty="0"/>
          </a:p>
        </p:txBody>
      </p:sp>
      <p:sp>
        <p:nvSpPr>
          <p:cNvPr id="5" name="Shape 3"/>
          <p:cNvSpPr/>
          <p:nvPr/>
        </p:nvSpPr>
        <p:spPr>
          <a:xfrm>
            <a:off x="640080" y="1508760"/>
            <a:ext cx="5349240" cy="502920"/>
          </a:xfrm>
          <a:prstGeom prst="roundRect">
            <a:avLst>
              <a:gd name="adj" fmla="val 14545"/>
            </a:avLst>
          </a:prstGeom>
          <a:solidFill>
            <a:srgbClr val="2E8B57"/>
          </a:solidFill>
          <a:ln/>
        </p:spPr>
      </p:sp>
      <p:sp>
        <p:nvSpPr>
          <p:cNvPr id="6" name="Text 4"/>
          <p:cNvSpPr/>
          <p:nvPr/>
        </p:nvSpPr>
        <p:spPr>
          <a:xfrm>
            <a:off x="640080" y="1508760"/>
            <a:ext cx="5349240" cy="50292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Advantages</a:t>
            </a:r>
            <a:endParaRPr lang="en-US" sz="1500" dirty="0"/>
          </a:p>
        </p:txBody>
      </p:sp>
      <p:sp>
        <p:nvSpPr>
          <p:cNvPr id="7" name="Text 5"/>
          <p:cNvSpPr/>
          <p:nvPr/>
        </p:nvSpPr>
        <p:spPr>
          <a:xfrm>
            <a:off x="777240" y="2194560"/>
            <a:ext cx="5074920" cy="4206240"/>
          </a:xfrm>
          <a:prstGeom prst="rect">
            <a:avLst/>
          </a:prstGeom>
          <a:noFill/>
          <a:ln/>
        </p:spPr>
        <p:txBody>
          <a:bodyPr wrap="square" rtlCol="0" anchor="ctr"/>
          <a:lstStyle/>
          <a:p>
            <a:pPr marL="342900" indent="-342900">
              <a:spcAft>
                <a:spcPts val="1000"/>
              </a:spcAft>
              <a:buSzPct val="100000"/>
              <a:buChar char="✓"/>
            </a:pPr>
            <a:r>
              <a:rPr lang="en-US" sz="1300" dirty="0">
                <a:solidFill>
                  <a:srgbClr val="222222"/>
                </a:solidFill>
                <a:latin typeface="Calibri" pitchFamily="34" charset="0"/>
                <a:ea typeface="Calibri" pitchFamily="34" charset="-122"/>
                <a:cs typeface="Calibri" pitchFamily="34" charset="-120"/>
              </a:rPr>
              <a:t>Managers can closely supervise employees</a:t>
            </a:r>
            <a:endParaRPr lang="en-US" sz="1300" dirty="0"/>
          </a:p>
          <a:p>
            <a:pPr marL="342900" indent="-342900">
              <a:spcAft>
                <a:spcPts val="1000"/>
              </a:spcAft>
              <a:buSzPct val="100000"/>
              <a:buChar char="✓"/>
            </a:pPr>
            <a:r>
              <a:rPr lang="en-US" sz="1300" dirty="0">
                <a:solidFill>
                  <a:srgbClr val="222222"/>
                </a:solidFill>
                <a:latin typeface="Calibri" pitchFamily="34" charset="0"/>
                <a:ea typeface="Calibri" pitchFamily="34" charset="-122"/>
                <a:cs typeface="Calibri" pitchFamily="34" charset="-120"/>
              </a:rPr>
              <a:t>Better communication between superiors and subordinates</a:t>
            </a:r>
            <a:endParaRPr lang="en-US" sz="1300" dirty="0"/>
          </a:p>
          <a:p>
            <a:pPr marL="342900" indent="-342900">
              <a:spcAft>
                <a:spcPts val="1000"/>
              </a:spcAft>
              <a:buSzPct val="100000"/>
              <a:buChar char="✓"/>
            </a:pPr>
            <a:r>
              <a:rPr lang="en-US" sz="1300" dirty="0">
                <a:solidFill>
                  <a:srgbClr val="222222"/>
                </a:solidFill>
                <a:latin typeface="Calibri" pitchFamily="34" charset="0"/>
                <a:ea typeface="Calibri" pitchFamily="34" charset="-122"/>
                <a:cs typeface="Calibri" pitchFamily="34" charset="-120"/>
              </a:rPr>
              <a:t>Builds personal relationships</a:t>
            </a:r>
            <a:endParaRPr lang="en-US" sz="1300" dirty="0"/>
          </a:p>
          <a:p>
            <a:pPr marL="342900" indent="-342900">
              <a:spcAft>
                <a:spcPts val="1000"/>
              </a:spcAft>
              <a:buSzPct val="100000"/>
              <a:buChar char="✓"/>
            </a:pPr>
            <a:r>
              <a:rPr lang="en-US" sz="1300" dirty="0">
                <a:solidFill>
                  <a:srgbClr val="222222"/>
                </a:solidFill>
                <a:latin typeface="Calibri" pitchFamily="34" charset="0"/>
                <a:ea typeface="Calibri" pitchFamily="34" charset="-122"/>
                <a:cs typeface="Calibri" pitchFamily="34" charset="-120"/>
              </a:rPr>
              <a:t>Tighter control over subordinates</a:t>
            </a:r>
            <a:endParaRPr lang="en-US" sz="1300" dirty="0"/>
          </a:p>
        </p:txBody>
      </p:sp>
      <p:sp>
        <p:nvSpPr>
          <p:cNvPr id="8" name="Shape 6"/>
          <p:cNvSpPr/>
          <p:nvPr/>
        </p:nvSpPr>
        <p:spPr>
          <a:xfrm>
            <a:off x="6355080" y="1508760"/>
            <a:ext cx="5349240" cy="502920"/>
          </a:xfrm>
          <a:prstGeom prst="roundRect">
            <a:avLst>
              <a:gd name="adj" fmla="val 14545"/>
            </a:avLst>
          </a:prstGeom>
          <a:solidFill>
            <a:srgbClr val="B23A48"/>
          </a:solidFill>
          <a:ln/>
        </p:spPr>
      </p:sp>
      <p:sp>
        <p:nvSpPr>
          <p:cNvPr id="9" name="Text 7"/>
          <p:cNvSpPr/>
          <p:nvPr/>
        </p:nvSpPr>
        <p:spPr>
          <a:xfrm>
            <a:off x="6355080" y="1508760"/>
            <a:ext cx="5349240" cy="50292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Disadvantages</a:t>
            </a:r>
            <a:endParaRPr lang="en-US" sz="1500" dirty="0"/>
          </a:p>
        </p:txBody>
      </p:sp>
      <p:sp>
        <p:nvSpPr>
          <p:cNvPr id="10" name="Text 8"/>
          <p:cNvSpPr/>
          <p:nvPr/>
        </p:nvSpPr>
        <p:spPr>
          <a:xfrm>
            <a:off x="6492240" y="2194560"/>
            <a:ext cx="5074920" cy="4206240"/>
          </a:xfrm>
          <a:prstGeom prst="rect">
            <a:avLst/>
          </a:prstGeom>
          <a:noFill/>
          <a:ln/>
        </p:spPr>
        <p:txBody>
          <a:bodyPr wrap="square" rtlCol="0" anchor="ctr"/>
          <a:lstStyle/>
          <a:p>
            <a:pPr marL="342900" indent="-342900">
              <a:spcAft>
                <a:spcPts val="1000"/>
              </a:spcAft>
              <a:buSzPct val="100000"/>
              <a:buChar char="✗"/>
            </a:pPr>
            <a:r>
              <a:rPr lang="en-US" sz="1300" dirty="0">
                <a:solidFill>
                  <a:srgbClr val="222222"/>
                </a:solidFill>
                <a:latin typeface="Calibri" pitchFamily="34" charset="0"/>
                <a:ea typeface="Calibri" pitchFamily="34" charset="-122"/>
                <a:cs typeface="Calibri" pitchFamily="34" charset="-120"/>
              </a:rPr>
              <a:t>Too many levels complicates coordination</a:t>
            </a:r>
            <a:endParaRPr lang="en-US" sz="1300" dirty="0"/>
          </a:p>
          <a:p>
            <a:pPr marL="342900" indent="-342900">
              <a:spcAft>
                <a:spcPts val="1000"/>
              </a:spcAft>
              <a:buSzPct val="100000"/>
              <a:buChar char="✗"/>
            </a:pPr>
            <a:r>
              <a:rPr lang="en-US" sz="1300" dirty="0">
                <a:solidFill>
                  <a:srgbClr val="222222"/>
                </a:solidFill>
                <a:latin typeface="Calibri" pitchFamily="34" charset="0"/>
                <a:ea typeface="Calibri" pitchFamily="34" charset="-122"/>
                <a:cs typeface="Calibri" pitchFamily="34" charset="-120"/>
              </a:rPr>
              <a:t>More managers needed — higher overhead cost</a:t>
            </a:r>
            <a:endParaRPr lang="en-US" sz="1300" dirty="0"/>
          </a:p>
          <a:p>
            <a:pPr marL="342900" indent="-342900">
              <a:spcAft>
                <a:spcPts val="1000"/>
              </a:spcAft>
              <a:buSzPct val="100000"/>
              <a:buChar char="✗"/>
            </a:pPr>
            <a:r>
              <a:rPr lang="en-US" sz="1300" dirty="0">
                <a:solidFill>
                  <a:srgbClr val="222222"/>
                </a:solidFill>
                <a:latin typeface="Calibri" pitchFamily="34" charset="0"/>
                <a:ea typeface="Calibri" pitchFamily="34" charset="-122"/>
                <a:cs typeface="Calibri" pitchFamily="34" charset="-120"/>
              </a:rPr>
              <a:t>Growing gap slows communication</a:t>
            </a:r>
            <a:endParaRPr lang="en-US" sz="1300" dirty="0"/>
          </a:p>
          <a:p>
            <a:pPr marL="342900" indent="-342900">
              <a:spcAft>
                <a:spcPts val="1000"/>
              </a:spcAft>
              <a:buSzPct val="100000"/>
              <a:buChar char="✗"/>
            </a:pPr>
            <a:r>
              <a:rPr lang="en-US" sz="1300" dirty="0">
                <a:solidFill>
                  <a:srgbClr val="222222"/>
                </a:solidFill>
                <a:latin typeface="Calibri" pitchFamily="34" charset="0"/>
                <a:ea typeface="Calibri" pitchFamily="34" charset="-122"/>
                <a:cs typeface="Calibri" pitchFamily="34" charset="-120"/>
              </a:rPr>
              <a:t>Decision-making becomes difficult</a:t>
            </a:r>
            <a:endParaRPr lang="en-US" sz="1300" dirty="0"/>
          </a:p>
          <a:p>
            <a:pPr marL="342900" indent="-342900">
              <a:spcAft>
                <a:spcPts val="1000"/>
              </a:spcAft>
              <a:buSzPct val="100000"/>
              <a:buChar char="✗"/>
            </a:pPr>
            <a:r>
              <a:rPr lang="en-US" sz="1300" dirty="0">
                <a:solidFill>
                  <a:srgbClr val="222222"/>
                </a:solidFill>
                <a:latin typeface="Calibri" pitchFamily="34" charset="0"/>
                <a:ea typeface="Calibri" pitchFamily="34" charset="-122"/>
                <a:cs typeface="Calibri" pitchFamily="34" charset="-120"/>
              </a:rPr>
              <a:t>Restricts creativity due to strict control</a:t>
            </a:r>
            <a:endParaRPr lang="en-US" sz="1300" dirty="0"/>
          </a:p>
        </p:txBody>
      </p:sp>
      <p:pic>
        <p:nvPicPr>
          <p:cNvPr id="11" name="Picture 10" descr="C:\Users\madam\AppData\Local\Temp\UPSA NEW LOGO.png"/>
          <p:cNvPicPr/>
          <p:nvPr/>
        </p:nvPicPr>
        <p:blipFill>
          <a:blip r:embed="rId3" cstate="print"/>
          <a:srcRect/>
          <a:stretch>
            <a:fillRect/>
          </a:stretch>
        </p:blipFill>
        <p:spPr bwMode="auto">
          <a:xfrm>
            <a:off x="7574145" y="113289"/>
            <a:ext cx="4426342" cy="1100516"/>
          </a:xfrm>
          <a:prstGeom prst="rect">
            <a:avLst/>
          </a:prstGeom>
          <a:noFill/>
          <a:ln w="9525">
            <a:noFill/>
            <a:miter lim="800000"/>
            <a:headEnd/>
            <a:tailEnd/>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SPAN OF MANAGEMENT</a:t>
            </a:r>
            <a:endParaRPr lang="en-US" sz="1200" dirty="0"/>
          </a:p>
        </p:txBody>
      </p:sp>
      <p:sp>
        <p:nvSpPr>
          <p:cNvPr id="3" name="Text 1"/>
          <p:cNvSpPr/>
          <p:nvPr/>
        </p:nvSpPr>
        <p:spPr>
          <a:xfrm>
            <a:off x="548640" y="594360"/>
            <a:ext cx="10972800" cy="685800"/>
          </a:xfrm>
          <a:prstGeom prst="rect">
            <a:avLst/>
          </a:prstGeom>
          <a:noFill/>
          <a:ln/>
        </p:spPr>
        <p:txBody>
          <a:bodyPr wrap="square" rtlCol="0" anchor="ctr"/>
          <a:lstStyle/>
          <a:p>
            <a:pPr marL="0" indent="0">
              <a:buNone/>
            </a:pPr>
            <a:r>
              <a:rPr lang="en-US" sz="2800" b="1" dirty="0">
                <a:solidFill>
                  <a:srgbClr val="21295C"/>
                </a:solidFill>
                <a:latin typeface="Cambria" pitchFamily="34" charset="0"/>
                <a:ea typeface="Cambria" pitchFamily="34" charset="-122"/>
                <a:cs typeface="Cambria" pitchFamily="34" charset="-120"/>
              </a:rPr>
              <a:t>Flat Structure: Pros &amp; Cons</a:t>
            </a:r>
            <a:endParaRPr lang="en-US" sz="2800" dirty="0"/>
          </a:p>
        </p:txBody>
      </p:sp>
      <p:sp>
        <p:nvSpPr>
          <p:cNvPr id="4" name="Text 2"/>
          <p:cNvSpPr/>
          <p:nvPr/>
        </p:nvSpPr>
        <p:spPr>
          <a:xfrm>
            <a:off x="548640" y="6473952"/>
            <a:ext cx="5486400" cy="274320"/>
          </a:xfrm>
          <a:prstGeom prst="rect">
            <a:avLst/>
          </a:prstGeom>
          <a:noFill/>
          <a:ln/>
        </p:spPr>
        <p:txBody>
          <a:bodyPr wrap="square" rtlCol="0" anchor="ctr"/>
          <a:lstStyle/>
          <a:p>
            <a:pPr marL="0" indent="0">
              <a:buNone/>
            </a:pPr>
            <a:r>
              <a:rPr lang="en-US" sz="900" dirty="0">
                <a:solidFill>
                  <a:srgbClr val="AAAAAA"/>
                </a:solidFill>
                <a:latin typeface="Calibri" pitchFamily="34" charset="0"/>
                <a:ea typeface="Calibri" pitchFamily="34" charset="-122"/>
                <a:cs typeface="Calibri" pitchFamily="34" charset="-120"/>
              </a:rPr>
              <a:t>Organizing — Study Guide</a:t>
            </a:r>
            <a:endParaRPr lang="en-US" sz="900" dirty="0"/>
          </a:p>
        </p:txBody>
      </p:sp>
      <p:sp>
        <p:nvSpPr>
          <p:cNvPr id="5" name="Shape 3"/>
          <p:cNvSpPr/>
          <p:nvPr/>
        </p:nvSpPr>
        <p:spPr>
          <a:xfrm>
            <a:off x="640080" y="1508760"/>
            <a:ext cx="5349240" cy="502920"/>
          </a:xfrm>
          <a:prstGeom prst="roundRect">
            <a:avLst>
              <a:gd name="adj" fmla="val 14545"/>
            </a:avLst>
          </a:prstGeom>
          <a:solidFill>
            <a:srgbClr val="2E8B57"/>
          </a:solidFill>
          <a:ln/>
        </p:spPr>
      </p:sp>
      <p:sp>
        <p:nvSpPr>
          <p:cNvPr id="6" name="Text 4"/>
          <p:cNvSpPr/>
          <p:nvPr/>
        </p:nvSpPr>
        <p:spPr>
          <a:xfrm>
            <a:off x="640080" y="1508760"/>
            <a:ext cx="5349240" cy="50292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Advantages</a:t>
            </a:r>
            <a:endParaRPr lang="en-US" sz="1500" dirty="0"/>
          </a:p>
        </p:txBody>
      </p:sp>
      <p:sp>
        <p:nvSpPr>
          <p:cNvPr id="7" name="Text 5"/>
          <p:cNvSpPr/>
          <p:nvPr/>
        </p:nvSpPr>
        <p:spPr>
          <a:xfrm>
            <a:off x="777240" y="2194560"/>
            <a:ext cx="5074920" cy="4206240"/>
          </a:xfrm>
          <a:prstGeom prst="rect">
            <a:avLst/>
          </a:prstGeom>
          <a:noFill/>
          <a:ln/>
        </p:spPr>
        <p:txBody>
          <a:bodyPr wrap="square" rtlCol="0" anchor="ctr"/>
          <a:lstStyle/>
          <a:p>
            <a:pPr marL="342900" indent="-342900">
              <a:spcAft>
                <a:spcPts val="1000"/>
              </a:spcAft>
              <a:buSzPct val="100000"/>
              <a:buChar char="✓"/>
            </a:pPr>
            <a:r>
              <a:rPr lang="en-US" sz="1300" dirty="0">
                <a:solidFill>
                  <a:srgbClr val="222222"/>
                </a:solidFill>
                <a:latin typeface="Calibri" pitchFamily="34" charset="0"/>
                <a:ea typeface="Calibri" pitchFamily="34" charset="-122"/>
                <a:cs typeface="Calibri" pitchFamily="34" charset="-120"/>
              </a:rPr>
              <a:t>Lower cost — fewer managers needed</a:t>
            </a:r>
            <a:endParaRPr lang="en-US" sz="1300" dirty="0"/>
          </a:p>
          <a:p>
            <a:pPr marL="342900" indent="-342900">
              <a:spcAft>
                <a:spcPts val="1000"/>
              </a:spcAft>
              <a:buSzPct val="100000"/>
              <a:buChar char="✓"/>
            </a:pPr>
            <a:r>
              <a:rPr lang="en-US" sz="1300" dirty="0">
                <a:solidFill>
                  <a:srgbClr val="222222"/>
                </a:solidFill>
                <a:latin typeface="Calibri" pitchFamily="34" charset="0"/>
                <a:ea typeface="Calibri" pitchFamily="34" charset="-122"/>
                <a:cs typeface="Calibri" pitchFamily="34" charset="-120"/>
              </a:rPr>
              <a:t>Faster decisions since authority is delegated</a:t>
            </a:r>
            <a:endParaRPr lang="en-US" sz="1300" dirty="0"/>
          </a:p>
          <a:p>
            <a:pPr marL="342900" indent="-342900">
              <a:spcAft>
                <a:spcPts val="1000"/>
              </a:spcAft>
              <a:buSzPct val="100000"/>
              <a:buChar char="✓"/>
            </a:pPr>
            <a:r>
              <a:rPr lang="en-US" sz="1300" dirty="0">
                <a:solidFill>
                  <a:srgbClr val="222222"/>
                </a:solidFill>
                <a:latin typeface="Calibri" pitchFamily="34" charset="0"/>
                <a:ea typeface="Calibri" pitchFamily="34" charset="-122"/>
                <a:cs typeface="Calibri" pitchFamily="34" charset="-120"/>
              </a:rPr>
              <a:t>Subordinates work efficiently, feel trusted</a:t>
            </a:r>
            <a:endParaRPr lang="en-US" sz="1300" dirty="0"/>
          </a:p>
          <a:p>
            <a:pPr marL="342900" indent="-342900">
              <a:spcAft>
                <a:spcPts val="1000"/>
              </a:spcAft>
              <a:buSzPct val="100000"/>
              <a:buChar char="✓"/>
            </a:pPr>
            <a:r>
              <a:rPr lang="en-US" sz="1300" dirty="0">
                <a:solidFill>
                  <a:srgbClr val="222222"/>
                </a:solidFill>
                <a:latin typeface="Calibri" pitchFamily="34" charset="0"/>
                <a:ea typeface="Calibri" pitchFamily="34" charset="-122"/>
                <a:cs typeface="Calibri" pitchFamily="34" charset="-120"/>
              </a:rPr>
              <a:t>Better communication — fewer levels</a:t>
            </a:r>
            <a:endParaRPr lang="en-US" sz="1300" dirty="0"/>
          </a:p>
          <a:p>
            <a:pPr marL="342900" indent="-342900">
              <a:spcAft>
                <a:spcPts val="1000"/>
              </a:spcAft>
              <a:buSzPct val="100000"/>
              <a:buChar char="✓"/>
            </a:pPr>
            <a:r>
              <a:rPr lang="en-US" sz="1300" dirty="0">
                <a:solidFill>
                  <a:srgbClr val="222222"/>
                </a:solidFill>
                <a:latin typeface="Calibri" pitchFamily="34" charset="0"/>
                <a:ea typeface="Calibri" pitchFamily="34" charset="-122"/>
                <a:cs typeface="Calibri" pitchFamily="34" charset="-120"/>
              </a:rPr>
              <a:t>Encourages innovation from top management</a:t>
            </a:r>
            <a:endParaRPr lang="en-US" sz="1300" dirty="0"/>
          </a:p>
        </p:txBody>
      </p:sp>
      <p:sp>
        <p:nvSpPr>
          <p:cNvPr id="8" name="Shape 6"/>
          <p:cNvSpPr/>
          <p:nvPr/>
        </p:nvSpPr>
        <p:spPr>
          <a:xfrm>
            <a:off x="6355080" y="1508760"/>
            <a:ext cx="5349240" cy="502920"/>
          </a:xfrm>
          <a:prstGeom prst="roundRect">
            <a:avLst>
              <a:gd name="adj" fmla="val 14545"/>
            </a:avLst>
          </a:prstGeom>
          <a:solidFill>
            <a:srgbClr val="B23A48"/>
          </a:solidFill>
          <a:ln/>
        </p:spPr>
      </p:sp>
      <p:sp>
        <p:nvSpPr>
          <p:cNvPr id="9" name="Text 7"/>
          <p:cNvSpPr/>
          <p:nvPr/>
        </p:nvSpPr>
        <p:spPr>
          <a:xfrm>
            <a:off x="6355080" y="1508760"/>
            <a:ext cx="5349240" cy="50292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Disadvantages</a:t>
            </a:r>
            <a:endParaRPr lang="en-US" sz="1500" dirty="0"/>
          </a:p>
        </p:txBody>
      </p:sp>
      <p:sp>
        <p:nvSpPr>
          <p:cNvPr id="10" name="Text 8"/>
          <p:cNvSpPr/>
          <p:nvPr/>
        </p:nvSpPr>
        <p:spPr>
          <a:xfrm>
            <a:off x="6492240" y="2194560"/>
            <a:ext cx="5074920" cy="4206240"/>
          </a:xfrm>
          <a:prstGeom prst="rect">
            <a:avLst/>
          </a:prstGeom>
          <a:noFill/>
          <a:ln/>
        </p:spPr>
        <p:txBody>
          <a:bodyPr wrap="square" rtlCol="0" anchor="ctr"/>
          <a:lstStyle/>
          <a:p>
            <a:pPr marL="342900" indent="-342900">
              <a:spcAft>
                <a:spcPts val="1000"/>
              </a:spcAft>
              <a:buSzPct val="100000"/>
              <a:buChar char="✗"/>
            </a:pPr>
            <a:r>
              <a:rPr lang="en-US" sz="1300" dirty="0">
                <a:solidFill>
                  <a:srgbClr val="222222"/>
                </a:solidFill>
                <a:latin typeface="Calibri" pitchFamily="34" charset="0"/>
                <a:ea typeface="Calibri" pitchFamily="34" charset="-122"/>
                <a:cs typeface="Calibri" pitchFamily="34" charset="-120"/>
              </a:rPr>
              <a:t>Needs highly competent managers</a:t>
            </a:r>
            <a:endParaRPr lang="en-US" sz="1300" dirty="0"/>
          </a:p>
          <a:p>
            <a:pPr marL="342900" indent="-342900">
              <a:spcAft>
                <a:spcPts val="1000"/>
              </a:spcAft>
              <a:buSzPct val="100000"/>
              <a:buChar char="✗"/>
            </a:pPr>
            <a:r>
              <a:rPr lang="en-US" sz="1300" dirty="0">
                <a:solidFill>
                  <a:srgbClr val="222222"/>
                </a:solidFill>
                <a:latin typeface="Calibri" pitchFamily="34" charset="0"/>
                <a:ea typeface="Calibri" pitchFamily="34" charset="-122"/>
                <a:cs typeface="Calibri" pitchFamily="34" charset="-120"/>
              </a:rPr>
              <a:t>Works best for routine, repetitive work</a:t>
            </a:r>
            <a:endParaRPr lang="en-US" sz="1300" dirty="0"/>
          </a:p>
          <a:p>
            <a:pPr marL="342900" indent="-342900">
              <a:spcAft>
                <a:spcPts val="1000"/>
              </a:spcAft>
              <a:buSzPct val="100000"/>
              <a:buChar char="✗"/>
            </a:pPr>
            <a:r>
              <a:rPr lang="en-US" sz="1300" dirty="0">
                <a:solidFill>
                  <a:srgbClr val="222222"/>
                </a:solidFill>
                <a:latin typeface="Calibri" pitchFamily="34" charset="0"/>
                <a:ea typeface="Calibri" pitchFamily="34" charset="-122"/>
                <a:cs typeface="Calibri" pitchFamily="34" charset="-120"/>
              </a:rPr>
              <a:t>Needs educated, capable subordinates</a:t>
            </a:r>
            <a:endParaRPr lang="en-US" sz="1300" dirty="0"/>
          </a:p>
          <a:p>
            <a:pPr marL="342900" indent="-342900">
              <a:spcAft>
                <a:spcPts val="1000"/>
              </a:spcAft>
              <a:buSzPct val="100000"/>
              <a:buChar char="✗"/>
            </a:pPr>
            <a:r>
              <a:rPr lang="en-US" sz="1300" dirty="0">
                <a:solidFill>
                  <a:srgbClr val="222222"/>
                </a:solidFill>
                <a:latin typeface="Calibri" pitchFamily="34" charset="0"/>
                <a:ea typeface="Calibri" pitchFamily="34" charset="-122"/>
                <a:cs typeface="Calibri" pitchFamily="34" charset="-120"/>
              </a:rPr>
              <a:t>Requires clear plans and policies</a:t>
            </a:r>
            <a:endParaRPr lang="en-US" sz="1300" dirty="0"/>
          </a:p>
        </p:txBody>
      </p:sp>
      <p:pic>
        <p:nvPicPr>
          <p:cNvPr id="11" name="Picture 10" descr="C:\Users\madam\AppData\Local\Temp\UPSA NEW LOGO.png"/>
          <p:cNvPicPr/>
          <p:nvPr/>
        </p:nvPicPr>
        <p:blipFill>
          <a:blip r:embed="rId3" cstate="print"/>
          <a:srcRect/>
          <a:stretch>
            <a:fillRect/>
          </a:stretch>
        </p:blipFill>
        <p:spPr bwMode="auto">
          <a:xfrm>
            <a:off x="6247051" y="153749"/>
            <a:ext cx="5729162" cy="1126412"/>
          </a:xfrm>
          <a:prstGeom prst="rect">
            <a:avLst/>
          </a:prstGeom>
          <a:noFill/>
          <a:ln w="9525">
            <a:noFill/>
            <a:miter lim="800000"/>
            <a:headEnd/>
            <a:tailEnd/>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065A82"/>
        </a:solidFill>
        <a:effectLst/>
      </p:bgPr>
    </p:bg>
    <p:spTree>
      <p:nvGrpSpPr>
        <p:cNvPr id="1" name=""/>
        <p:cNvGrpSpPr/>
        <p:nvPr/>
      </p:nvGrpSpPr>
      <p:grpSpPr>
        <a:xfrm>
          <a:off x="0" y="0"/>
          <a:ext cx="0" cy="0"/>
          <a:chOff x="0" y="0"/>
          <a:chExt cx="0" cy="0"/>
        </a:xfrm>
      </p:grpSpPr>
      <p:sp>
        <p:nvSpPr>
          <p:cNvPr id="2" name="Text 0"/>
          <p:cNvSpPr/>
          <p:nvPr/>
        </p:nvSpPr>
        <p:spPr>
          <a:xfrm>
            <a:off x="822960" y="2286000"/>
            <a:ext cx="3657600" cy="1371600"/>
          </a:xfrm>
          <a:prstGeom prst="rect">
            <a:avLst/>
          </a:prstGeom>
          <a:noFill/>
          <a:ln/>
        </p:spPr>
        <p:txBody>
          <a:bodyPr wrap="square" rtlCol="0" anchor="ctr"/>
          <a:lstStyle/>
          <a:p>
            <a:pPr marL="0" indent="0">
              <a:buNone/>
            </a:pPr>
            <a:r>
              <a:rPr lang="en-US" sz="7200" b="1" dirty="0">
                <a:solidFill>
                  <a:srgbClr val="3D85A6"/>
                </a:solidFill>
                <a:latin typeface="Cambria" pitchFamily="34" charset="0"/>
                <a:ea typeface="Cambria" pitchFamily="34" charset="-122"/>
                <a:cs typeface="Cambria" pitchFamily="34" charset="-120"/>
              </a:rPr>
              <a:t>04</a:t>
            </a:r>
            <a:endParaRPr lang="en-US" sz="7200" dirty="0"/>
          </a:p>
        </p:txBody>
      </p:sp>
      <p:sp>
        <p:nvSpPr>
          <p:cNvPr id="3" name="Text 1"/>
          <p:cNvSpPr/>
          <p:nvPr/>
        </p:nvSpPr>
        <p:spPr>
          <a:xfrm>
            <a:off x="822960" y="3383280"/>
            <a:ext cx="9601200" cy="1097280"/>
          </a:xfrm>
          <a:prstGeom prst="rect">
            <a:avLst/>
          </a:prstGeom>
          <a:noFill/>
          <a:ln/>
        </p:spPr>
        <p:txBody>
          <a:bodyPr wrap="square" rtlCol="0" anchor="ctr"/>
          <a:lstStyle/>
          <a:p>
            <a:pPr marL="0" indent="0">
              <a:buNone/>
            </a:pPr>
            <a:r>
              <a:rPr lang="en-US" sz="3800" b="1" dirty="0">
                <a:solidFill>
                  <a:srgbClr val="FFFFFF"/>
                </a:solidFill>
                <a:latin typeface="Cambria" pitchFamily="34" charset="0"/>
                <a:ea typeface="Cambria" pitchFamily="34" charset="-122"/>
                <a:cs typeface="Cambria" pitchFamily="34" charset="-120"/>
              </a:rPr>
              <a:t>Principles of Organizing</a:t>
            </a:r>
            <a:endParaRPr lang="en-US" sz="3800" dirty="0"/>
          </a:p>
        </p:txBody>
      </p:sp>
      <p:sp>
        <p:nvSpPr>
          <p:cNvPr id="4" name="Shape 2"/>
          <p:cNvSpPr/>
          <p:nvPr/>
        </p:nvSpPr>
        <p:spPr>
          <a:xfrm>
            <a:off x="0" y="0"/>
            <a:ext cx="164592" cy="6858000"/>
          </a:xfrm>
          <a:prstGeom prst="rect">
            <a:avLst/>
          </a:prstGeom>
          <a:solidFill>
            <a:srgbClr val="1C7293"/>
          </a:solidFill>
          <a:ln/>
        </p:spPr>
      </p:sp>
      <p:pic>
        <p:nvPicPr>
          <p:cNvPr id="5" name="Picture 4" descr="C:\Users\madam\AppData\Local\Temp\UPSA NEW LOGO.png"/>
          <p:cNvPicPr/>
          <p:nvPr/>
        </p:nvPicPr>
        <p:blipFill>
          <a:blip r:embed="rId3" cstate="print"/>
          <a:srcRect/>
          <a:stretch>
            <a:fillRect/>
          </a:stretch>
        </p:blipFill>
        <p:spPr bwMode="auto">
          <a:xfrm>
            <a:off x="6465536" y="331774"/>
            <a:ext cx="5203179" cy="1302818"/>
          </a:xfrm>
          <a:prstGeom prst="rect">
            <a:avLst/>
          </a:prstGeom>
          <a:noFill/>
          <a:ln w="9525">
            <a:noFill/>
            <a:miter lim="800000"/>
            <a:headEnd/>
            <a:tailEnd/>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PRINCIPLES OF ORGANIZING</a:t>
            </a:r>
            <a:endParaRPr lang="en-US" sz="1200" dirty="0"/>
          </a:p>
        </p:txBody>
      </p:sp>
      <p:sp>
        <p:nvSpPr>
          <p:cNvPr id="3" name="Text 1"/>
          <p:cNvSpPr/>
          <p:nvPr/>
        </p:nvSpPr>
        <p:spPr>
          <a:xfrm>
            <a:off x="548640" y="594360"/>
            <a:ext cx="10972800" cy="685800"/>
          </a:xfrm>
          <a:prstGeom prst="rect">
            <a:avLst/>
          </a:prstGeom>
          <a:noFill/>
          <a:ln/>
        </p:spPr>
        <p:txBody>
          <a:bodyPr wrap="square" rtlCol="0" anchor="ctr"/>
          <a:lstStyle/>
          <a:p>
            <a:pPr marL="0" indent="0">
              <a:buNone/>
            </a:pPr>
            <a:r>
              <a:rPr lang="en-US" sz="2800" b="1" dirty="0">
                <a:solidFill>
                  <a:srgbClr val="21295C"/>
                </a:solidFill>
                <a:latin typeface="Cambria" pitchFamily="34" charset="0"/>
                <a:ea typeface="Cambria" pitchFamily="34" charset="-122"/>
                <a:cs typeface="Cambria" pitchFamily="34" charset="-120"/>
              </a:rPr>
              <a:t>Principles 1–8</a:t>
            </a:r>
            <a:endParaRPr lang="en-US" sz="2800" dirty="0"/>
          </a:p>
        </p:txBody>
      </p:sp>
      <p:sp>
        <p:nvSpPr>
          <p:cNvPr id="4" name="Text 2"/>
          <p:cNvSpPr/>
          <p:nvPr/>
        </p:nvSpPr>
        <p:spPr>
          <a:xfrm>
            <a:off x="548640" y="6473952"/>
            <a:ext cx="5486400" cy="274320"/>
          </a:xfrm>
          <a:prstGeom prst="rect">
            <a:avLst/>
          </a:prstGeom>
          <a:noFill/>
          <a:ln/>
        </p:spPr>
        <p:txBody>
          <a:bodyPr wrap="square" rtlCol="0" anchor="ctr"/>
          <a:lstStyle/>
          <a:p>
            <a:pPr marL="0" indent="0">
              <a:buNone/>
            </a:pPr>
            <a:r>
              <a:rPr lang="en-US" sz="900" dirty="0">
                <a:solidFill>
                  <a:srgbClr val="AAAAAA"/>
                </a:solidFill>
                <a:latin typeface="Calibri" pitchFamily="34" charset="0"/>
                <a:ea typeface="Calibri" pitchFamily="34" charset="-122"/>
                <a:cs typeface="Calibri" pitchFamily="34" charset="-120"/>
              </a:rPr>
              <a:t>Organizing — Study Guide</a:t>
            </a:r>
            <a:endParaRPr lang="en-US" sz="900" dirty="0"/>
          </a:p>
        </p:txBody>
      </p:sp>
      <p:sp>
        <p:nvSpPr>
          <p:cNvPr id="5" name="Shape 3"/>
          <p:cNvSpPr/>
          <p:nvPr/>
        </p:nvSpPr>
        <p:spPr>
          <a:xfrm>
            <a:off x="548640" y="1463040"/>
            <a:ext cx="5394960" cy="1033272"/>
          </a:xfrm>
          <a:prstGeom prst="roundRect">
            <a:avLst>
              <a:gd name="adj" fmla="val 5310"/>
            </a:avLst>
          </a:prstGeom>
          <a:solidFill>
            <a:srgbClr val="EAF3F7"/>
          </a:solidFill>
          <a:ln/>
        </p:spPr>
      </p:sp>
      <p:sp>
        <p:nvSpPr>
          <p:cNvPr id="6" name="Text 4"/>
          <p:cNvSpPr/>
          <p:nvPr/>
        </p:nvSpPr>
        <p:spPr>
          <a:xfrm>
            <a:off x="731520" y="1517904"/>
            <a:ext cx="5029200" cy="292608"/>
          </a:xfrm>
          <a:prstGeom prst="rect">
            <a:avLst/>
          </a:prstGeom>
          <a:noFill/>
          <a:ln/>
        </p:spPr>
        <p:txBody>
          <a:bodyPr wrap="square" rtlCol="0" anchor="ctr"/>
          <a:lstStyle/>
          <a:p>
            <a:pPr marL="0" indent="0">
              <a:buNone/>
            </a:pPr>
            <a:r>
              <a:rPr lang="en-US" sz="1300" b="1" dirty="0">
                <a:solidFill>
                  <a:srgbClr val="065A82"/>
                </a:solidFill>
                <a:latin typeface="Calibri" pitchFamily="34" charset="0"/>
                <a:ea typeface="Calibri" pitchFamily="34" charset="-122"/>
                <a:cs typeface="Calibri" pitchFamily="34" charset="-120"/>
              </a:rPr>
              <a:t>1. Unity of Objectives</a:t>
            </a:r>
            <a:endParaRPr lang="en-US" sz="1300" dirty="0"/>
          </a:p>
        </p:txBody>
      </p:sp>
      <p:sp>
        <p:nvSpPr>
          <p:cNvPr id="7" name="Text 5"/>
          <p:cNvSpPr/>
          <p:nvPr/>
        </p:nvSpPr>
        <p:spPr>
          <a:xfrm>
            <a:off x="731520" y="1810512"/>
            <a:ext cx="5029200" cy="667512"/>
          </a:xfrm>
          <a:prstGeom prst="rect">
            <a:avLst/>
          </a:prstGeom>
          <a:noFill/>
          <a:ln/>
        </p:spPr>
        <p:txBody>
          <a:bodyPr wrap="square" rtlCol="0" anchor="t"/>
          <a:lstStyle/>
          <a:p>
            <a:pPr marL="0" indent="0">
              <a:buNone/>
            </a:pPr>
            <a:r>
              <a:rPr lang="en-US" sz="1100" dirty="0">
                <a:solidFill>
                  <a:srgbClr val="222222"/>
                </a:solidFill>
                <a:latin typeface="Calibri" pitchFamily="34" charset="0"/>
                <a:ea typeface="Calibri" pitchFamily="34" charset="-122"/>
                <a:cs typeface="Calibri" pitchFamily="34" charset="-120"/>
              </a:rPr>
              <a:t>All activities aim toward shared, clearly understood goals.</a:t>
            </a:r>
            <a:endParaRPr lang="en-US" sz="1100" dirty="0"/>
          </a:p>
        </p:txBody>
      </p:sp>
      <p:sp>
        <p:nvSpPr>
          <p:cNvPr id="8" name="Shape 6"/>
          <p:cNvSpPr/>
          <p:nvPr/>
        </p:nvSpPr>
        <p:spPr>
          <a:xfrm>
            <a:off x="548640" y="2633472"/>
            <a:ext cx="5394960" cy="1033272"/>
          </a:xfrm>
          <a:prstGeom prst="roundRect">
            <a:avLst>
              <a:gd name="adj" fmla="val 5310"/>
            </a:avLst>
          </a:prstGeom>
          <a:solidFill>
            <a:srgbClr val="EAF3F7"/>
          </a:solidFill>
          <a:ln/>
        </p:spPr>
      </p:sp>
      <p:sp>
        <p:nvSpPr>
          <p:cNvPr id="9" name="Text 7"/>
          <p:cNvSpPr/>
          <p:nvPr/>
        </p:nvSpPr>
        <p:spPr>
          <a:xfrm>
            <a:off x="731520" y="2688336"/>
            <a:ext cx="5029200" cy="292608"/>
          </a:xfrm>
          <a:prstGeom prst="rect">
            <a:avLst/>
          </a:prstGeom>
          <a:noFill/>
          <a:ln/>
        </p:spPr>
        <p:txBody>
          <a:bodyPr wrap="square" rtlCol="0" anchor="ctr"/>
          <a:lstStyle/>
          <a:p>
            <a:pPr marL="0" indent="0">
              <a:buNone/>
            </a:pPr>
            <a:r>
              <a:rPr lang="en-US" sz="1300" b="1" dirty="0">
                <a:solidFill>
                  <a:srgbClr val="065A82"/>
                </a:solidFill>
                <a:latin typeface="Calibri" pitchFamily="34" charset="0"/>
                <a:ea typeface="Calibri" pitchFamily="34" charset="-122"/>
                <a:cs typeface="Calibri" pitchFamily="34" charset="-120"/>
              </a:rPr>
              <a:t>2. Organizational Efficiency</a:t>
            </a:r>
            <a:endParaRPr lang="en-US" sz="1300" dirty="0"/>
          </a:p>
        </p:txBody>
      </p:sp>
      <p:sp>
        <p:nvSpPr>
          <p:cNvPr id="10" name="Text 8"/>
          <p:cNvSpPr/>
          <p:nvPr/>
        </p:nvSpPr>
        <p:spPr>
          <a:xfrm>
            <a:off x="731520" y="2980944"/>
            <a:ext cx="5029200" cy="667512"/>
          </a:xfrm>
          <a:prstGeom prst="rect">
            <a:avLst/>
          </a:prstGeom>
          <a:noFill/>
          <a:ln/>
        </p:spPr>
        <p:txBody>
          <a:bodyPr wrap="square" rtlCol="0" anchor="t"/>
          <a:lstStyle/>
          <a:p>
            <a:pPr marL="0" indent="0">
              <a:buNone/>
            </a:pPr>
            <a:r>
              <a:rPr lang="en-US" sz="1100" dirty="0">
                <a:solidFill>
                  <a:srgbClr val="222222"/>
                </a:solidFill>
                <a:latin typeface="Calibri" pitchFamily="34" charset="0"/>
                <a:ea typeface="Calibri" pitchFamily="34" charset="-122"/>
                <a:cs typeface="Calibri" pitchFamily="34" charset="-120"/>
              </a:rPr>
              <a:t>Achieve goals using minimum resources for maximum output.</a:t>
            </a:r>
            <a:endParaRPr lang="en-US" sz="1100" dirty="0"/>
          </a:p>
        </p:txBody>
      </p:sp>
      <p:sp>
        <p:nvSpPr>
          <p:cNvPr id="11" name="Shape 9"/>
          <p:cNvSpPr/>
          <p:nvPr/>
        </p:nvSpPr>
        <p:spPr>
          <a:xfrm>
            <a:off x="548640" y="3803904"/>
            <a:ext cx="5394960" cy="1033272"/>
          </a:xfrm>
          <a:prstGeom prst="roundRect">
            <a:avLst>
              <a:gd name="adj" fmla="val 5310"/>
            </a:avLst>
          </a:prstGeom>
          <a:solidFill>
            <a:srgbClr val="EAF3F7"/>
          </a:solidFill>
          <a:ln/>
        </p:spPr>
      </p:sp>
      <p:sp>
        <p:nvSpPr>
          <p:cNvPr id="12" name="Text 10"/>
          <p:cNvSpPr/>
          <p:nvPr/>
        </p:nvSpPr>
        <p:spPr>
          <a:xfrm>
            <a:off x="731520" y="3858768"/>
            <a:ext cx="5029200" cy="292608"/>
          </a:xfrm>
          <a:prstGeom prst="rect">
            <a:avLst/>
          </a:prstGeom>
          <a:noFill/>
          <a:ln/>
        </p:spPr>
        <p:txBody>
          <a:bodyPr wrap="square" rtlCol="0" anchor="ctr"/>
          <a:lstStyle/>
          <a:p>
            <a:pPr marL="0" indent="0">
              <a:buNone/>
            </a:pPr>
            <a:r>
              <a:rPr lang="en-US" sz="1300" b="1" dirty="0">
                <a:solidFill>
                  <a:srgbClr val="065A82"/>
                </a:solidFill>
                <a:latin typeface="Calibri" pitchFamily="34" charset="0"/>
                <a:ea typeface="Calibri" pitchFamily="34" charset="-122"/>
                <a:cs typeface="Calibri" pitchFamily="34" charset="-120"/>
              </a:rPr>
              <a:t>3. Division of Labour</a:t>
            </a:r>
            <a:endParaRPr lang="en-US" sz="1300" dirty="0"/>
          </a:p>
        </p:txBody>
      </p:sp>
      <p:sp>
        <p:nvSpPr>
          <p:cNvPr id="13" name="Text 11"/>
          <p:cNvSpPr/>
          <p:nvPr/>
        </p:nvSpPr>
        <p:spPr>
          <a:xfrm>
            <a:off x="731520" y="4151376"/>
            <a:ext cx="5029200" cy="667512"/>
          </a:xfrm>
          <a:prstGeom prst="rect">
            <a:avLst/>
          </a:prstGeom>
          <a:noFill/>
          <a:ln/>
        </p:spPr>
        <p:txBody>
          <a:bodyPr wrap="square" rtlCol="0" anchor="t"/>
          <a:lstStyle/>
          <a:p>
            <a:pPr marL="0" indent="0">
              <a:buNone/>
            </a:pPr>
            <a:r>
              <a:rPr lang="en-US" sz="1100" dirty="0">
                <a:solidFill>
                  <a:srgbClr val="222222"/>
                </a:solidFill>
                <a:latin typeface="Calibri" pitchFamily="34" charset="0"/>
                <a:ea typeface="Calibri" pitchFamily="34" charset="-122"/>
                <a:cs typeface="Calibri" pitchFamily="34" charset="-120"/>
              </a:rPr>
              <a:t>Break the main task into smaller units of work.</a:t>
            </a:r>
            <a:endParaRPr lang="en-US" sz="1100" dirty="0"/>
          </a:p>
        </p:txBody>
      </p:sp>
      <p:sp>
        <p:nvSpPr>
          <p:cNvPr id="14" name="Shape 12"/>
          <p:cNvSpPr/>
          <p:nvPr/>
        </p:nvSpPr>
        <p:spPr>
          <a:xfrm>
            <a:off x="548640" y="4974336"/>
            <a:ext cx="5394960" cy="1033272"/>
          </a:xfrm>
          <a:prstGeom prst="roundRect">
            <a:avLst>
              <a:gd name="adj" fmla="val 5310"/>
            </a:avLst>
          </a:prstGeom>
          <a:solidFill>
            <a:srgbClr val="EAF3F7"/>
          </a:solidFill>
          <a:ln/>
        </p:spPr>
      </p:sp>
      <p:sp>
        <p:nvSpPr>
          <p:cNvPr id="15" name="Text 13"/>
          <p:cNvSpPr/>
          <p:nvPr/>
        </p:nvSpPr>
        <p:spPr>
          <a:xfrm>
            <a:off x="731520" y="5029200"/>
            <a:ext cx="5029200" cy="292608"/>
          </a:xfrm>
          <a:prstGeom prst="rect">
            <a:avLst/>
          </a:prstGeom>
          <a:noFill/>
          <a:ln/>
        </p:spPr>
        <p:txBody>
          <a:bodyPr wrap="square" rtlCol="0" anchor="ctr"/>
          <a:lstStyle/>
          <a:p>
            <a:pPr marL="0" indent="0">
              <a:buNone/>
            </a:pPr>
            <a:r>
              <a:rPr lang="en-US" sz="1300" b="1" dirty="0">
                <a:solidFill>
                  <a:srgbClr val="065A82"/>
                </a:solidFill>
                <a:latin typeface="Calibri" pitchFamily="34" charset="0"/>
                <a:ea typeface="Calibri" pitchFamily="34" charset="-122"/>
                <a:cs typeface="Calibri" pitchFamily="34" charset="-120"/>
              </a:rPr>
              <a:t>4. Authority-Responsibility</a:t>
            </a:r>
            <a:endParaRPr lang="en-US" sz="1300" dirty="0"/>
          </a:p>
        </p:txBody>
      </p:sp>
      <p:sp>
        <p:nvSpPr>
          <p:cNvPr id="16" name="Text 14"/>
          <p:cNvSpPr/>
          <p:nvPr/>
        </p:nvSpPr>
        <p:spPr>
          <a:xfrm>
            <a:off x="731520" y="5321808"/>
            <a:ext cx="5029200" cy="667512"/>
          </a:xfrm>
          <a:prstGeom prst="rect">
            <a:avLst/>
          </a:prstGeom>
          <a:noFill/>
          <a:ln/>
        </p:spPr>
        <p:txBody>
          <a:bodyPr wrap="square" rtlCol="0" anchor="t"/>
          <a:lstStyle/>
          <a:p>
            <a:pPr marL="0" indent="0">
              <a:buNone/>
            </a:pPr>
            <a:r>
              <a:rPr lang="en-US" sz="1100" dirty="0">
                <a:solidFill>
                  <a:srgbClr val="222222"/>
                </a:solidFill>
                <a:latin typeface="Calibri" pitchFamily="34" charset="0"/>
                <a:ea typeface="Calibri" pitchFamily="34" charset="-122"/>
                <a:cs typeface="Calibri" pitchFamily="34" charset="-120"/>
              </a:rPr>
              <a:t>Authority and responsibility must go hand in hand.</a:t>
            </a:r>
            <a:endParaRPr lang="en-US" sz="1100" dirty="0"/>
          </a:p>
        </p:txBody>
      </p:sp>
      <p:sp>
        <p:nvSpPr>
          <p:cNvPr id="17" name="Shape 15"/>
          <p:cNvSpPr/>
          <p:nvPr/>
        </p:nvSpPr>
        <p:spPr>
          <a:xfrm>
            <a:off x="6309360" y="1463040"/>
            <a:ext cx="5394960" cy="1033272"/>
          </a:xfrm>
          <a:prstGeom prst="roundRect">
            <a:avLst>
              <a:gd name="adj" fmla="val 5310"/>
            </a:avLst>
          </a:prstGeom>
          <a:solidFill>
            <a:srgbClr val="EAF3F7"/>
          </a:solidFill>
          <a:ln/>
        </p:spPr>
      </p:sp>
      <p:sp>
        <p:nvSpPr>
          <p:cNvPr id="18" name="Text 16"/>
          <p:cNvSpPr/>
          <p:nvPr/>
        </p:nvSpPr>
        <p:spPr>
          <a:xfrm>
            <a:off x="6492240" y="1517904"/>
            <a:ext cx="5029200" cy="292608"/>
          </a:xfrm>
          <a:prstGeom prst="rect">
            <a:avLst/>
          </a:prstGeom>
          <a:noFill/>
          <a:ln/>
        </p:spPr>
        <p:txBody>
          <a:bodyPr wrap="square" rtlCol="0" anchor="ctr"/>
          <a:lstStyle/>
          <a:p>
            <a:pPr marL="0" indent="0">
              <a:buNone/>
            </a:pPr>
            <a:r>
              <a:rPr lang="en-US" sz="1300" b="1" dirty="0">
                <a:solidFill>
                  <a:srgbClr val="065A82"/>
                </a:solidFill>
                <a:latin typeface="Calibri" pitchFamily="34" charset="0"/>
                <a:ea typeface="Calibri" pitchFamily="34" charset="-122"/>
                <a:cs typeface="Calibri" pitchFamily="34" charset="-120"/>
              </a:rPr>
              <a:t>5. Delegation</a:t>
            </a:r>
            <a:endParaRPr lang="en-US" sz="1300" dirty="0"/>
          </a:p>
        </p:txBody>
      </p:sp>
      <p:sp>
        <p:nvSpPr>
          <p:cNvPr id="19" name="Text 17"/>
          <p:cNvSpPr/>
          <p:nvPr/>
        </p:nvSpPr>
        <p:spPr>
          <a:xfrm>
            <a:off x="6492240" y="1810512"/>
            <a:ext cx="5029200" cy="667512"/>
          </a:xfrm>
          <a:prstGeom prst="rect">
            <a:avLst/>
          </a:prstGeom>
          <a:noFill/>
          <a:ln/>
        </p:spPr>
        <p:txBody>
          <a:bodyPr wrap="square" rtlCol="0" anchor="t"/>
          <a:lstStyle/>
          <a:p>
            <a:pPr marL="0" indent="0">
              <a:buNone/>
            </a:pPr>
            <a:r>
              <a:rPr lang="en-US" sz="1100" dirty="0">
                <a:solidFill>
                  <a:srgbClr val="222222"/>
                </a:solidFill>
                <a:latin typeface="Calibri" pitchFamily="34" charset="0"/>
                <a:ea typeface="Calibri" pitchFamily="34" charset="-122"/>
                <a:cs typeface="Calibri" pitchFamily="34" charset="-120"/>
              </a:rPr>
              <a:t>Assign parts of the workload — plus the authority to do it — to subordinates.</a:t>
            </a:r>
            <a:endParaRPr lang="en-US" sz="1100" dirty="0"/>
          </a:p>
        </p:txBody>
      </p:sp>
      <p:sp>
        <p:nvSpPr>
          <p:cNvPr id="20" name="Shape 18"/>
          <p:cNvSpPr/>
          <p:nvPr/>
        </p:nvSpPr>
        <p:spPr>
          <a:xfrm>
            <a:off x="6309360" y="2633472"/>
            <a:ext cx="5394960" cy="1033272"/>
          </a:xfrm>
          <a:prstGeom prst="roundRect">
            <a:avLst>
              <a:gd name="adj" fmla="val 5310"/>
            </a:avLst>
          </a:prstGeom>
          <a:solidFill>
            <a:srgbClr val="EAF3F7"/>
          </a:solidFill>
          <a:ln/>
        </p:spPr>
      </p:sp>
      <p:sp>
        <p:nvSpPr>
          <p:cNvPr id="21" name="Text 19"/>
          <p:cNvSpPr/>
          <p:nvPr/>
        </p:nvSpPr>
        <p:spPr>
          <a:xfrm>
            <a:off x="6492240" y="2688336"/>
            <a:ext cx="5029200" cy="292608"/>
          </a:xfrm>
          <a:prstGeom prst="rect">
            <a:avLst/>
          </a:prstGeom>
          <a:noFill/>
          <a:ln/>
        </p:spPr>
        <p:txBody>
          <a:bodyPr wrap="square" rtlCol="0" anchor="ctr"/>
          <a:lstStyle/>
          <a:p>
            <a:pPr marL="0" indent="0">
              <a:buNone/>
            </a:pPr>
            <a:r>
              <a:rPr lang="en-US" sz="1300" b="1" dirty="0">
                <a:solidFill>
                  <a:srgbClr val="065A82"/>
                </a:solidFill>
                <a:latin typeface="Calibri" pitchFamily="34" charset="0"/>
                <a:ea typeface="Calibri" pitchFamily="34" charset="-122"/>
                <a:cs typeface="Calibri" pitchFamily="34" charset="-120"/>
              </a:rPr>
              <a:t>6. Scalar Chain</a:t>
            </a:r>
            <a:endParaRPr lang="en-US" sz="1300" dirty="0"/>
          </a:p>
        </p:txBody>
      </p:sp>
      <p:sp>
        <p:nvSpPr>
          <p:cNvPr id="22" name="Text 20"/>
          <p:cNvSpPr/>
          <p:nvPr/>
        </p:nvSpPr>
        <p:spPr>
          <a:xfrm>
            <a:off x="6492240" y="2980944"/>
            <a:ext cx="5029200" cy="667512"/>
          </a:xfrm>
          <a:prstGeom prst="rect">
            <a:avLst/>
          </a:prstGeom>
          <a:noFill/>
          <a:ln/>
        </p:spPr>
        <p:txBody>
          <a:bodyPr wrap="square" rtlCol="0" anchor="t"/>
          <a:lstStyle/>
          <a:p>
            <a:pPr marL="0" indent="0">
              <a:buNone/>
            </a:pPr>
            <a:r>
              <a:rPr lang="en-US" sz="1100" dirty="0">
                <a:solidFill>
                  <a:srgbClr val="222222"/>
                </a:solidFill>
                <a:latin typeface="Calibri" pitchFamily="34" charset="0"/>
                <a:ea typeface="Calibri" pitchFamily="34" charset="-122"/>
                <a:cs typeface="Calibri" pitchFamily="34" charset="-120"/>
              </a:rPr>
              <a:t>Authority flows top to bottom; responsibility flows bottom to top.</a:t>
            </a:r>
            <a:endParaRPr lang="en-US" sz="1100" dirty="0"/>
          </a:p>
        </p:txBody>
      </p:sp>
      <p:sp>
        <p:nvSpPr>
          <p:cNvPr id="23" name="Shape 21"/>
          <p:cNvSpPr/>
          <p:nvPr/>
        </p:nvSpPr>
        <p:spPr>
          <a:xfrm>
            <a:off x="6309360" y="3803904"/>
            <a:ext cx="5394960" cy="1033272"/>
          </a:xfrm>
          <a:prstGeom prst="roundRect">
            <a:avLst>
              <a:gd name="adj" fmla="val 5310"/>
            </a:avLst>
          </a:prstGeom>
          <a:solidFill>
            <a:srgbClr val="EAF3F7"/>
          </a:solidFill>
          <a:ln/>
        </p:spPr>
      </p:sp>
      <p:sp>
        <p:nvSpPr>
          <p:cNvPr id="24" name="Text 22"/>
          <p:cNvSpPr/>
          <p:nvPr/>
        </p:nvSpPr>
        <p:spPr>
          <a:xfrm>
            <a:off x="6492240" y="3858768"/>
            <a:ext cx="5029200" cy="292608"/>
          </a:xfrm>
          <a:prstGeom prst="rect">
            <a:avLst/>
          </a:prstGeom>
          <a:noFill/>
          <a:ln/>
        </p:spPr>
        <p:txBody>
          <a:bodyPr wrap="square" rtlCol="0" anchor="ctr"/>
          <a:lstStyle/>
          <a:p>
            <a:pPr marL="0" indent="0">
              <a:buNone/>
            </a:pPr>
            <a:r>
              <a:rPr lang="en-US" sz="1300" b="1" dirty="0">
                <a:solidFill>
                  <a:srgbClr val="065A82"/>
                </a:solidFill>
                <a:latin typeface="Calibri" pitchFamily="34" charset="0"/>
                <a:ea typeface="Calibri" pitchFamily="34" charset="-122"/>
                <a:cs typeface="Calibri" pitchFamily="34" charset="-120"/>
              </a:rPr>
              <a:t>7. Span of Control</a:t>
            </a:r>
            <a:endParaRPr lang="en-US" sz="1300" dirty="0"/>
          </a:p>
        </p:txBody>
      </p:sp>
      <p:sp>
        <p:nvSpPr>
          <p:cNvPr id="25" name="Text 23"/>
          <p:cNvSpPr/>
          <p:nvPr/>
        </p:nvSpPr>
        <p:spPr>
          <a:xfrm>
            <a:off x="6492240" y="4151376"/>
            <a:ext cx="5029200" cy="667512"/>
          </a:xfrm>
          <a:prstGeom prst="rect">
            <a:avLst/>
          </a:prstGeom>
          <a:noFill/>
          <a:ln/>
        </p:spPr>
        <p:txBody>
          <a:bodyPr wrap="square" rtlCol="0" anchor="t"/>
          <a:lstStyle/>
          <a:p>
            <a:pPr marL="0" indent="0">
              <a:buNone/>
            </a:pPr>
            <a:r>
              <a:rPr lang="en-US" sz="1100" dirty="0">
                <a:solidFill>
                  <a:srgbClr val="222222"/>
                </a:solidFill>
                <a:latin typeface="Calibri" pitchFamily="34" charset="0"/>
                <a:ea typeface="Calibri" pitchFamily="34" charset="-122"/>
                <a:cs typeface="Calibri" pitchFamily="34" charset="-120"/>
              </a:rPr>
              <a:t>Limit how many workers one manager can effectively supervise.</a:t>
            </a:r>
            <a:endParaRPr lang="en-US" sz="1100" dirty="0"/>
          </a:p>
        </p:txBody>
      </p:sp>
      <p:sp>
        <p:nvSpPr>
          <p:cNvPr id="26" name="Shape 24"/>
          <p:cNvSpPr/>
          <p:nvPr/>
        </p:nvSpPr>
        <p:spPr>
          <a:xfrm>
            <a:off x="6309360" y="4974336"/>
            <a:ext cx="5394960" cy="1033272"/>
          </a:xfrm>
          <a:prstGeom prst="roundRect">
            <a:avLst>
              <a:gd name="adj" fmla="val 5310"/>
            </a:avLst>
          </a:prstGeom>
          <a:solidFill>
            <a:srgbClr val="EAF3F7"/>
          </a:solidFill>
          <a:ln/>
        </p:spPr>
      </p:sp>
      <p:sp>
        <p:nvSpPr>
          <p:cNvPr id="27" name="Text 25"/>
          <p:cNvSpPr/>
          <p:nvPr/>
        </p:nvSpPr>
        <p:spPr>
          <a:xfrm>
            <a:off x="6492240" y="5029200"/>
            <a:ext cx="5029200" cy="292608"/>
          </a:xfrm>
          <a:prstGeom prst="rect">
            <a:avLst/>
          </a:prstGeom>
          <a:noFill/>
          <a:ln/>
        </p:spPr>
        <p:txBody>
          <a:bodyPr wrap="square" rtlCol="0" anchor="ctr"/>
          <a:lstStyle/>
          <a:p>
            <a:pPr marL="0" indent="0">
              <a:buNone/>
            </a:pPr>
            <a:r>
              <a:rPr lang="en-US" sz="1300" b="1" dirty="0">
                <a:solidFill>
                  <a:srgbClr val="065A82"/>
                </a:solidFill>
                <a:latin typeface="Calibri" pitchFamily="34" charset="0"/>
                <a:ea typeface="Calibri" pitchFamily="34" charset="-122"/>
                <a:cs typeface="Calibri" pitchFamily="34" charset="-120"/>
              </a:rPr>
              <a:t>8. Unity of Command</a:t>
            </a:r>
            <a:endParaRPr lang="en-US" sz="1300" dirty="0"/>
          </a:p>
        </p:txBody>
      </p:sp>
      <p:sp>
        <p:nvSpPr>
          <p:cNvPr id="28" name="Text 26"/>
          <p:cNvSpPr/>
          <p:nvPr/>
        </p:nvSpPr>
        <p:spPr>
          <a:xfrm>
            <a:off x="6492240" y="5321808"/>
            <a:ext cx="5029200" cy="667512"/>
          </a:xfrm>
          <a:prstGeom prst="rect">
            <a:avLst/>
          </a:prstGeom>
          <a:noFill/>
          <a:ln/>
        </p:spPr>
        <p:txBody>
          <a:bodyPr wrap="square" rtlCol="0" anchor="t"/>
          <a:lstStyle/>
          <a:p>
            <a:pPr marL="0" indent="0">
              <a:buNone/>
            </a:pPr>
            <a:r>
              <a:rPr lang="en-US" sz="1100" dirty="0">
                <a:solidFill>
                  <a:srgbClr val="222222"/>
                </a:solidFill>
                <a:latin typeface="Calibri" pitchFamily="34" charset="0"/>
                <a:ea typeface="Calibri" pitchFamily="34" charset="-122"/>
                <a:cs typeface="Calibri" pitchFamily="34" charset="-120"/>
              </a:rPr>
              <a:t>Each employee should report to only one boss.</a:t>
            </a:r>
            <a:endParaRPr lang="en-US" sz="1100" dirty="0"/>
          </a:p>
        </p:txBody>
      </p:sp>
      <p:pic>
        <p:nvPicPr>
          <p:cNvPr id="29" name="Picture 28" descr="C:\Users\madam\AppData\Local\Temp\UPSA NEW LOGO.png"/>
          <p:cNvPicPr/>
          <p:nvPr/>
        </p:nvPicPr>
        <p:blipFill>
          <a:blip r:embed="rId3" cstate="print"/>
          <a:srcRect/>
          <a:stretch>
            <a:fillRect/>
          </a:stretch>
        </p:blipFill>
        <p:spPr bwMode="auto">
          <a:xfrm>
            <a:off x="6902506" y="169933"/>
            <a:ext cx="4919957" cy="826763"/>
          </a:xfrm>
          <a:prstGeom prst="rect">
            <a:avLst/>
          </a:prstGeom>
          <a:noFill/>
          <a:ln w="9525">
            <a:noFill/>
            <a:miter lim="800000"/>
            <a:headEnd/>
            <a:tailEnd/>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PRINCIPLES OF ORGANIZING</a:t>
            </a:r>
            <a:endParaRPr lang="en-US" sz="1200" dirty="0"/>
          </a:p>
        </p:txBody>
      </p:sp>
      <p:sp>
        <p:nvSpPr>
          <p:cNvPr id="3" name="Text 1"/>
          <p:cNvSpPr/>
          <p:nvPr/>
        </p:nvSpPr>
        <p:spPr>
          <a:xfrm>
            <a:off x="548640" y="594360"/>
            <a:ext cx="10972800" cy="685800"/>
          </a:xfrm>
          <a:prstGeom prst="rect">
            <a:avLst/>
          </a:prstGeom>
          <a:noFill/>
          <a:ln/>
        </p:spPr>
        <p:txBody>
          <a:bodyPr wrap="square" rtlCol="0" anchor="ctr"/>
          <a:lstStyle/>
          <a:p>
            <a:pPr marL="0" indent="0">
              <a:buNone/>
            </a:pPr>
            <a:r>
              <a:rPr lang="en-US" sz="2800" b="1" dirty="0">
                <a:solidFill>
                  <a:srgbClr val="21295C"/>
                </a:solidFill>
                <a:latin typeface="Cambria" pitchFamily="34" charset="0"/>
                <a:ea typeface="Cambria" pitchFamily="34" charset="-122"/>
                <a:cs typeface="Cambria" pitchFamily="34" charset="-120"/>
              </a:rPr>
              <a:t>Principles 9–17</a:t>
            </a:r>
            <a:endParaRPr lang="en-US" sz="2800" dirty="0"/>
          </a:p>
        </p:txBody>
      </p:sp>
      <p:sp>
        <p:nvSpPr>
          <p:cNvPr id="4" name="Text 2"/>
          <p:cNvSpPr/>
          <p:nvPr/>
        </p:nvSpPr>
        <p:spPr>
          <a:xfrm>
            <a:off x="548640" y="6473952"/>
            <a:ext cx="5486400" cy="274320"/>
          </a:xfrm>
          <a:prstGeom prst="rect">
            <a:avLst/>
          </a:prstGeom>
          <a:noFill/>
          <a:ln/>
        </p:spPr>
        <p:txBody>
          <a:bodyPr wrap="square" rtlCol="0" anchor="ctr"/>
          <a:lstStyle/>
          <a:p>
            <a:pPr marL="0" indent="0">
              <a:buNone/>
            </a:pPr>
            <a:r>
              <a:rPr lang="en-US" sz="900" dirty="0">
                <a:solidFill>
                  <a:srgbClr val="AAAAAA"/>
                </a:solidFill>
                <a:latin typeface="Calibri" pitchFamily="34" charset="0"/>
                <a:ea typeface="Calibri" pitchFamily="34" charset="-122"/>
                <a:cs typeface="Calibri" pitchFamily="34" charset="-120"/>
              </a:rPr>
              <a:t>Organizing — Study Guide</a:t>
            </a:r>
            <a:endParaRPr lang="en-US" sz="900" dirty="0"/>
          </a:p>
        </p:txBody>
      </p:sp>
      <p:sp>
        <p:nvSpPr>
          <p:cNvPr id="5" name="Shape 3"/>
          <p:cNvSpPr/>
          <p:nvPr/>
        </p:nvSpPr>
        <p:spPr>
          <a:xfrm>
            <a:off x="548640" y="1463040"/>
            <a:ext cx="5394960" cy="1033272"/>
          </a:xfrm>
          <a:prstGeom prst="roundRect">
            <a:avLst>
              <a:gd name="adj" fmla="val 5310"/>
            </a:avLst>
          </a:prstGeom>
          <a:solidFill>
            <a:srgbClr val="EAF3F7"/>
          </a:solidFill>
          <a:ln/>
        </p:spPr>
      </p:sp>
      <p:sp>
        <p:nvSpPr>
          <p:cNvPr id="6" name="Text 4"/>
          <p:cNvSpPr/>
          <p:nvPr/>
        </p:nvSpPr>
        <p:spPr>
          <a:xfrm>
            <a:off x="731520" y="1517904"/>
            <a:ext cx="5029200" cy="292608"/>
          </a:xfrm>
          <a:prstGeom prst="rect">
            <a:avLst/>
          </a:prstGeom>
          <a:noFill/>
          <a:ln/>
        </p:spPr>
        <p:txBody>
          <a:bodyPr wrap="square" rtlCol="0" anchor="ctr"/>
          <a:lstStyle/>
          <a:p>
            <a:pPr marL="0" indent="0">
              <a:buNone/>
            </a:pPr>
            <a:r>
              <a:rPr lang="en-US" sz="1300" b="1" dirty="0">
                <a:solidFill>
                  <a:srgbClr val="065A82"/>
                </a:solidFill>
                <a:latin typeface="Calibri" pitchFamily="34" charset="0"/>
                <a:ea typeface="Calibri" pitchFamily="34" charset="-122"/>
                <a:cs typeface="Calibri" pitchFamily="34" charset="-120"/>
              </a:rPr>
              <a:t>9. Balance</a:t>
            </a:r>
            <a:endParaRPr lang="en-US" sz="1300" dirty="0"/>
          </a:p>
        </p:txBody>
      </p:sp>
      <p:sp>
        <p:nvSpPr>
          <p:cNvPr id="7" name="Text 5"/>
          <p:cNvSpPr/>
          <p:nvPr/>
        </p:nvSpPr>
        <p:spPr>
          <a:xfrm>
            <a:off x="731520" y="1810512"/>
            <a:ext cx="5029200" cy="667512"/>
          </a:xfrm>
          <a:prstGeom prst="rect">
            <a:avLst/>
          </a:prstGeom>
          <a:noFill/>
          <a:ln/>
        </p:spPr>
        <p:txBody>
          <a:bodyPr wrap="square" rtlCol="0" anchor="t"/>
          <a:lstStyle/>
          <a:p>
            <a:pPr marL="0" indent="0">
              <a:buNone/>
            </a:pPr>
            <a:r>
              <a:rPr lang="en-US" sz="1100" dirty="0">
                <a:solidFill>
                  <a:srgbClr val="222222"/>
                </a:solidFill>
                <a:latin typeface="Calibri" pitchFamily="34" charset="0"/>
                <a:ea typeface="Calibri" pitchFamily="34" charset="-122"/>
                <a:cs typeface="Calibri" pitchFamily="34" charset="-120"/>
              </a:rPr>
              <a:t>Keep balance between centralization/decentralization and span of control.</a:t>
            </a:r>
            <a:endParaRPr lang="en-US" sz="1100" dirty="0"/>
          </a:p>
        </p:txBody>
      </p:sp>
      <p:sp>
        <p:nvSpPr>
          <p:cNvPr id="8" name="Shape 6"/>
          <p:cNvSpPr/>
          <p:nvPr/>
        </p:nvSpPr>
        <p:spPr>
          <a:xfrm>
            <a:off x="548640" y="2633472"/>
            <a:ext cx="5394960" cy="1033272"/>
          </a:xfrm>
          <a:prstGeom prst="roundRect">
            <a:avLst>
              <a:gd name="adj" fmla="val 5310"/>
            </a:avLst>
          </a:prstGeom>
          <a:solidFill>
            <a:srgbClr val="EAF3F7"/>
          </a:solidFill>
          <a:ln/>
        </p:spPr>
      </p:sp>
      <p:sp>
        <p:nvSpPr>
          <p:cNvPr id="9" name="Text 7"/>
          <p:cNvSpPr/>
          <p:nvPr/>
        </p:nvSpPr>
        <p:spPr>
          <a:xfrm>
            <a:off x="731520" y="2688336"/>
            <a:ext cx="5029200" cy="292608"/>
          </a:xfrm>
          <a:prstGeom prst="rect">
            <a:avLst/>
          </a:prstGeom>
          <a:noFill/>
          <a:ln/>
        </p:spPr>
        <p:txBody>
          <a:bodyPr wrap="square" rtlCol="0" anchor="ctr"/>
          <a:lstStyle/>
          <a:p>
            <a:pPr marL="0" indent="0">
              <a:buNone/>
            </a:pPr>
            <a:r>
              <a:rPr lang="en-US" sz="1300" b="1" dirty="0">
                <a:solidFill>
                  <a:srgbClr val="065A82"/>
                </a:solidFill>
                <a:latin typeface="Calibri" pitchFamily="34" charset="0"/>
                <a:ea typeface="Calibri" pitchFamily="34" charset="-122"/>
                <a:cs typeface="Calibri" pitchFamily="34" charset="-120"/>
              </a:rPr>
              <a:t>10. Flexibility</a:t>
            </a:r>
            <a:endParaRPr lang="en-US" sz="1300" dirty="0"/>
          </a:p>
        </p:txBody>
      </p:sp>
      <p:sp>
        <p:nvSpPr>
          <p:cNvPr id="10" name="Text 8"/>
          <p:cNvSpPr/>
          <p:nvPr/>
        </p:nvSpPr>
        <p:spPr>
          <a:xfrm>
            <a:off x="731520" y="2980944"/>
            <a:ext cx="5029200" cy="667512"/>
          </a:xfrm>
          <a:prstGeom prst="rect">
            <a:avLst/>
          </a:prstGeom>
          <a:noFill/>
          <a:ln/>
        </p:spPr>
        <p:txBody>
          <a:bodyPr wrap="square" rtlCol="0" anchor="t"/>
          <a:lstStyle/>
          <a:p>
            <a:pPr marL="0" indent="0">
              <a:buNone/>
            </a:pPr>
            <a:r>
              <a:rPr lang="en-US" sz="1100" dirty="0">
                <a:solidFill>
                  <a:srgbClr val="222222"/>
                </a:solidFill>
                <a:latin typeface="Calibri" pitchFamily="34" charset="0"/>
                <a:ea typeface="Calibri" pitchFamily="34" charset="-122"/>
                <a:cs typeface="Calibri" pitchFamily="34" charset="-120"/>
              </a:rPr>
              <a:t>Structure should adapt as the environment changes.</a:t>
            </a:r>
            <a:endParaRPr lang="en-US" sz="1100" dirty="0"/>
          </a:p>
        </p:txBody>
      </p:sp>
      <p:sp>
        <p:nvSpPr>
          <p:cNvPr id="11" name="Shape 9"/>
          <p:cNvSpPr/>
          <p:nvPr/>
        </p:nvSpPr>
        <p:spPr>
          <a:xfrm>
            <a:off x="548640" y="3803904"/>
            <a:ext cx="5394960" cy="1033272"/>
          </a:xfrm>
          <a:prstGeom prst="roundRect">
            <a:avLst>
              <a:gd name="adj" fmla="val 5310"/>
            </a:avLst>
          </a:prstGeom>
          <a:solidFill>
            <a:srgbClr val="EAF3F7"/>
          </a:solidFill>
          <a:ln/>
        </p:spPr>
      </p:sp>
      <p:sp>
        <p:nvSpPr>
          <p:cNvPr id="12" name="Text 10"/>
          <p:cNvSpPr/>
          <p:nvPr/>
        </p:nvSpPr>
        <p:spPr>
          <a:xfrm>
            <a:off x="731520" y="3858768"/>
            <a:ext cx="5029200" cy="292608"/>
          </a:xfrm>
          <a:prstGeom prst="rect">
            <a:avLst/>
          </a:prstGeom>
          <a:noFill/>
          <a:ln/>
        </p:spPr>
        <p:txBody>
          <a:bodyPr wrap="square" rtlCol="0" anchor="ctr"/>
          <a:lstStyle/>
          <a:p>
            <a:pPr marL="0" indent="0">
              <a:buNone/>
            </a:pPr>
            <a:r>
              <a:rPr lang="en-US" sz="1300" b="1" dirty="0">
                <a:solidFill>
                  <a:srgbClr val="065A82"/>
                </a:solidFill>
                <a:latin typeface="Calibri" pitchFamily="34" charset="0"/>
                <a:ea typeface="Calibri" pitchFamily="34" charset="-122"/>
                <a:cs typeface="Calibri" pitchFamily="34" charset="-120"/>
              </a:rPr>
              <a:t>11. Continuity</a:t>
            </a:r>
            <a:endParaRPr lang="en-US" sz="1300" dirty="0"/>
          </a:p>
        </p:txBody>
      </p:sp>
      <p:sp>
        <p:nvSpPr>
          <p:cNvPr id="13" name="Text 11"/>
          <p:cNvSpPr/>
          <p:nvPr/>
        </p:nvSpPr>
        <p:spPr>
          <a:xfrm>
            <a:off x="731520" y="4151376"/>
            <a:ext cx="5029200" cy="667512"/>
          </a:xfrm>
          <a:prstGeom prst="rect">
            <a:avLst/>
          </a:prstGeom>
          <a:noFill/>
          <a:ln/>
        </p:spPr>
        <p:txBody>
          <a:bodyPr wrap="square" rtlCol="0" anchor="t"/>
          <a:lstStyle/>
          <a:p>
            <a:pPr marL="0" indent="0">
              <a:buNone/>
            </a:pPr>
            <a:r>
              <a:rPr lang="en-US" sz="1100" dirty="0">
                <a:solidFill>
                  <a:srgbClr val="222222"/>
                </a:solidFill>
                <a:latin typeface="Calibri" pitchFamily="34" charset="0"/>
                <a:ea typeface="Calibri" pitchFamily="34" charset="-122"/>
                <a:cs typeface="Calibri" pitchFamily="34" charset="-120"/>
              </a:rPr>
              <a:t>Organization should evolve for long-term survival and growth.</a:t>
            </a:r>
            <a:endParaRPr lang="en-US" sz="1100" dirty="0"/>
          </a:p>
        </p:txBody>
      </p:sp>
      <p:sp>
        <p:nvSpPr>
          <p:cNvPr id="14" name="Shape 12"/>
          <p:cNvSpPr/>
          <p:nvPr/>
        </p:nvSpPr>
        <p:spPr>
          <a:xfrm>
            <a:off x="548640" y="4974336"/>
            <a:ext cx="5394960" cy="1033272"/>
          </a:xfrm>
          <a:prstGeom prst="roundRect">
            <a:avLst>
              <a:gd name="adj" fmla="val 5310"/>
            </a:avLst>
          </a:prstGeom>
          <a:solidFill>
            <a:srgbClr val="EAF3F7"/>
          </a:solidFill>
          <a:ln/>
        </p:spPr>
      </p:sp>
      <p:sp>
        <p:nvSpPr>
          <p:cNvPr id="15" name="Text 13"/>
          <p:cNvSpPr/>
          <p:nvPr/>
        </p:nvSpPr>
        <p:spPr>
          <a:xfrm>
            <a:off x="731520" y="5029200"/>
            <a:ext cx="5029200" cy="292608"/>
          </a:xfrm>
          <a:prstGeom prst="rect">
            <a:avLst/>
          </a:prstGeom>
          <a:noFill/>
          <a:ln/>
        </p:spPr>
        <p:txBody>
          <a:bodyPr wrap="square" rtlCol="0" anchor="ctr"/>
          <a:lstStyle/>
          <a:p>
            <a:pPr marL="0" indent="0">
              <a:buNone/>
            </a:pPr>
            <a:r>
              <a:rPr lang="en-US" sz="1300" b="1" dirty="0">
                <a:solidFill>
                  <a:srgbClr val="065A82"/>
                </a:solidFill>
                <a:latin typeface="Calibri" pitchFamily="34" charset="0"/>
                <a:ea typeface="Calibri" pitchFamily="34" charset="-122"/>
                <a:cs typeface="Calibri" pitchFamily="34" charset="-120"/>
              </a:rPr>
              <a:t>12. Exception</a:t>
            </a:r>
            <a:endParaRPr lang="en-US" sz="1300" dirty="0"/>
          </a:p>
        </p:txBody>
      </p:sp>
      <p:sp>
        <p:nvSpPr>
          <p:cNvPr id="16" name="Text 14"/>
          <p:cNvSpPr/>
          <p:nvPr/>
        </p:nvSpPr>
        <p:spPr>
          <a:xfrm>
            <a:off x="731520" y="5321808"/>
            <a:ext cx="5029200" cy="667512"/>
          </a:xfrm>
          <a:prstGeom prst="rect">
            <a:avLst/>
          </a:prstGeom>
          <a:noFill/>
          <a:ln/>
        </p:spPr>
        <p:txBody>
          <a:bodyPr wrap="square" rtlCol="0" anchor="t"/>
          <a:lstStyle/>
          <a:p>
            <a:pPr marL="0" indent="0">
              <a:buNone/>
            </a:pPr>
            <a:r>
              <a:rPr lang="en-US" sz="1100" dirty="0">
                <a:solidFill>
                  <a:srgbClr val="222222"/>
                </a:solidFill>
                <a:latin typeface="Calibri" pitchFamily="34" charset="0"/>
                <a:ea typeface="Calibri" pitchFamily="34" charset="-122"/>
                <a:cs typeface="Calibri" pitchFamily="34" charset="-120"/>
              </a:rPr>
              <a:t>Only significant issues get escalated to top managers.</a:t>
            </a:r>
            <a:endParaRPr lang="en-US" sz="1100" dirty="0"/>
          </a:p>
        </p:txBody>
      </p:sp>
      <p:sp>
        <p:nvSpPr>
          <p:cNvPr id="17" name="Shape 15"/>
          <p:cNvSpPr/>
          <p:nvPr/>
        </p:nvSpPr>
        <p:spPr>
          <a:xfrm>
            <a:off x="6309360" y="1463040"/>
            <a:ext cx="5394960" cy="1033272"/>
          </a:xfrm>
          <a:prstGeom prst="roundRect">
            <a:avLst>
              <a:gd name="adj" fmla="val 5310"/>
            </a:avLst>
          </a:prstGeom>
          <a:solidFill>
            <a:srgbClr val="EAF3F7"/>
          </a:solidFill>
          <a:ln/>
        </p:spPr>
      </p:sp>
      <p:sp>
        <p:nvSpPr>
          <p:cNvPr id="18" name="Text 16"/>
          <p:cNvSpPr/>
          <p:nvPr/>
        </p:nvSpPr>
        <p:spPr>
          <a:xfrm>
            <a:off x="6492240" y="1517904"/>
            <a:ext cx="5029200" cy="292608"/>
          </a:xfrm>
          <a:prstGeom prst="rect">
            <a:avLst/>
          </a:prstGeom>
          <a:noFill/>
          <a:ln/>
        </p:spPr>
        <p:txBody>
          <a:bodyPr wrap="square" rtlCol="0" anchor="ctr"/>
          <a:lstStyle/>
          <a:p>
            <a:pPr marL="0" indent="0">
              <a:buNone/>
            </a:pPr>
            <a:r>
              <a:rPr lang="en-US" sz="1300" b="1" dirty="0">
                <a:solidFill>
                  <a:srgbClr val="065A82"/>
                </a:solidFill>
                <a:latin typeface="Calibri" pitchFamily="34" charset="0"/>
                <a:ea typeface="Calibri" pitchFamily="34" charset="-122"/>
                <a:cs typeface="Calibri" pitchFamily="34" charset="-120"/>
              </a:rPr>
              <a:t>13. Simplicity</a:t>
            </a:r>
            <a:endParaRPr lang="en-US" sz="1300" dirty="0"/>
          </a:p>
        </p:txBody>
      </p:sp>
      <p:sp>
        <p:nvSpPr>
          <p:cNvPr id="19" name="Text 17"/>
          <p:cNvSpPr/>
          <p:nvPr/>
        </p:nvSpPr>
        <p:spPr>
          <a:xfrm>
            <a:off x="6492240" y="1810512"/>
            <a:ext cx="5029200" cy="667512"/>
          </a:xfrm>
          <a:prstGeom prst="rect">
            <a:avLst/>
          </a:prstGeom>
          <a:noFill/>
          <a:ln/>
        </p:spPr>
        <p:txBody>
          <a:bodyPr wrap="square" rtlCol="0" anchor="t"/>
          <a:lstStyle/>
          <a:p>
            <a:pPr marL="0" indent="0">
              <a:buNone/>
            </a:pPr>
            <a:r>
              <a:rPr lang="en-US" sz="1100" dirty="0">
                <a:solidFill>
                  <a:srgbClr val="222222"/>
                </a:solidFill>
                <a:latin typeface="Calibri" pitchFamily="34" charset="0"/>
                <a:ea typeface="Calibri" pitchFamily="34" charset="-122"/>
                <a:cs typeface="Calibri" pitchFamily="34" charset="-120"/>
              </a:rPr>
              <a:t>Keep the structure simple so everyone understands their role.</a:t>
            </a:r>
            <a:endParaRPr lang="en-US" sz="1100" dirty="0"/>
          </a:p>
        </p:txBody>
      </p:sp>
      <p:sp>
        <p:nvSpPr>
          <p:cNvPr id="20" name="Shape 18"/>
          <p:cNvSpPr/>
          <p:nvPr/>
        </p:nvSpPr>
        <p:spPr>
          <a:xfrm>
            <a:off x="6309360" y="2633472"/>
            <a:ext cx="5394960" cy="1033272"/>
          </a:xfrm>
          <a:prstGeom prst="roundRect">
            <a:avLst>
              <a:gd name="adj" fmla="val 5310"/>
            </a:avLst>
          </a:prstGeom>
          <a:solidFill>
            <a:srgbClr val="EAF3F7"/>
          </a:solidFill>
          <a:ln/>
        </p:spPr>
      </p:sp>
      <p:sp>
        <p:nvSpPr>
          <p:cNvPr id="21" name="Text 19"/>
          <p:cNvSpPr/>
          <p:nvPr/>
        </p:nvSpPr>
        <p:spPr>
          <a:xfrm>
            <a:off x="6492240" y="2688336"/>
            <a:ext cx="5029200" cy="292608"/>
          </a:xfrm>
          <a:prstGeom prst="rect">
            <a:avLst/>
          </a:prstGeom>
          <a:noFill/>
          <a:ln/>
        </p:spPr>
        <p:txBody>
          <a:bodyPr wrap="square" rtlCol="0" anchor="ctr"/>
          <a:lstStyle/>
          <a:p>
            <a:pPr marL="0" indent="0">
              <a:buNone/>
            </a:pPr>
            <a:r>
              <a:rPr lang="en-US" sz="1300" b="1" dirty="0">
                <a:solidFill>
                  <a:srgbClr val="065A82"/>
                </a:solidFill>
                <a:latin typeface="Calibri" pitchFamily="34" charset="0"/>
                <a:ea typeface="Calibri" pitchFamily="34" charset="-122"/>
                <a:cs typeface="Calibri" pitchFamily="34" charset="-120"/>
              </a:rPr>
              <a:t>14. Departmentation</a:t>
            </a:r>
            <a:endParaRPr lang="en-US" sz="1300" dirty="0"/>
          </a:p>
        </p:txBody>
      </p:sp>
      <p:sp>
        <p:nvSpPr>
          <p:cNvPr id="22" name="Text 20"/>
          <p:cNvSpPr/>
          <p:nvPr/>
        </p:nvSpPr>
        <p:spPr>
          <a:xfrm>
            <a:off x="6492240" y="2980944"/>
            <a:ext cx="5029200" cy="667512"/>
          </a:xfrm>
          <a:prstGeom prst="rect">
            <a:avLst/>
          </a:prstGeom>
          <a:noFill/>
          <a:ln/>
        </p:spPr>
        <p:txBody>
          <a:bodyPr wrap="square" rtlCol="0" anchor="t"/>
          <a:lstStyle/>
          <a:p>
            <a:pPr marL="0" indent="0">
              <a:buNone/>
            </a:pPr>
            <a:r>
              <a:rPr lang="en-US" sz="1100" dirty="0">
                <a:solidFill>
                  <a:srgbClr val="222222"/>
                </a:solidFill>
                <a:latin typeface="Calibri" pitchFamily="34" charset="0"/>
                <a:ea typeface="Calibri" pitchFamily="34" charset="-122"/>
                <a:cs typeface="Calibri" pitchFamily="34" charset="-120"/>
              </a:rPr>
              <a:t>Group similar activities into specialized departments.</a:t>
            </a:r>
            <a:endParaRPr lang="en-US" sz="1100" dirty="0"/>
          </a:p>
        </p:txBody>
      </p:sp>
      <p:sp>
        <p:nvSpPr>
          <p:cNvPr id="23" name="Shape 21"/>
          <p:cNvSpPr/>
          <p:nvPr/>
        </p:nvSpPr>
        <p:spPr>
          <a:xfrm>
            <a:off x="6309360" y="3803904"/>
            <a:ext cx="5394960" cy="1033272"/>
          </a:xfrm>
          <a:prstGeom prst="roundRect">
            <a:avLst>
              <a:gd name="adj" fmla="val 5310"/>
            </a:avLst>
          </a:prstGeom>
          <a:solidFill>
            <a:srgbClr val="EAF3F7"/>
          </a:solidFill>
          <a:ln/>
        </p:spPr>
      </p:sp>
      <p:sp>
        <p:nvSpPr>
          <p:cNvPr id="24" name="Text 22"/>
          <p:cNvSpPr/>
          <p:nvPr/>
        </p:nvSpPr>
        <p:spPr>
          <a:xfrm>
            <a:off x="6492240" y="3858768"/>
            <a:ext cx="5029200" cy="292608"/>
          </a:xfrm>
          <a:prstGeom prst="rect">
            <a:avLst/>
          </a:prstGeom>
          <a:noFill/>
          <a:ln/>
        </p:spPr>
        <p:txBody>
          <a:bodyPr wrap="square" rtlCol="0" anchor="ctr"/>
          <a:lstStyle/>
          <a:p>
            <a:pPr marL="0" indent="0">
              <a:buNone/>
            </a:pPr>
            <a:r>
              <a:rPr lang="en-US" sz="1300" b="1" dirty="0">
                <a:solidFill>
                  <a:srgbClr val="065A82"/>
                </a:solidFill>
                <a:latin typeface="Calibri" pitchFamily="34" charset="0"/>
                <a:ea typeface="Calibri" pitchFamily="34" charset="-122"/>
                <a:cs typeface="Calibri" pitchFamily="34" charset="-120"/>
              </a:rPr>
              <a:t>15. Decentralization</a:t>
            </a:r>
            <a:endParaRPr lang="en-US" sz="1300" dirty="0"/>
          </a:p>
        </p:txBody>
      </p:sp>
      <p:sp>
        <p:nvSpPr>
          <p:cNvPr id="25" name="Text 23"/>
          <p:cNvSpPr/>
          <p:nvPr/>
        </p:nvSpPr>
        <p:spPr>
          <a:xfrm>
            <a:off x="6492240" y="4151376"/>
            <a:ext cx="5029200" cy="667512"/>
          </a:xfrm>
          <a:prstGeom prst="rect">
            <a:avLst/>
          </a:prstGeom>
          <a:noFill/>
          <a:ln/>
        </p:spPr>
        <p:txBody>
          <a:bodyPr wrap="square" rtlCol="0" anchor="t"/>
          <a:lstStyle/>
          <a:p>
            <a:pPr marL="0" indent="0">
              <a:buNone/>
            </a:pPr>
            <a:r>
              <a:rPr lang="en-US" sz="1100" dirty="0">
                <a:solidFill>
                  <a:srgbClr val="222222"/>
                </a:solidFill>
                <a:latin typeface="Calibri" pitchFamily="34" charset="0"/>
                <a:ea typeface="Calibri" pitchFamily="34" charset="-122"/>
                <a:cs typeface="Calibri" pitchFamily="34" charset="-120"/>
              </a:rPr>
              <a:t>Delegate more decision-making power to lower-level managers.</a:t>
            </a:r>
            <a:endParaRPr lang="en-US" sz="1100" dirty="0"/>
          </a:p>
        </p:txBody>
      </p:sp>
      <p:sp>
        <p:nvSpPr>
          <p:cNvPr id="26" name="Shape 24"/>
          <p:cNvSpPr/>
          <p:nvPr/>
        </p:nvSpPr>
        <p:spPr>
          <a:xfrm>
            <a:off x="6309360" y="4974336"/>
            <a:ext cx="5394960" cy="1033272"/>
          </a:xfrm>
          <a:prstGeom prst="roundRect">
            <a:avLst>
              <a:gd name="adj" fmla="val 5310"/>
            </a:avLst>
          </a:prstGeom>
          <a:solidFill>
            <a:srgbClr val="EAF3F7"/>
          </a:solidFill>
          <a:ln/>
        </p:spPr>
      </p:sp>
      <p:sp>
        <p:nvSpPr>
          <p:cNvPr id="27" name="Text 25"/>
          <p:cNvSpPr/>
          <p:nvPr/>
        </p:nvSpPr>
        <p:spPr>
          <a:xfrm>
            <a:off x="6492240" y="5029200"/>
            <a:ext cx="5029200" cy="292608"/>
          </a:xfrm>
          <a:prstGeom prst="rect">
            <a:avLst/>
          </a:prstGeom>
          <a:noFill/>
          <a:ln/>
        </p:spPr>
        <p:txBody>
          <a:bodyPr wrap="square" rtlCol="0" anchor="ctr"/>
          <a:lstStyle/>
          <a:p>
            <a:pPr marL="0" indent="0">
              <a:buNone/>
            </a:pPr>
            <a:r>
              <a:rPr lang="en-US" sz="1300" b="1" dirty="0">
                <a:solidFill>
                  <a:srgbClr val="065A82"/>
                </a:solidFill>
                <a:latin typeface="Calibri" pitchFamily="34" charset="0"/>
                <a:ea typeface="Calibri" pitchFamily="34" charset="-122"/>
                <a:cs typeface="Calibri" pitchFamily="34" charset="-120"/>
              </a:rPr>
              <a:t>16. Unity of Direction</a:t>
            </a:r>
            <a:endParaRPr lang="en-US" sz="1300" dirty="0"/>
          </a:p>
        </p:txBody>
      </p:sp>
      <p:sp>
        <p:nvSpPr>
          <p:cNvPr id="28" name="Text 26"/>
          <p:cNvSpPr/>
          <p:nvPr/>
        </p:nvSpPr>
        <p:spPr>
          <a:xfrm>
            <a:off x="6492240" y="5321808"/>
            <a:ext cx="5029200" cy="667512"/>
          </a:xfrm>
          <a:prstGeom prst="rect">
            <a:avLst/>
          </a:prstGeom>
          <a:noFill/>
          <a:ln/>
        </p:spPr>
        <p:txBody>
          <a:bodyPr wrap="square" rtlCol="0" anchor="t"/>
          <a:lstStyle/>
          <a:p>
            <a:pPr marL="0" indent="0">
              <a:buNone/>
            </a:pPr>
            <a:r>
              <a:rPr lang="en-US" sz="1100" dirty="0">
                <a:solidFill>
                  <a:srgbClr val="222222"/>
                </a:solidFill>
                <a:latin typeface="Calibri" pitchFamily="34" charset="0"/>
                <a:ea typeface="Calibri" pitchFamily="34" charset="-122"/>
                <a:cs typeface="Calibri" pitchFamily="34" charset="-120"/>
              </a:rPr>
              <a:t>One plan, one goal per department.</a:t>
            </a:r>
            <a:endParaRPr lang="en-US" sz="1100" dirty="0"/>
          </a:p>
        </p:txBody>
      </p:sp>
      <p:pic>
        <p:nvPicPr>
          <p:cNvPr id="29" name="Picture 28" descr="C:\Users\madam\AppData\Local\Temp\UPSA NEW LOGO.png"/>
          <p:cNvPicPr/>
          <p:nvPr/>
        </p:nvPicPr>
        <p:blipFill>
          <a:blip r:embed="rId3" cstate="print"/>
          <a:srcRect/>
          <a:stretch>
            <a:fillRect/>
          </a:stretch>
        </p:blipFill>
        <p:spPr bwMode="auto">
          <a:xfrm>
            <a:off x="6748757" y="178025"/>
            <a:ext cx="4772683" cy="818671"/>
          </a:xfrm>
          <a:prstGeom prst="rect">
            <a:avLst/>
          </a:prstGeom>
          <a:noFill/>
          <a:ln w="9525">
            <a:noFill/>
            <a:miter lim="800000"/>
            <a:headEnd/>
            <a:tailEnd/>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PRINCIPLES OF ORGANIZING</a:t>
            </a:r>
            <a:endParaRPr lang="en-US" sz="1200" dirty="0"/>
          </a:p>
        </p:txBody>
      </p:sp>
      <p:sp>
        <p:nvSpPr>
          <p:cNvPr id="3" name="Text 1"/>
          <p:cNvSpPr/>
          <p:nvPr/>
        </p:nvSpPr>
        <p:spPr>
          <a:xfrm>
            <a:off x="548640" y="594360"/>
            <a:ext cx="10972800" cy="685800"/>
          </a:xfrm>
          <a:prstGeom prst="rect">
            <a:avLst/>
          </a:prstGeom>
          <a:noFill/>
          <a:ln/>
        </p:spPr>
        <p:txBody>
          <a:bodyPr wrap="square" rtlCol="0" anchor="ctr"/>
          <a:lstStyle/>
          <a:p>
            <a:pPr marL="0" indent="0">
              <a:buNone/>
            </a:pPr>
            <a:r>
              <a:rPr lang="en-US" sz="2800" b="1" dirty="0">
                <a:solidFill>
                  <a:srgbClr val="21295C"/>
                </a:solidFill>
                <a:latin typeface="Cambria" pitchFamily="34" charset="0"/>
                <a:ea typeface="Cambria" pitchFamily="34" charset="-122"/>
                <a:cs typeface="Cambria" pitchFamily="34" charset="-120"/>
              </a:rPr>
              <a:t>17. Principle of Co-operation</a:t>
            </a:r>
            <a:endParaRPr lang="en-US" sz="2800" dirty="0"/>
          </a:p>
        </p:txBody>
      </p:sp>
      <p:sp>
        <p:nvSpPr>
          <p:cNvPr id="4" name="Text 2"/>
          <p:cNvSpPr/>
          <p:nvPr/>
        </p:nvSpPr>
        <p:spPr>
          <a:xfrm>
            <a:off x="548640" y="6473952"/>
            <a:ext cx="5486400" cy="274320"/>
          </a:xfrm>
          <a:prstGeom prst="rect">
            <a:avLst/>
          </a:prstGeom>
          <a:noFill/>
          <a:ln/>
        </p:spPr>
        <p:txBody>
          <a:bodyPr wrap="square" rtlCol="0" anchor="ctr"/>
          <a:lstStyle/>
          <a:p>
            <a:pPr marL="0" indent="0">
              <a:buNone/>
            </a:pPr>
            <a:r>
              <a:rPr lang="en-US" sz="900" dirty="0">
                <a:solidFill>
                  <a:srgbClr val="AAAAAA"/>
                </a:solidFill>
                <a:latin typeface="Calibri" pitchFamily="34" charset="0"/>
                <a:ea typeface="Calibri" pitchFamily="34" charset="-122"/>
                <a:cs typeface="Calibri" pitchFamily="34" charset="-120"/>
              </a:rPr>
              <a:t>Organizing — Study Guide</a:t>
            </a:r>
            <a:endParaRPr lang="en-US" sz="900" dirty="0"/>
          </a:p>
        </p:txBody>
      </p:sp>
      <p:sp>
        <p:nvSpPr>
          <p:cNvPr id="5" name="Text 3"/>
          <p:cNvSpPr/>
          <p:nvPr/>
        </p:nvSpPr>
        <p:spPr>
          <a:xfrm>
            <a:off x="640080" y="1508760"/>
            <a:ext cx="10881360" cy="4754880"/>
          </a:xfrm>
          <a:prstGeom prst="rect">
            <a:avLst/>
          </a:prstGeom>
          <a:noFill/>
          <a:ln/>
        </p:spPr>
        <p:txBody>
          <a:bodyPr wrap="square" rtlCol="0" anchor="t"/>
          <a:lstStyle/>
          <a:p>
            <a:pPr marL="228600" indent="-228600">
              <a:spcAft>
                <a:spcPts val="1200"/>
              </a:spcAft>
              <a:buSzPct val="100000"/>
              <a:buChar char="●"/>
            </a:pPr>
            <a:r>
              <a:rPr lang="en-US" sz="1600" dirty="0">
                <a:solidFill>
                  <a:srgbClr val="222222"/>
                </a:solidFill>
                <a:latin typeface="Calibri" pitchFamily="34" charset="0"/>
                <a:ea typeface="Calibri" pitchFamily="34" charset="-122"/>
                <a:cs typeface="Calibri" pitchFamily="34" charset="-120"/>
              </a:rPr>
              <a:t>All individuals and departments should co-operate with one another.</a:t>
            </a:r>
            <a:endParaRPr lang="en-US" sz="1600" dirty="0"/>
          </a:p>
          <a:p>
            <a:pPr marL="228600" indent="-228600">
              <a:spcAft>
                <a:spcPts val="1200"/>
              </a:spcAft>
              <a:buSzPct val="100000"/>
              <a:buChar char="●"/>
            </a:pPr>
            <a:r>
              <a:rPr lang="en-US" sz="1600" dirty="0">
                <a:solidFill>
                  <a:srgbClr val="222222"/>
                </a:solidFill>
                <a:latin typeface="Calibri" pitchFamily="34" charset="0"/>
                <a:ea typeface="Calibri" pitchFamily="34" charset="-122"/>
                <a:cs typeface="Calibri" pitchFamily="34" charset="-120"/>
              </a:rPr>
              <a:t>Cooperation helps the whole organization achieve its shared goals.</a:t>
            </a:r>
            <a:endParaRPr lang="en-US" sz="1600" dirty="0"/>
          </a:p>
        </p:txBody>
      </p:sp>
      <p:pic>
        <p:nvPicPr>
          <p:cNvPr id="6" name="Picture 5" descr="C:\Users\madam\AppData\Local\Temp\UPSA NEW LOGO.png"/>
          <p:cNvPicPr/>
          <p:nvPr/>
        </p:nvPicPr>
        <p:blipFill>
          <a:blip r:embed="rId3" cstate="print"/>
          <a:srcRect/>
          <a:stretch>
            <a:fillRect/>
          </a:stretch>
        </p:blipFill>
        <p:spPr bwMode="auto">
          <a:xfrm>
            <a:off x="6206591" y="339865"/>
            <a:ext cx="5575412" cy="1035782"/>
          </a:xfrm>
          <a:prstGeom prst="rect">
            <a:avLst/>
          </a:prstGeom>
          <a:noFill/>
          <a:ln w="9525">
            <a:noFill/>
            <a:miter lim="800000"/>
            <a:headEnd/>
            <a:tailEnd/>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065A82"/>
        </a:solidFill>
        <a:effectLst/>
      </p:bgPr>
    </p:bg>
    <p:spTree>
      <p:nvGrpSpPr>
        <p:cNvPr id="1" name=""/>
        <p:cNvGrpSpPr/>
        <p:nvPr/>
      </p:nvGrpSpPr>
      <p:grpSpPr>
        <a:xfrm>
          <a:off x="0" y="0"/>
          <a:ext cx="0" cy="0"/>
          <a:chOff x="0" y="0"/>
          <a:chExt cx="0" cy="0"/>
        </a:xfrm>
      </p:grpSpPr>
      <p:sp>
        <p:nvSpPr>
          <p:cNvPr id="2" name="Text 0"/>
          <p:cNvSpPr/>
          <p:nvPr/>
        </p:nvSpPr>
        <p:spPr>
          <a:xfrm>
            <a:off x="822960" y="2286000"/>
            <a:ext cx="3657600" cy="1371600"/>
          </a:xfrm>
          <a:prstGeom prst="rect">
            <a:avLst/>
          </a:prstGeom>
          <a:noFill/>
          <a:ln/>
        </p:spPr>
        <p:txBody>
          <a:bodyPr wrap="square" rtlCol="0" anchor="ctr"/>
          <a:lstStyle/>
          <a:p>
            <a:pPr marL="0" indent="0">
              <a:buNone/>
            </a:pPr>
            <a:r>
              <a:rPr lang="en-US" sz="7200" b="1" dirty="0">
                <a:solidFill>
                  <a:srgbClr val="3D85A6"/>
                </a:solidFill>
                <a:latin typeface="Cambria" pitchFamily="34" charset="0"/>
                <a:ea typeface="Cambria" pitchFamily="34" charset="-122"/>
                <a:cs typeface="Cambria" pitchFamily="34" charset="-120"/>
              </a:rPr>
              <a:t>05</a:t>
            </a:r>
            <a:endParaRPr lang="en-US" sz="7200" dirty="0"/>
          </a:p>
        </p:txBody>
      </p:sp>
      <p:sp>
        <p:nvSpPr>
          <p:cNvPr id="3" name="Text 1"/>
          <p:cNvSpPr/>
          <p:nvPr/>
        </p:nvSpPr>
        <p:spPr>
          <a:xfrm>
            <a:off x="822960" y="3383280"/>
            <a:ext cx="9601200" cy="1097280"/>
          </a:xfrm>
          <a:prstGeom prst="rect">
            <a:avLst/>
          </a:prstGeom>
          <a:noFill/>
          <a:ln/>
        </p:spPr>
        <p:txBody>
          <a:bodyPr wrap="square" rtlCol="0" anchor="ctr"/>
          <a:lstStyle/>
          <a:p>
            <a:pPr marL="0" indent="0">
              <a:buNone/>
            </a:pPr>
            <a:r>
              <a:rPr lang="en-US" sz="3800" b="1" dirty="0">
                <a:solidFill>
                  <a:srgbClr val="FFFFFF"/>
                </a:solidFill>
                <a:latin typeface="Cambria" pitchFamily="34" charset="0"/>
                <a:ea typeface="Cambria" pitchFamily="34" charset="-122"/>
                <a:cs typeface="Cambria" pitchFamily="34" charset="-120"/>
              </a:rPr>
              <a:t>Formal &amp; Informal Organization</a:t>
            </a:r>
            <a:endParaRPr lang="en-US" sz="3800" dirty="0"/>
          </a:p>
        </p:txBody>
      </p:sp>
      <p:sp>
        <p:nvSpPr>
          <p:cNvPr id="4" name="Shape 2"/>
          <p:cNvSpPr/>
          <p:nvPr/>
        </p:nvSpPr>
        <p:spPr>
          <a:xfrm>
            <a:off x="0" y="0"/>
            <a:ext cx="164592" cy="6858000"/>
          </a:xfrm>
          <a:prstGeom prst="rect">
            <a:avLst/>
          </a:prstGeom>
          <a:solidFill>
            <a:srgbClr val="1C7293"/>
          </a:solidFill>
          <a:ln/>
        </p:spPr>
      </p:sp>
      <p:pic>
        <p:nvPicPr>
          <p:cNvPr id="5" name="Picture 4" descr="C:\Users\madam\AppData\Local\Temp\UPSA NEW LOGO.png"/>
          <p:cNvPicPr/>
          <p:nvPr/>
        </p:nvPicPr>
        <p:blipFill>
          <a:blip r:embed="rId3" cstate="print"/>
          <a:srcRect/>
          <a:stretch>
            <a:fillRect/>
          </a:stretch>
        </p:blipFill>
        <p:spPr bwMode="auto">
          <a:xfrm>
            <a:off x="7120991" y="283222"/>
            <a:ext cx="4887590" cy="1100516"/>
          </a:xfrm>
          <a:prstGeom prst="rect">
            <a:avLst/>
          </a:prstGeom>
          <a:noFill/>
          <a:ln w="9525">
            <a:noFill/>
            <a:miter lim="800000"/>
            <a:headEnd/>
            <a:tailEnd/>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FORMAL ORGANIZATION</a:t>
            </a:r>
            <a:endParaRPr lang="en-US" sz="1200" dirty="0"/>
          </a:p>
        </p:txBody>
      </p:sp>
      <p:sp>
        <p:nvSpPr>
          <p:cNvPr id="3" name="Text 1"/>
          <p:cNvSpPr/>
          <p:nvPr/>
        </p:nvSpPr>
        <p:spPr>
          <a:xfrm>
            <a:off x="548640" y="594360"/>
            <a:ext cx="10972800" cy="685800"/>
          </a:xfrm>
          <a:prstGeom prst="rect">
            <a:avLst/>
          </a:prstGeom>
          <a:noFill/>
          <a:ln/>
        </p:spPr>
        <p:txBody>
          <a:bodyPr wrap="square" rtlCol="0" anchor="ctr"/>
          <a:lstStyle/>
          <a:p>
            <a:pPr marL="0" indent="0">
              <a:buNone/>
            </a:pPr>
            <a:r>
              <a:rPr lang="en-US" sz="2800" b="1" dirty="0">
                <a:solidFill>
                  <a:srgbClr val="21295C"/>
                </a:solidFill>
                <a:latin typeface="Cambria" pitchFamily="34" charset="0"/>
                <a:ea typeface="Cambria" pitchFamily="34" charset="-122"/>
                <a:cs typeface="Cambria" pitchFamily="34" charset="-120"/>
              </a:rPr>
              <a:t>What Is It?</a:t>
            </a:r>
            <a:endParaRPr lang="en-US" sz="2800" dirty="0"/>
          </a:p>
        </p:txBody>
      </p:sp>
      <p:sp>
        <p:nvSpPr>
          <p:cNvPr id="4" name="Text 2"/>
          <p:cNvSpPr/>
          <p:nvPr/>
        </p:nvSpPr>
        <p:spPr>
          <a:xfrm>
            <a:off x="548640" y="6473952"/>
            <a:ext cx="5486400" cy="274320"/>
          </a:xfrm>
          <a:prstGeom prst="rect">
            <a:avLst/>
          </a:prstGeom>
          <a:noFill/>
          <a:ln/>
        </p:spPr>
        <p:txBody>
          <a:bodyPr wrap="square" rtlCol="0" anchor="ctr"/>
          <a:lstStyle/>
          <a:p>
            <a:pPr marL="0" indent="0">
              <a:buNone/>
            </a:pPr>
            <a:r>
              <a:rPr lang="en-US" sz="900" dirty="0">
                <a:solidFill>
                  <a:srgbClr val="AAAAAA"/>
                </a:solidFill>
                <a:latin typeface="Calibri" pitchFamily="34" charset="0"/>
                <a:ea typeface="Calibri" pitchFamily="34" charset="-122"/>
                <a:cs typeface="Calibri" pitchFamily="34" charset="-120"/>
              </a:rPr>
              <a:t>Organizing — Study Guide</a:t>
            </a:r>
            <a:endParaRPr lang="en-US" sz="900" dirty="0"/>
          </a:p>
        </p:txBody>
      </p:sp>
      <p:sp>
        <p:nvSpPr>
          <p:cNvPr id="5" name="Text 3"/>
          <p:cNvSpPr/>
          <p:nvPr/>
        </p:nvSpPr>
        <p:spPr>
          <a:xfrm>
            <a:off x="640080" y="1554480"/>
            <a:ext cx="10881360" cy="731520"/>
          </a:xfrm>
          <a:prstGeom prst="rect">
            <a:avLst/>
          </a:prstGeom>
          <a:noFill/>
          <a:ln/>
        </p:spPr>
        <p:txBody>
          <a:bodyPr wrap="square" rtlCol="0" anchor="ctr"/>
          <a:lstStyle/>
          <a:p>
            <a:pPr marL="0" indent="0">
              <a:buNone/>
            </a:pPr>
            <a:r>
              <a:rPr lang="en-US" sz="1700" dirty="0">
                <a:solidFill>
                  <a:srgbClr val="222222"/>
                </a:solidFill>
                <a:latin typeface="Calibri" pitchFamily="34" charset="0"/>
                <a:ea typeface="Calibri" pitchFamily="34" charset="-122"/>
                <a:cs typeface="Calibri" pitchFamily="34" charset="-120"/>
              </a:rPr>
              <a:t>A formal organization is the </a:t>
            </a:r>
            <a:r>
              <a:rPr lang="en-US" sz="1700" b="1" dirty="0">
                <a:solidFill>
                  <a:srgbClr val="065A82"/>
                </a:solidFill>
                <a:latin typeface="Calibri" pitchFamily="34" charset="0"/>
                <a:ea typeface="Calibri" pitchFamily="34" charset="-122"/>
                <a:cs typeface="Calibri" pitchFamily="34" charset="-120"/>
              </a:rPr>
              <a:t>official structure</a:t>
            </a:r>
            <a:r>
              <a:rPr lang="en-US" sz="1700" dirty="0">
                <a:solidFill>
                  <a:srgbClr val="222222"/>
                </a:solidFill>
                <a:latin typeface="Calibri" pitchFamily="34" charset="0"/>
                <a:ea typeface="Calibri" pitchFamily="34" charset="-122"/>
                <a:cs typeface="Calibri" pitchFamily="34" charset="-120"/>
              </a:rPr>
              <a:t> of a company.</a:t>
            </a:r>
            <a:endParaRPr lang="en-US" sz="1700" dirty="0"/>
          </a:p>
        </p:txBody>
      </p:sp>
      <p:sp>
        <p:nvSpPr>
          <p:cNvPr id="6" name="Text 4"/>
          <p:cNvSpPr/>
          <p:nvPr/>
        </p:nvSpPr>
        <p:spPr>
          <a:xfrm>
            <a:off x="640080" y="2377440"/>
            <a:ext cx="10881360" cy="2926080"/>
          </a:xfrm>
          <a:prstGeom prst="rect">
            <a:avLst/>
          </a:prstGeom>
          <a:noFill/>
          <a:ln/>
        </p:spPr>
        <p:txBody>
          <a:bodyPr wrap="square" rtlCol="0" anchor="ctr"/>
          <a:lstStyle/>
          <a:p>
            <a:pPr marL="342900" indent="-342900">
              <a:spcAft>
                <a:spcPts val="1000"/>
              </a:spcAft>
              <a:buSzPct val="100000"/>
              <a:buChar char="●"/>
            </a:pPr>
            <a:r>
              <a:rPr lang="en-US" sz="1500" dirty="0">
                <a:solidFill>
                  <a:srgbClr val="222222"/>
                </a:solidFill>
                <a:latin typeface="Calibri" pitchFamily="34" charset="0"/>
                <a:ea typeface="Calibri" pitchFamily="34" charset="-122"/>
                <a:cs typeface="Calibri" pitchFamily="34" charset="-120"/>
              </a:rPr>
              <a:t>Clearly defines authority and responsibility relationships.</a:t>
            </a:r>
            <a:endParaRPr lang="en-US" sz="1500" dirty="0"/>
          </a:p>
          <a:p>
            <a:pPr marL="342900" indent="-342900">
              <a:spcAft>
                <a:spcPts val="1000"/>
              </a:spcAft>
              <a:buSzPct val="100000"/>
              <a:buChar char="●"/>
            </a:pPr>
            <a:r>
              <a:rPr lang="en-US" sz="1500" dirty="0">
                <a:solidFill>
                  <a:srgbClr val="222222"/>
                </a:solidFill>
                <a:latin typeface="Calibri" pitchFamily="34" charset="0"/>
                <a:ea typeface="Calibri" pitchFamily="34" charset="-122"/>
                <a:cs typeface="Calibri" pitchFamily="34" charset="-120"/>
              </a:rPr>
              <a:t>Works along pre-defined policies, plans, procedures, and schedules.</a:t>
            </a:r>
            <a:endParaRPr lang="en-US" sz="1500" dirty="0"/>
          </a:p>
          <a:p>
            <a:pPr marL="342900" indent="-342900">
              <a:spcAft>
                <a:spcPts val="1000"/>
              </a:spcAft>
              <a:buSzPct val="100000"/>
              <a:buChar char="●"/>
            </a:pPr>
            <a:r>
              <a:rPr lang="en-US" sz="1500" dirty="0">
                <a:solidFill>
                  <a:srgbClr val="222222"/>
                </a:solidFill>
                <a:latin typeface="Calibri" pitchFamily="34" charset="0"/>
                <a:ea typeface="Calibri" pitchFamily="34" charset="-122"/>
                <a:cs typeface="Calibri" pitchFamily="34" charset="-120"/>
              </a:rPr>
              <a:t>Most decisions are based on pre-determined policies.</a:t>
            </a:r>
            <a:endParaRPr lang="en-US" sz="1500" dirty="0"/>
          </a:p>
          <a:p>
            <a:pPr marL="342900" indent="-342900">
              <a:spcAft>
                <a:spcPts val="1000"/>
              </a:spcAft>
              <a:buSzPct val="100000"/>
              <a:buChar char="●"/>
            </a:pPr>
            <a:r>
              <a:rPr lang="en-US" sz="1500" dirty="0">
                <a:solidFill>
                  <a:srgbClr val="222222"/>
                </a:solidFill>
                <a:latin typeface="Calibri" pitchFamily="34" charset="0"/>
                <a:ea typeface="Calibri" pitchFamily="34" charset="-122"/>
                <a:cs typeface="Calibri" pitchFamily="34" charset="-120"/>
              </a:rPr>
              <a:t>Louis A. Allen: a system of well-defined jobs, each with clear authority, responsibility, and accountability — designed for people to work effectively together.</a:t>
            </a:r>
            <a:endParaRPr lang="en-US" sz="1500" dirty="0"/>
          </a:p>
        </p:txBody>
      </p:sp>
      <p:sp>
        <p:nvSpPr>
          <p:cNvPr id="7" name="Shape 5"/>
          <p:cNvSpPr/>
          <p:nvPr/>
        </p:nvSpPr>
        <p:spPr>
          <a:xfrm>
            <a:off x="548640" y="5669280"/>
            <a:ext cx="11064240" cy="658368"/>
          </a:xfrm>
          <a:prstGeom prst="roundRect">
            <a:avLst>
              <a:gd name="adj" fmla="val 11111"/>
            </a:avLst>
          </a:prstGeom>
          <a:solidFill>
            <a:srgbClr val="EAF3F7"/>
          </a:solidFill>
          <a:ln/>
        </p:spPr>
      </p:sp>
      <p:sp>
        <p:nvSpPr>
          <p:cNvPr id="8" name="Text 6"/>
          <p:cNvSpPr/>
          <p:nvPr/>
        </p:nvSpPr>
        <p:spPr>
          <a:xfrm>
            <a:off x="777240" y="5724144"/>
            <a:ext cx="10607040" cy="548640"/>
          </a:xfrm>
          <a:prstGeom prst="rect">
            <a:avLst/>
          </a:prstGeom>
          <a:noFill/>
          <a:ln/>
        </p:spPr>
        <p:txBody>
          <a:bodyPr wrap="square" rtlCol="0" anchor="ctr"/>
          <a:lstStyle/>
          <a:p>
            <a:pPr marL="0" indent="0">
              <a:buNone/>
            </a:pPr>
            <a:r>
              <a:rPr lang="en-US" sz="1300" i="1" dirty="0">
                <a:solidFill>
                  <a:srgbClr val="21295C"/>
                </a:solidFill>
                <a:latin typeface="Calibri" pitchFamily="34" charset="0"/>
                <a:ea typeface="Calibri" pitchFamily="34" charset="-122"/>
                <a:cs typeface="Calibri" pitchFamily="34" charset="-120"/>
              </a:rPr>
              <a:t>💡 Think of it as the 'official rulebook' version of how the company works.</a:t>
            </a:r>
            <a:endParaRPr lang="en-US" sz="1300" dirty="0"/>
          </a:p>
        </p:txBody>
      </p:sp>
      <p:pic>
        <p:nvPicPr>
          <p:cNvPr id="9" name="Picture 8" descr="C:\Users\madam\AppData\Local\Temp\UPSA NEW LOGO.png"/>
          <p:cNvPicPr/>
          <p:nvPr/>
        </p:nvPicPr>
        <p:blipFill>
          <a:blip r:embed="rId3" cstate="print"/>
          <a:srcRect/>
          <a:stretch>
            <a:fillRect/>
          </a:stretch>
        </p:blipFill>
        <p:spPr bwMode="auto">
          <a:xfrm>
            <a:off x="6773034" y="161841"/>
            <a:ext cx="5097981" cy="1026879"/>
          </a:xfrm>
          <a:prstGeom prst="rect">
            <a:avLst/>
          </a:prstGeom>
          <a:noFill/>
          <a:ln w="9525">
            <a:noFill/>
            <a:miter lim="800000"/>
            <a:headEnd/>
            <a:tailEnd/>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FORMAL ORGANIZATION</a:t>
            </a:r>
            <a:endParaRPr lang="en-US" sz="1200" dirty="0"/>
          </a:p>
        </p:txBody>
      </p:sp>
      <p:sp>
        <p:nvSpPr>
          <p:cNvPr id="3" name="Text 1"/>
          <p:cNvSpPr/>
          <p:nvPr/>
        </p:nvSpPr>
        <p:spPr>
          <a:xfrm>
            <a:off x="548640" y="594360"/>
            <a:ext cx="10972800" cy="685800"/>
          </a:xfrm>
          <a:prstGeom prst="rect">
            <a:avLst/>
          </a:prstGeom>
          <a:noFill/>
          <a:ln/>
        </p:spPr>
        <p:txBody>
          <a:bodyPr wrap="square" rtlCol="0" anchor="ctr"/>
          <a:lstStyle/>
          <a:p>
            <a:pPr marL="0" indent="0">
              <a:buNone/>
            </a:pPr>
            <a:r>
              <a:rPr lang="en-US" sz="2800" b="1" dirty="0">
                <a:solidFill>
                  <a:srgbClr val="21295C"/>
                </a:solidFill>
                <a:latin typeface="Cambria" pitchFamily="34" charset="0"/>
                <a:ea typeface="Cambria" pitchFamily="34" charset="-122"/>
                <a:cs typeface="Cambria" pitchFamily="34" charset="-120"/>
              </a:rPr>
              <a:t>Key Features</a:t>
            </a:r>
            <a:endParaRPr lang="en-US" sz="2800" dirty="0"/>
          </a:p>
        </p:txBody>
      </p:sp>
      <p:sp>
        <p:nvSpPr>
          <p:cNvPr id="4" name="Text 2"/>
          <p:cNvSpPr/>
          <p:nvPr/>
        </p:nvSpPr>
        <p:spPr>
          <a:xfrm>
            <a:off x="548640" y="6473952"/>
            <a:ext cx="5486400" cy="274320"/>
          </a:xfrm>
          <a:prstGeom prst="rect">
            <a:avLst/>
          </a:prstGeom>
          <a:noFill/>
          <a:ln/>
        </p:spPr>
        <p:txBody>
          <a:bodyPr wrap="square" rtlCol="0" anchor="ctr"/>
          <a:lstStyle/>
          <a:p>
            <a:pPr marL="0" indent="0">
              <a:buNone/>
            </a:pPr>
            <a:r>
              <a:rPr lang="en-US" sz="900" dirty="0">
                <a:solidFill>
                  <a:srgbClr val="AAAAAA"/>
                </a:solidFill>
                <a:latin typeface="Calibri" pitchFamily="34" charset="0"/>
                <a:ea typeface="Calibri" pitchFamily="34" charset="-122"/>
                <a:cs typeface="Calibri" pitchFamily="34" charset="-120"/>
              </a:rPr>
              <a:t>Organizing — Study Guide</a:t>
            </a:r>
            <a:endParaRPr lang="en-US" sz="900" dirty="0"/>
          </a:p>
        </p:txBody>
      </p:sp>
      <p:sp>
        <p:nvSpPr>
          <p:cNvPr id="5" name="Text 3"/>
          <p:cNvSpPr/>
          <p:nvPr/>
        </p:nvSpPr>
        <p:spPr>
          <a:xfrm>
            <a:off x="640080" y="1508760"/>
            <a:ext cx="10881360" cy="4754880"/>
          </a:xfrm>
          <a:prstGeom prst="rect">
            <a:avLst/>
          </a:prstGeom>
          <a:noFill/>
          <a:ln/>
        </p:spPr>
        <p:txBody>
          <a:bodyPr wrap="square" rtlCol="0" anchor="t"/>
          <a:lstStyle/>
          <a:p>
            <a:pPr marL="228600" indent="-228600">
              <a:spcAft>
                <a:spcPts val="1200"/>
              </a:spcAft>
              <a:buSzPct val="100000"/>
              <a:buChar char="●"/>
            </a:pPr>
            <a:r>
              <a:rPr lang="en-US" sz="1600" dirty="0">
                <a:solidFill>
                  <a:srgbClr val="222222"/>
                </a:solidFill>
                <a:latin typeface="Calibri" pitchFamily="34" charset="0"/>
                <a:ea typeface="Calibri" pitchFamily="34" charset="-122"/>
                <a:cs typeface="Calibri" pitchFamily="34" charset="-120"/>
              </a:rPr>
              <a:t>Job-oriented — focuses on jobs first, then assigns people to them.</a:t>
            </a:r>
            <a:endParaRPr lang="en-US" sz="1600" dirty="0"/>
          </a:p>
          <a:p>
            <a:pPr marL="228600" indent="-228600">
              <a:spcAft>
                <a:spcPts val="1200"/>
              </a:spcAft>
              <a:buSzPct val="100000"/>
              <a:buChar char="●"/>
            </a:pPr>
            <a:r>
              <a:rPr lang="en-US" sz="1600" dirty="0">
                <a:solidFill>
                  <a:srgbClr val="222222"/>
                </a:solidFill>
                <a:latin typeface="Calibri" pitchFamily="34" charset="0"/>
                <a:ea typeface="Calibri" pitchFamily="34" charset="-122"/>
                <a:cs typeface="Calibri" pitchFamily="34" charset="-120"/>
              </a:rPr>
              <a:t>Division of work — big jobs split into smaller ones by skill.</a:t>
            </a:r>
            <a:endParaRPr lang="en-US" sz="1600" dirty="0"/>
          </a:p>
          <a:p>
            <a:pPr marL="228600" indent="-228600">
              <a:spcAft>
                <a:spcPts val="1200"/>
              </a:spcAft>
              <a:buSzPct val="100000"/>
              <a:buChar char="●"/>
            </a:pPr>
            <a:r>
              <a:rPr lang="en-US" sz="1600" dirty="0">
                <a:solidFill>
                  <a:srgbClr val="222222"/>
                </a:solidFill>
                <a:latin typeface="Calibri" pitchFamily="34" charset="0"/>
                <a:ea typeface="Calibri" pitchFamily="34" charset="-122"/>
                <a:cs typeface="Calibri" pitchFamily="34" charset="-120"/>
              </a:rPr>
              <a:t>Departmentation — the foundation of the structure.</a:t>
            </a:r>
            <a:endParaRPr lang="en-US" sz="1600" dirty="0"/>
          </a:p>
          <a:p>
            <a:pPr marL="228600" indent="-228600">
              <a:spcAft>
                <a:spcPts val="1200"/>
              </a:spcAft>
              <a:buSzPct val="100000"/>
              <a:buChar char="●"/>
            </a:pPr>
            <a:r>
              <a:rPr lang="en-US" sz="1600" dirty="0">
                <a:solidFill>
                  <a:srgbClr val="222222"/>
                </a:solidFill>
                <a:latin typeface="Calibri" pitchFamily="34" charset="0"/>
                <a:ea typeface="Calibri" pitchFamily="34" charset="-122"/>
                <a:cs typeface="Calibri" pitchFamily="34" charset="-120"/>
              </a:rPr>
              <a:t>Formal authority — power comes from official position.</a:t>
            </a:r>
            <a:endParaRPr lang="en-US" sz="1600" dirty="0"/>
          </a:p>
          <a:p>
            <a:pPr marL="228600" indent="-228600">
              <a:spcAft>
                <a:spcPts val="1200"/>
              </a:spcAft>
              <a:buSzPct val="100000"/>
              <a:buChar char="●"/>
            </a:pPr>
            <a:r>
              <a:rPr lang="en-US" sz="1600" dirty="0">
                <a:solidFill>
                  <a:srgbClr val="222222"/>
                </a:solidFill>
                <a:latin typeface="Calibri" pitchFamily="34" charset="0"/>
                <a:ea typeface="Calibri" pitchFamily="34" charset="-122"/>
                <a:cs typeface="Calibri" pitchFamily="34" charset="-120"/>
              </a:rPr>
              <a:t>Delegation — work and authority flow from top to bottom.</a:t>
            </a:r>
            <a:endParaRPr lang="en-US" sz="1600" dirty="0"/>
          </a:p>
          <a:p>
            <a:pPr marL="228600" indent="-228600">
              <a:spcAft>
                <a:spcPts val="1200"/>
              </a:spcAft>
              <a:buSzPct val="100000"/>
              <a:buChar char="●"/>
            </a:pPr>
            <a:r>
              <a:rPr lang="en-US" sz="1600" dirty="0">
                <a:solidFill>
                  <a:srgbClr val="222222"/>
                </a:solidFill>
                <a:latin typeface="Calibri" pitchFamily="34" charset="0"/>
                <a:ea typeface="Calibri" pitchFamily="34" charset="-122"/>
                <a:cs typeface="Calibri" pitchFamily="34" charset="-120"/>
              </a:rPr>
              <a:t>Coordination — managers align everyone toward common goals.</a:t>
            </a:r>
            <a:endParaRPr lang="en-US" sz="1600" dirty="0"/>
          </a:p>
        </p:txBody>
      </p:sp>
      <p:pic>
        <p:nvPicPr>
          <p:cNvPr id="6" name="Picture 5" descr="C:\Users\madam\AppData\Local\Temp\UPSA NEW LOGO.png"/>
          <p:cNvPicPr/>
          <p:nvPr/>
        </p:nvPicPr>
        <p:blipFill>
          <a:blip r:embed="rId3" cstate="print"/>
          <a:srcRect/>
          <a:stretch>
            <a:fillRect/>
          </a:stretch>
        </p:blipFill>
        <p:spPr bwMode="auto">
          <a:xfrm>
            <a:off x="6870138" y="218485"/>
            <a:ext cx="4814760" cy="971043"/>
          </a:xfrm>
          <a:prstGeom prst="rect">
            <a:avLst/>
          </a:prstGeom>
          <a:noFill/>
          <a:ln w="9525">
            <a:noFill/>
            <a:miter lim="800000"/>
            <a:headEnd/>
            <a:tailEnd/>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FORMAL ORGANIZATION</a:t>
            </a:r>
            <a:endParaRPr lang="en-US" sz="1200" dirty="0"/>
          </a:p>
        </p:txBody>
      </p:sp>
      <p:sp>
        <p:nvSpPr>
          <p:cNvPr id="3" name="Text 1"/>
          <p:cNvSpPr/>
          <p:nvPr/>
        </p:nvSpPr>
        <p:spPr>
          <a:xfrm>
            <a:off x="548640" y="594360"/>
            <a:ext cx="10972800" cy="685800"/>
          </a:xfrm>
          <a:prstGeom prst="rect">
            <a:avLst/>
          </a:prstGeom>
          <a:noFill/>
          <a:ln/>
        </p:spPr>
        <p:txBody>
          <a:bodyPr wrap="square" rtlCol="0" anchor="ctr"/>
          <a:lstStyle/>
          <a:p>
            <a:pPr marL="0" indent="0">
              <a:buNone/>
            </a:pPr>
            <a:r>
              <a:rPr lang="en-US" sz="2800" b="1" dirty="0">
                <a:solidFill>
                  <a:srgbClr val="21295C"/>
                </a:solidFill>
                <a:latin typeface="Cambria" pitchFamily="34" charset="0"/>
                <a:ea typeface="Cambria" pitchFamily="34" charset="-122"/>
                <a:cs typeface="Cambria" pitchFamily="34" charset="-120"/>
              </a:rPr>
              <a:t>Formal Organization: Benefits &amp; Limits</a:t>
            </a:r>
            <a:endParaRPr lang="en-US" sz="2800" dirty="0"/>
          </a:p>
        </p:txBody>
      </p:sp>
      <p:sp>
        <p:nvSpPr>
          <p:cNvPr id="4" name="Text 2"/>
          <p:cNvSpPr/>
          <p:nvPr/>
        </p:nvSpPr>
        <p:spPr>
          <a:xfrm>
            <a:off x="548640" y="6473952"/>
            <a:ext cx="5486400" cy="274320"/>
          </a:xfrm>
          <a:prstGeom prst="rect">
            <a:avLst/>
          </a:prstGeom>
          <a:noFill/>
          <a:ln/>
        </p:spPr>
        <p:txBody>
          <a:bodyPr wrap="square" rtlCol="0" anchor="ctr"/>
          <a:lstStyle/>
          <a:p>
            <a:pPr marL="0" indent="0">
              <a:buNone/>
            </a:pPr>
            <a:r>
              <a:rPr lang="en-US" sz="900" dirty="0">
                <a:solidFill>
                  <a:srgbClr val="AAAAAA"/>
                </a:solidFill>
                <a:latin typeface="Calibri" pitchFamily="34" charset="0"/>
                <a:ea typeface="Calibri" pitchFamily="34" charset="-122"/>
                <a:cs typeface="Calibri" pitchFamily="34" charset="-120"/>
              </a:rPr>
              <a:t>Organizing — Study Guide</a:t>
            </a:r>
            <a:endParaRPr lang="en-US" sz="900" dirty="0"/>
          </a:p>
        </p:txBody>
      </p:sp>
      <p:sp>
        <p:nvSpPr>
          <p:cNvPr id="5" name="Shape 3"/>
          <p:cNvSpPr/>
          <p:nvPr/>
        </p:nvSpPr>
        <p:spPr>
          <a:xfrm>
            <a:off x="640080" y="1508760"/>
            <a:ext cx="5349240" cy="502920"/>
          </a:xfrm>
          <a:prstGeom prst="roundRect">
            <a:avLst>
              <a:gd name="adj" fmla="val 14545"/>
            </a:avLst>
          </a:prstGeom>
          <a:solidFill>
            <a:srgbClr val="2E8B57"/>
          </a:solidFill>
          <a:ln/>
        </p:spPr>
      </p:sp>
      <p:sp>
        <p:nvSpPr>
          <p:cNvPr id="6" name="Text 4"/>
          <p:cNvSpPr/>
          <p:nvPr/>
        </p:nvSpPr>
        <p:spPr>
          <a:xfrm>
            <a:off x="640080" y="1508760"/>
            <a:ext cx="5349240" cy="50292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Benefits</a:t>
            </a:r>
            <a:endParaRPr lang="en-US" sz="1500" dirty="0"/>
          </a:p>
        </p:txBody>
      </p:sp>
      <p:sp>
        <p:nvSpPr>
          <p:cNvPr id="7" name="Text 5"/>
          <p:cNvSpPr/>
          <p:nvPr/>
        </p:nvSpPr>
        <p:spPr>
          <a:xfrm>
            <a:off x="777240" y="2194560"/>
            <a:ext cx="5074920" cy="4206240"/>
          </a:xfrm>
          <a:prstGeom prst="rect">
            <a:avLst/>
          </a:prstGeom>
          <a:noFill/>
          <a:ln/>
        </p:spPr>
        <p:txBody>
          <a:bodyPr wrap="square" rtlCol="0" anchor="ctr"/>
          <a:lstStyle/>
          <a:p>
            <a:pPr marL="342900" indent="-342900">
              <a:spcAft>
                <a:spcPts val="1000"/>
              </a:spcAft>
              <a:buSzPct val="100000"/>
              <a:buChar char="✓"/>
            </a:pPr>
            <a:r>
              <a:rPr lang="en-US" sz="1300" dirty="0">
                <a:solidFill>
                  <a:srgbClr val="222222"/>
                </a:solidFill>
                <a:latin typeface="Calibri" pitchFamily="34" charset="0"/>
                <a:ea typeface="Calibri" pitchFamily="34" charset="-122"/>
                <a:cs typeface="Calibri" pitchFamily="34" charset="-120"/>
              </a:rPr>
              <a:t>Clear goals and authority relationships</a:t>
            </a:r>
            <a:endParaRPr lang="en-US" sz="1300" dirty="0"/>
          </a:p>
          <a:p>
            <a:pPr marL="342900" indent="-342900">
              <a:spcAft>
                <a:spcPts val="1000"/>
              </a:spcAft>
              <a:buSzPct val="100000"/>
              <a:buChar char="✓"/>
            </a:pPr>
            <a:r>
              <a:rPr lang="en-US" sz="1300" dirty="0">
                <a:solidFill>
                  <a:srgbClr val="222222"/>
                </a:solidFill>
                <a:latin typeface="Calibri" pitchFamily="34" charset="0"/>
                <a:ea typeface="Calibri" pitchFamily="34" charset="-122"/>
                <a:cs typeface="Calibri" pitchFamily="34" charset="-120"/>
              </a:rPr>
              <a:t>Optimum use of scarce resources</a:t>
            </a:r>
            <a:endParaRPr lang="en-US" sz="1300" dirty="0"/>
          </a:p>
          <a:p>
            <a:pPr marL="342900" indent="-342900">
              <a:spcAft>
                <a:spcPts val="1000"/>
              </a:spcAft>
              <a:buSzPct val="100000"/>
              <a:buChar char="✓"/>
            </a:pPr>
            <a:r>
              <a:rPr lang="en-US" sz="1300" dirty="0">
                <a:solidFill>
                  <a:srgbClr val="222222"/>
                </a:solidFill>
                <a:latin typeface="Calibri" pitchFamily="34" charset="0"/>
                <a:ea typeface="Calibri" pitchFamily="34" charset="-122"/>
                <a:cs typeface="Calibri" pitchFamily="34" charset="-120"/>
              </a:rPr>
              <a:t>Clear communication system</a:t>
            </a:r>
            <a:endParaRPr lang="en-US" sz="1300" dirty="0"/>
          </a:p>
          <a:p>
            <a:pPr marL="342900" indent="-342900">
              <a:spcAft>
                <a:spcPts val="1000"/>
              </a:spcAft>
              <a:buSzPct val="100000"/>
              <a:buChar char="✓"/>
            </a:pPr>
            <a:r>
              <a:rPr lang="en-US" sz="1300" dirty="0">
                <a:solidFill>
                  <a:srgbClr val="222222"/>
                </a:solidFill>
                <a:latin typeface="Calibri" pitchFamily="34" charset="0"/>
                <a:ea typeface="Calibri" pitchFamily="34" charset="-122"/>
                <a:cs typeface="Calibri" pitchFamily="34" charset="-120"/>
              </a:rPr>
              <a:t>Avoids overlapping activities</a:t>
            </a:r>
            <a:endParaRPr lang="en-US" sz="1300" dirty="0"/>
          </a:p>
          <a:p>
            <a:pPr marL="342900" indent="-342900">
              <a:spcAft>
                <a:spcPts val="1000"/>
              </a:spcAft>
              <a:buSzPct val="100000"/>
              <a:buChar char="✓"/>
            </a:pPr>
            <a:r>
              <a:rPr lang="en-US" sz="1300" dirty="0">
                <a:solidFill>
                  <a:srgbClr val="222222"/>
                </a:solidFill>
                <a:latin typeface="Calibri" pitchFamily="34" charset="0"/>
                <a:ea typeface="Calibri" pitchFamily="34" charset="-122"/>
                <a:cs typeface="Calibri" pitchFamily="34" charset="-120"/>
              </a:rPr>
              <a:t>Clear career advancement paths</a:t>
            </a:r>
            <a:endParaRPr lang="en-US" sz="1300" dirty="0"/>
          </a:p>
          <a:p>
            <a:pPr marL="342900" indent="-342900">
              <a:spcAft>
                <a:spcPts val="1000"/>
              </a:spcAft>
              <a:buSzPct val="100000"/>
              <a:buChar char="✓"/>
            </a:pPr>
            <a:r>
              <a:rPr lang="en-US" sz="1300" dirty="0">
                <a:solidFill>
                  <a:srgbClr val="222222"/>
                </a:solidFill>
                <a:latin typeface="Calibri" pitchFamily="34" charset="0"/>
                <a:ea typeface="Calibri" pitchFamily="34" charset="-122"/>
                <a:cs typeface="Calibri" pitchFamily="34" charset="-120"/>
              </a:rPr>
              <a:t>Reduces employee turnover</a:t>
            </a:r>
            <a:endParaRPr lang="en-US" sz="1300" dirty="0"/>
          </a:p>
        </p:txBody>
      </p:sp>
      <p:sp>
        <p:nvSpPr>
          <p:cNvPr id="8" name="Shape 6"/>
          <p:cNvSpPr/>
          <p:nvPr/>
        </p:nvSpPr>
        <p:spPr>
          <a:xfrm>
            <a:off x="6355080" y="1508760"/>
            <a:ext cx="5349240" cy="502920"/>
          </a:xfrm>
          <a:prstGeom prst="roundRect">
            <a:avLst>
              <a:gd name="adj" fmla="val 14545"/>
            </a:avLst>
          </a:prstGeom>
          <a:solidFill>
            <a:srgbClr val="B23A48"/>
          </a:solidFill>
          <a:ln/>
        </p:spPr>
      </p:sp>
      <p:sp>
        <p:nvSpPr>
          <p:cNvPr id="9" name="Text 7"/>
          <p:cNvSpPr/>
          <p:nvPr/>
        </p:nvSpPr>
        <p:spPr>
          <a:xfrm>
            <a:off x="6355080" y="1508760"/>
            <a:ext cx="5349240" cy="50292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Limitations</a:t>
            </a:r>
            <a:endParaRPr lang="en-US" sz="1500" dirty="0"/>
          </a:p>
        </p:txBody>
      </p:sp>
      <p:sp>
        <p:nvSpPr>
          <p:cNvPr id="10" name="Text 8"/>
          <p:cNvSpPr/>
          <p:nvPr/>
        </p:nvSpPr>
        <p:spPr>
          <a:xfrm>
            <a:off x="6492240" y="2194560"/>
            <a:ext cx="5074920" cy="4206240"/>
          </a:xfrm>
          <a:prstGeom prst="rect">
            <a:avLst/>
          </a:prstGeom>
          <a:noFill/>
          <a:ln/>
        </p:spPr>
        <p:txBody>
          <a:bodyPr wrap="square" rtlCol="0" anchor="ctr"/>
          <a:lstStyle/>
          <a:p>
            <a:pPr marL="342900" indent="-342900">
              <a:spcAft>
                <a:spcPts val="1000"/>
              </a:spcAft>
              <a:buSzPct val="100000"/>
              <a:buChar char="✗"/>
            </a:pPr>
            <a:r>
              <a:rPr lang="en-US" sz="1300" dirty="0">
                <a:solidFill>
                  <a:srgbClr val="222222"/>
                </a:solidFill>
                <a:latin typeface="Calibri" pitchFamily="34" charset="0"/>
                <a:ea typeface="Calibri" pitchFamily="34" charset="-122"/>
                <a:cs typeface="Calibri" pitchFamily="34" charset="-120"/>
              </a:rPr>
              <a:t>Loss of initiative — too much rule focus limits creativity</a:t>
            </a:r>
            <a:endParaRPr lang="en-US" sz="1300" dirty="0"/>
          </a:p>
          <a:p>
            <a:pPr marL="342900" indent="-342900">
              <a:spcAft>
                <a:spcPts val="1000"/>
              </a:spcAft>
              <a:buSzPct val="100000"/>
              <a:buChar char="✗"/>
            </a:pPr>
            <a:r>
              <a:rPr lang="en-US" sz="1300" dirty="0">
                <a:solidFill>
                  <a:srgbClr val="222222"/>
                </a:solidFill>
                <a:latin typeface="Calibri" pitchFamily="34" charset="0"/>
                <a:ea typeface="Calibri" pitchFamily="34" charset="-122"/>
                <a:cs typeface="Calibri" pitchFamily="34" charset="-120"/>
              </a:rPr>
              <a:t>Unsatisfied social needs — limited personal interaction</a:t>
            </a:r>
            <a:endParaRPr lang="en-US" sz="1300" dirty="0"/>
          </a:p>
        </p:txBody>
      </p:sp>
      <p:pic>
        <p:nvPicPr>
          <p:cNvPr id="11" name="Picture 10" descr="C:\Users\madam\AppData\Local\Temp\UPSA NEW LOGO.png"/>
          <p:cNvPicPr/>
          <p:nvPr/>
        </p:nvPicPr>
        <p:blipFill>
          <a:blip r:embed="rId3" cstate="print"/>
          <a:srcRect/>
          <a:stretch>
            <a:fillRect/>
          </a:stretch>
        </p:blipFill>
        <p:spPr bwMode="auto">
          <a:xfrm>
            <a:off x="7129083" y="81349"/>
            <a:ext cx="4894872" cy="1189101"/>
          </a:xfrm>
          <a:prstGeom prst="rect">
            <a:avLst/>
          </a:prstGeom>
          <a:noFill/>
          <a:ln w="9525">
            <a:noFill/>
            <a:miter lim="800000"/>
            <a:headEnd/>
            <a:tailEnd/>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INFORMAL ORGANIZATION</a:t>
            </a:r>
            <a:endParaRPr lang="en-US" sz="1200" dirty="0"/>
          </a:p>
        </p:txBody>
      </p:sp>
      <p:sp>
        <p:nvSpPr>
          <p:cNvPr id="3" name="Text 1"/>
          <p:cNvSpPr/>
          <p:nvPr/>
        </p:nvSpPr>
        <p:spPr>
          <a:xfrm>
            <a:off x="548640" y="594360"/>
            <a:ext cx="10972800" cy="685800"/>
          </a:xfrm>
          <a:prstGeom prst="rect">
            <a:avLst/>
          </a:prstGeom>
          <a:noFill/>
          <a:ln/>
        </p:spPr>
        <p:txBody>
          <a:bodyPr wrap="square" rtlCol="0" anchor="ctr"/>
          <a:lstStyle/>
          <a:p>
            <a:pPr marL="0" indent="0">
              <a:buNone/>
            </a:pPr>
            <a:r>
              <a:rPr lang="en-US" sz="2800" b="1" dirty="0">
                <a:solidFill>
                  <a:srgbClr val="21295C"/>
                </a:solidFill>
                <a:latin typeface="Cambria" pitchFamily="34" charset="0"/>
                <a:ea typeface="Cambria" pitchFamily="34" charset="-122"/>
                <a:cs typeface="Cambria" pitchFamily="34" charset="-120"/>
              </a:rPr>
              <a:t>What Is It?</a:t>
            </a:r>
            <a:endParaRPr lang="en-US" sz="2800" dirty="0"/>
          </a:p>
        </p:txBody>
      </p:sp>
      <p:sp>
        <p:nvSpPr>
          <p:cNvPr id="4" name="Text 2"/>
          <p:cNvSpPr/>
          <p:nvPr/>
        </p:nvSpPr>
        <p:spPr>
          <a:xfrm>
            <a:off x="548640" y="6473952"/>
            <a:ext cx="5486400" cy="274320"/>
          </a:xfrm>
          <a:prstGeom prst="rect">
            <a:avLst/>
          </a:prstGeom>
          <a:noFill/>
          <a:ln/>
        </p:spPr>
        <p:txBody>
          <a:bodyPr wrap="square" rtlCol="0" anchor="ctr"/>
          <a:lstStyle/>
          <a:p>
            <a:pPr marL="0" indent="0">
              <a:buNone/>
            </a:pPr>
            <a:r>
              <a:rPr lang="en-US" sz="900" dirty="0">
                <a:solidFill>
                  <a:srgbClr val="AAAAAA"/>
                </a:solidFill>
                <a:latin typeface="Calibri" pitchFamily="34" charset="0"/>
                <a:ea typeface="Calibri" pitchFamily="34" charset="-122"/>
                <a:cs typeface="Calibri" pitchFamily="34" charset="-120"/>
              </a:rPr>
              <a:t>Organizing — Study Guide</a:t>
            </a:r>
            <a:endParaRPr lang="en-US" sz="900" dirty="0"/>
          </a:p>
        </p:txBody>
      </p:sp>
      <p:sp>
        <p:nvSpPr>
          <p:cNvPr id="5" name="Text 3"/>
          <p:cNvSpPr/>
          <p:nvPr/>
        </p:nvSpPr>
        <p:spPr>
          <a:xfrm>
            <a:off x="640080" y="1508760"/>
            <a:ext cx="10881360" cy="3931920"/>
          </a:xfrm>
          <a:prstGeom prst="rect">
            <a:avLst/>
          </a:prstGeom>
          <a:noFill/>
          <a:ln/>
        </p:spPr>
        <p:txBody>
          <a:bodyPr wrap="square" rtlCol="0" anchor="ctr"/>
          <a:lstStyle/>
          <a:p>
            <a:pPr marL="342900" indent="-342900">
              <a:spcAft>
                <a:spcPts val="1100"/>
              </a:spcAft>
              <a:buSzPct val="100000"/>
              <a:buChar char="●"/>
            </a:pPr>
            <a:r>
              <a:rPr lang="en-US" sz="1600" dirty="0">
                <a:solidFill>
                  <a:srgbClr val="222222"/>
                </a:solidFill>
                <a:latin typeface="Calibri" pitchFamily="34" charset="0"/>
                <a:ea typeface="Calibri" pitchFamily="34" charset="-122"/>
                <a:cs typeface="Calibri" pitchFamily="34" charset="-120"/>
              </a:rPr>
              <a:t>Unplanned, unofficial social interactions among people at work.</a:t>
            </a:r>
            <a:endParaRPr lang="en-US" sz="1600" dirty="0"/>
          </a:p>
          <a:p>
            <a:pPr marL="342900" indent="-342900">
              <a:spcAft>
                <a:spcPts val="1100"/>
              </a:spcAft>
              <a:buSzPct val="100000"/>
              <a:buChar char="●"/>
            </a:pPr>
            <a:r>
              <a:rPr lang="en-US" sz="1600" dirty="0">
                <a:solidFill>
                  <a:srgbClr val="222222"/>
                </a:solidFill>
                <a:latin typeface="Calibri" pitchFamily="34" charset="0"/>
                <a:ea typeface="Calibri" pitchFamily="34" charset="-122"/>
                <a:cs typeface="Calibri" pitchFamily="34" charset="-120"/>
              </a:rPr>
              <a:t>Arise naturally out of people's common interests.</a:t>
            </a:r>
            <a:endParaRPr lang="en-US" sz="1600" dirty="0"/>
          </a:p>
          <a:p>
            <a:pPr marL="342900" indent="-342900">
              <a:spcAft>
                <a:spcPts val="1100"/>
              </a:spcAft>
              <a:buSzPct val="100000"/>
              <a:buChar char="●"/>
            </a:pPr>
            <a:r>
              <a:rPr lang="en-US" sz="1600" dirty="0">
                <a:solidFill>
                  <a:srgbClr val="222222"/>
                </a:solidFill>
                <a:latin typeface="Calibri" pitchFamily="34" charset="0"/>
                <a:ea typeface="Calibri" pitchFamily="34" charset="-122"/>
                <a:cs typeface="Calibri" pitchFamily="34" charset="-120"/>
              </a:rPr>
              <a:t>Not governed by formal rules, but still an important part of the company.</a:t>
            </a:r>
            <a:endParaRPr lang="en-US" sz="1600" dirty="0"/>
          </a:p>
          <a:p>
            <a:pPr marL="342900" indent="-342900">
              <a:spcAft>
                <a:spcPts val="1100"/>
              </a:spcAft>
              <a:buSzPct val="100000"/>
              <a:buChar char="●"/>
            </a:pPr>
            <a:r>
              <a:rPr lang="en-US" sz="1600" dirty="0">
                <a:solidFill>
                  <a:srgbClr val="222222"/>
                </a:solidFill>
                <a:latin typeface="Calibri" pitchFamily="34" charset="0"/>
                <a:ea typeface="Calibri" pitchFamily="34" charset="-122"/>
                <a:cs typeface="Calibri" pitchFamily="34" charset="-120"/>
              </a:rPr>
              <a:t>E. Wright Bakke calls this the "fusion process."</a:t>
            </a:r>
            <a:endParaRPr lang="en-US" sz="1600" dirty="0"/>
          </a:p>
          <a:p>
            <a:pPr marL="342900" indent="-342900">
              <a:spcAft>
                <a:spcPts val="1100"/>
              </a:spcAft>
              <a:buSzPct val="100000"/>
              <a:buChar char="●"/>
            </a:pPr>
            <a:r>
              <a:rPr lang="en-US" sz="1600" dirty="0">
                <a:solidFill>
                  <a:srgbClr val="222222"/>
                </a:solidFill>
                <a:latin typeface="Calibri" pitchFamily="34" charset="0"/>
                <a:ea typeface="Calibri" pitchFamily="34" charset="-122"/>
                <a:cs typeface="Calibri" pitchFamily="34" charset="-120"/>
              </a:rPr>
              <a:t>People form groups around shared goals — known as group goals.</a:t>
            </a:r>
            <a:endParaRPr lang="en-US" sz="1600" dirty="0"/>
          </a:p>
        </p:txBody>
      </p:sp>
      <p:sp>
        <p:nvSpPr>
          <p:cNvPr id="6" name="Shape 4"/>
          <p:cNvSpPr/>
          <p:nvPr/>
        </p:nvSpPr>
        <p:spPr>
          <a:xfrm>
            <a:off x="548640" y="5669280"/>
            <a:ext cx="11064240" cy="658368"/>
          </a:xfrm>
          <a:prstGeom prst="roundRect">
            <a:avLst>
              <a:gd name="adj" fmla="val 11111"/>
            </a:avLst>
          </a:prstGeom>
          <a:solidFill>
            <a:srgbClr val="EAF3F7"/>
          </a:solidFill>
          <a:ln/>
        </p:spPr>
      </p:sp>
      <p:sp>
        <p:nvSpPr>
          <p:cNvPr id="7" name="Text 5"/>
          <p:cNvSpPr/>
          <p:nvPr/>
        </p:nvSpPr>
        <p:spPr>
          <a:xfrm>
            <a:off x="777240" y="5724144"/>
            <a:ext cx="10607040" cy="548640"/>
          </a:xfrm>
          <a:prstGeom prst="rect">
            <a:avLst/>
          </a:prstGeom>
          <a:noFill/>
          <a:ln/>
        </p:spPr>
        <p:txBody>
          <a:bodyPr wrap="square" rtlCol="0" anchor="ctr"/>
          <a:lstStyle/>
          <a:p>
            <a:pPr marL="0" indent="0">
              <a:buNone/>
            </a:pPr>
            <a:r>
              <a:rPr lang="en-US" sz="1300" i="1" dirty="0">
                <a:solidFill>
                  <a:srgbClr val="21295C"/>
                </a:solidFill>
                <a:latin typeface="Calibri" pitchFamily="34" charset="0"/>
                <a:ea typeface="Calibri" pitchFamily="34" charset="-122"/>
                <a:cs typeface="Calibri" pitchFamily="34" charset="-120"/>
              </a:rPr>
              <a:t>💡 It grows naturally alongside the formal structure as a company gets bigger.</a:t>
            </a:r>
            <a:endParaRPr lang="en-US" sz="1300" dirty="0"/>
          </a:p>
        </p:txBody>
      </p:sp>
      <p:pic>
        <p:nvPicPr>
          <p:cNvPr id="8" name="Picture 7" descr="C:\Users\madam\AppData\Local\Temp\UPSA NEW LOGO.png"/>
          <p:cNvPicPr/>
          <p:nvPr/>
        </p:nvPicPr>
        <p:blipFill>
          <a:blip r:embed="rId3" cstate="print"/>
          <a:srcRect/>
          <a:stretch>
            <a:fillRect/>
          </a:stretch>
        </p:blipFill>
        <p:spPr bwMode="auto">
          <a:xfrm>
            <a:off x="6910597" y="129474"/>
            <a:ext cx="4798577" cy="1232982"/>
          </a:xfrm>
          <a:prstGeom prst="rect">
            <a:avLst/>
          </a:prstGeom>
          <a:noFill/>
          <a:ln w="9525">
            <a:noFill/>
            <a:miter lim="800000"/>
            <a:headEnd/>
            <a:tailEnd/>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INFORMAL ORGANIZATION</a:t>
            </a:r>
            <a:endParaRPr lang="en-US" sz="1200" dirty="0"/>
          </a:p>
        </p:txBody>
      </p:sp>
      <p:sp>
        <p:nvSpPr>
          <p:cNvPr id="3" name="Text 1"/>
          <p:cNvSpPr/>
          <p:nvPr/>
        </p:nvSpPr>
        <p:spPr>
          <a:xfrm>
            <a:off x="548640" y="594360"/>
            <a:ext cx="10972800" cy="685800"/>
          </a:xfrm>
          <a:prstGeom prst="rect">
            <a:avLst/>
          </a:prstGeom>
          <a:noFill/>
          <a:ln/>
        </p:spPr>
        <p:txBody>
          <a:bodyPr wrap="square" rtlCol="0" anchor="ctr"/>
          <a:lstStyle/>
          <a:p>
            <a:pPr marL="0" indent="0">
              <a:buNone/>
            </a:pPr>
            <a:r>
              <a:rPr lang="en-US" sz="2800" b="1" dirty="0">
                <a:solidFill>
                  <a:srgbClr val="21295C"/>
                </a:solidFill>
                <a:latin typeface="Cambria" pitchFamily="34" charset="0"/>
                <a:ea typeface="Cambria" pitchFamily="34" charset="-122"/>
                <a:cs typeface="Cambria" pitchFamily="34" charset="-120"/>
              </a:rPr>
              <a:t>Key Features</a:t>
            </a:r>
            <a:endParaRPr lang="en-US" sz="2800" dirty="0"/>
          </a:p>
        </p:txBody>
      </p:sp>
      <p:sp>
        <p:nvSpPr>
          <p:cNvPr id="4" name="Text 2"/>
          <p:cNvSpPr/>
          <p:nvPr/>
        </p:nvSpPr>
        <p:spPr>
          <a:xfrm>
            <a:off x="548640" y="6473952"/>
            <a:ext cx="5486400" cy="274320"/>
          </a:xfrm>
          <a:prstGeom prst="rect">
            <a:avLst/>
          </a:prstGeom>
          <a:noFill/>
          <a:ln/>
        </p:spPr>
        <p:txBody>
          <a:bodyPr wrap="square" rtlCol="0" anchor="ctr"/>
          <a:lstStyle/>
          <a:p>
            <a:pPr marL="0" indent="0">
              <a:buNone/>
            </a:pPr>
            <a:r>
              <a:rPr lang="en-US" sz="900" dirty="0">
                <a:solidFill>
                  <a:srgbClr val="AAAAAA"/>
                </a:solidFill>
                <a:latin typeface="Calibri" pitchFamily="34" charset="0"/>
                <a:ea typeface="Calibri" pitchFamily="34" charset="-122"/>
                <a:cs typeface="Calibri" pitchFamily="34" charset="-120"/>
              </a:rPr>
              <a:t>Organizing — Study Guide</a:t>
            </a:r>
            <a:endParaRPr lang="en-US" sz="900" dirty="0"/>
          </a:p>
        </p:txBody>
      </p:sp>
      <p:sp>
        <p:nvSpPr>
          <p:cNvPr id="5" name="Text 3"/>
          <p:cNvSpPr/>
          <p:nvPr/>
        </p:nvSpPr>
        <p:spPr>
          <a:xfrm>
            <a:off x="640080" y="1508760"/>
            <a:ext cx="10881360" cy="4754880"/>
          </a:xfrm>
          <a:prstGeom prst="rect">
            <a:avLst/>
          </a:prstGeom>
          <a:noFill/>
          <a:ln/>
        </p:spPr>
        <p:txBody>
          <a:bodyPr wrap="square" rtlCol="0" anchor="t"/>
          <a:lstStyle/>
          <a:p>
            <a:pPr marL="228600" indent="-228600">
              <a:spcAft>
                <a:spcPts val="1200"/>
              </a:spcAft>
              <a:buSzPct val="100000"/>
              <a:buChar char="●"/>
            </a:pPr>
            <a:r>
              <a:rPr lang="en-US" sz="1600" dirty="0">
                <a:solidFill>
                  <a:srgbClr val="222222"/>
                </a:solidFill>
                <a:latin typeface="Calibri" pitchFamily="34" charset="0"/>
                <a:ea typeface="Calibri" pitchFamily="34" charset="-122"/>
                <a:cs typeface="Calibri" pitchFamily="34" charset="-120"/>
              </a:rPr>
              <a:t>Unplanned structure — arises spontaneously from interactions.</a:t>
            </a:r>
            <a:endParaRPr lang="en-US" sz="1600" dirty="0"/>
          </a:p>
          <a:p>
            <a:pPr marL="228600" indent="-228600">
              <a:spcAft>
                <a:spcPts val="1200"/>
              </a:spcAft>
              <a:buSzPct val="100000"/>
              <a:buChar char="●"/>
            </a:pPr>
            <a:r>
              <a:rPr lang="en-US" sz="1600" dirty="0">
                <a:solidFill>
                  <a:srgbClr val="222222"/>
                </a:solidFill>
                <a:latin typeface="Calibri" pitchFamily="34" charset="0"/>
                <a:ea typeface="Calibri" pitchFamily="34" charset="-122"/>
                <a:cs typeface="Calibri" pitchFamily="34" charset="-120"/>
              </a:rPr>
              <a:t>Fulfills social needs — friendship, love, and support.</a:t>
            </a:r>
            <a:endParaRPr lang="en-US" sz="1600" dirty="0"/>
          </a:p>
          <a:p>
            <a:pPr marL="228600" indent="-228600">
              <a:spcAft>
                <a:spcPts val="1200"/>
              </a:spcAft>
              <a:buSzPct val="100000"/>
              <a:buChar char="●"/>
            </a:pPr>
            <a:r>
              <a:rPr lang="en-US" sz="1600" dirty="0">
                <a:solidFill>
                  <a:srgbClr val="222222"/>
                </a:solidFill>
                <a:latin typeface="Calibri" pitchFamily="34" charset="0"/>
                <a:ea typeface="Calibri" pitchFamily="34" charset="-122"/>
                <a:cs typeface="Calibri" pitchFamily="34" charset="-120"/>
              </a:rPr>
              <a:t>No formal structure — not shown on any official chart.</a:t>
            </a:r>
            <a:endParaRPr lang="en-US" sz="1600" dirty="0"/>
          </a:p>
          <a:p>
            <a:pPr marL="228600" indent="-228600">
              <a:spcAft>
                <a:spcPts val="1200"/>
              </a:spcAft>
              <a:buSzPct val="100000"/>
              <a:buChar char="●"/>
            </a:pPr>
            <a:r>
              <a:rPr lang="en-US" sz="1600" dirty="0">
                <a:solidFill>
                  <a:srgbClr val="222222"/>
                </a:solidFill>
                <a:latin typeface="Calibri" pitchFamily="34" charset="0"/>
                <a:ea typeface="Calibri" pitchFamily="34" charset="-122"/>
                <a:cs typeface="Calibri" pitchFamily="34" charset="-120"/>
              </a:rPr>
              <a:t>Informal leaders — chosen naturally by the group.</a:t>
            </a:r>
            <a:endParaRPr lang="en-US" sz="1600" dirty="0"/>
          </a:p>
          <a:p>
            <a:pPr marL="228600" indent="-228600">
              <a:spcAft>
                <a:spcPts val="1200"/>
              </a:spcAft>
              <a:buSzPct val="100000"/>
              <a:buChar char="●"/>
            </a:pPr>
            <a:r>
              <a:rPr lang="en-US" sz="1600" dirty="0">
                <a:solidFill>
                  <a:srgbClr val="222222"/>
                </a:solidFill>
                <a:latin typeface="Calibri" pitchFamily="34" charset="0"/>
                <a:ea typeface="Calibri" pitchFamily="34" charset="-122"/>
                <a:cs typeface="Calibri" pitchFamily="34" charset="-120"/>
              </a:rPr>
              <a:t>Informal communication — faster, skips the chain of command.</a:t>
            </a:r>
            <a:endParaRPr lang="en-US" sz="1600" dirty="0"/>
          </a:p>
          <a:p>
            <a:pPr marL="228600" indent="-228600">
              <a:spcAft>
                <a:spcPts val="1200"/>
              </a:spcAft>
              <a:buSzPct val="100000"/>
              <a:buChar char="●"/>
            </a:pPr>
            <a:r>
              <a:rPr lang="en-US" sz="1600" dirty="0">
                <a:solidFill>
                  <a:srgbClr val="222222"/>
                </a:solidFill>
                <a:latin typeface="Calibri" pitchFamily="34" charset="0"/>
                <a:ea typeface="Calibri" pitchFamily="34" charset="-122"/>
                <a:cs typeface="Calibri" pitchFamily="34" charset="-120"/>
              </a:rPr>
              <a:t>No fixed rules — set and changed by the group itself.</a:t>
            </a:r>
            <a:endParaRPr lang="en-US" sz="1600" dirty="0"/>
          </a:p>
          <a:p>
            <a:pPr marL="228600" indent="-228600">
              <a:spcAft>
                <a:spcPts val="1200"/>
              </a:spcAft>
              <a:buSzPct val="100000"/>
              <a:buChar char="●"/>
            </a:pPr>
            <a:r>
              <a:rPr lang="en-US" sz="1600" dirty="0">
                <a:solidFill>
                  <a:srgbClr val="222222"/>
                </a:solidFill>
                <a:latin typeface="Calibri" pitchFamily="34" charset="0"/>
                <a:ea typeface="Calibri" pitchFamily="34" charset="-122"/>
                <a:cs typeface="Calibri" pitchFamily="34" charset="-120"/>
              </a:rPr>
              <a:t>No fixed tenure — forms and dissolves at will.</a:t>
            </a:r>
            <a:endParaRPr lang="en-US" sz="1600" dirty="0"/>
          </a:p>
        </p:txBody>
      </p:sp>
      <p:pic>
        <p:nvPicPr>
          <p:cNvPr id="6" name="Picture 5" descr="C:\Users\madam\AppData\Local\Temp\UPSA NEW LOGO.png"/>
          <p:cNvPicPr/>
          <p:nvPr/>
        </p:nvPicPr>
        <p:blipFill>
          <a:blip r:embed="rId3" cstate="print"/>
          <a:srcRect/>
          <a:stretch>
            <a:fillRect/>
          </a:stretch>
        </p:blipFill>
        <p:spPr bwMode="auto">
          <a:xfrm>
            <a:off x="6684020" y="320041"/>
            <a:ext cx="4850771" cy="978408"/>
          </a:xfrm>
          <a:prstGeom prst="rect">
            <a:avLst/>
          </a:prstGeom>
          <a:noFill/>
          <a:ln w="9525">
            <a:noFill/>
            <a:miter lim="800000"/>
            <a:headEnd/>
            <a:tailEnd/>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INFORMAL ORGANIZATION</a:t>
            </a:r>
            <a:endParaRPr lang="en-US" sz="1200" dirty="0"/>
          </a:p>
        </p:txBody>
      </p:sp>
      <p:sp>
        <p:nvSpPr>
          <p:cNvPr id="3" name="Text 1"/>
          <p:cNvSpPr/>
          <p:nvPr/>
        </p:nvSpPr>
        <p:spPr>
          <a:xfrm>
            <a:off x="548640" y="594360"/>
            <a:ext cx="10972800" cy="685800"/>
          </a:xfrm>
          <a:prstGeom prst="rect">
            <a:avLst/>
          </a:prstGeom>
          <a:noFill/>
          <a:ln/>
        </p:spPr>
        <p:txBody>
          <a:bodyPr wrap="square" rtlCol="0" anchor="ctr"/>
          <a:lstStyle/>
          <a:p>
            <a:pPr marL="0" indent="0">
              <a:buNone/>
            </a:pPr>
            <a:r>
              <a:rPr lang="en-US" sz="2800" b="1" dirty="0">
                <a:solidFill>
                  <a:srgbClr val="21295C"/>
                </a:solidFill>
                <a:latin typeface="Cambria" pitchFamily="34" charset="0"/>
                <a:ea typeface="Cambria" pitchFamily="34" charset="-122"/>
                <a:cs typeface="Cambria" pitchFamily="34" charset="-120"/>
              </a:rPr>
              <a:t>Informal Organization: Benefits &amp; Limits</a:t>
            </a:r>
            <a:endParaRPr lang="en-US" sz="2800" dirty="0"/>
          </a:p>
        </p:txBody>
      </p:sp>
      <p:sp>
        <p:nvSpPr>
          <p:cNvPr id="4" name="Text 2"/>
          <p:cNvSpPr/>
          <p:nvPr/>
        </p:nvSpPr>
        <p:spPr>
          <a:xfrm>
            <a:off x="548640" y="6473952"/>
            <a:ext cx="5486400" cy="274320"/>
          </a:xfrm>
          <a:prstGeom prst="rect">
            <a:avLst/>
          </a:prstGeom>
          <a:noFill/>
          <a:ln/>
        </p:spPr>
        <p:txBody>
          <a:bodyPr wrap="square" rtlCol="0" anchor="ctr"/>
          <a:lstStyle/>
          <a:p>
            <a:pPr marL="0" indent="0">
              <a:buNone/>
            </a:pPr>
            <a:r>
              <a:rPr lang="en-US" sz="900" dirty="0">
                <a:solidFill>
                  <a:srgbClr val="AAAAAA"/>
                </a:solidFill>
                <a:latin typeface="Calibri" pitchFamily="34" charset="0"/>
                <a:ea typeface="Calibri" pitchFamily="34" charset="-122"/>
                <a:cs typeface="Calibri" pitchFamily="34" charset="-120"/>
              </a:rPr>
              <a:t>Organizing — Study Guide</a:t>
            </a:r>
            <a:endParaRPr lang="en-US" sz="900" dirty="0"/>
          </a:p>
        </p:txBody>
      </p:sp>
      <p:sp>
        <p:nvSpPr>
          <p:cNvPr id="5" name="Shape 3"/>
          <p:cNvSpPr/>
          <p:nvPr/>
        </p:nvSpPr>
        <p:spPr>
          <a:xfrm>
            <a:off x="640080" y="1508760"/>
            <a:ext cx="5349240" cy="502920"/>
          </a:xfrm>
          <a:prstGeom prst="roundRect">
            <a:avLst>
              <a:gd name="adj" fmla="val 14545"/>
            </a:avLst>
          </a:prstGeom>
          <a:solidFill>
            <a:srgbClr val="2E8B57"/>
          </a:solidFill>
          <a:ln/>
        </p:spPr>
      </p:sp>
      <p:sp>
        <p:nvSpPr>
          <p:cNvPr id="6" name="Text 4"/>
          <p:cNvSpPr/>
          <p:nvPr/>
        </p:nvSpPr>
        <p:spPr>
          <a:xfrm>
            <a:off x="640080" y="1508760"/>
            <a:ext cx="5349240" cy="50292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Benefits</a:t>
            </a:r>
            <a:endParaRPr lang="en-US" sz="1500" dirty="0"/>
          </a:p>
        </p:txBody>
      </p:sp>
      <p:sp>
        <p:nvSpPr>
          <p:cNvPr id="7" name="Text 5"/>
          <p:cNvSpPr/>
          <p:nvPr/>
        </p:nvSpPr>
        <p:spPr>
          <a:xfrm>
            <a:off x="777240" y="2194560"/>
            <a:ext cx="5074920" cy="4206240"/>
          </a:xfrm>
          <a:prstGeom prst="rect">
            <a:avLst/>
          </a:prstGeom>
          <a:noFill/>
          <a:ln/>
        </p:spPr>
        <p:txBody>
          <a:bodyPr wrap="square" rtlCol="0" anchor="ctr"/>
          <a:lstStyle/>
          <a:p>
            <a:pPr marL="342900" indent="-342900">
              <a:spcAft>
                <a:spcPts val="1000"/>
              </a:spcAft>
              <a:buSzPct val="100000"/>
              <a:buChar char="✓"/>
            </a:pPr>
            <a:r>
              <a:rPr lang="en-US" sz="1300" dirty="0">
                <a:solidFill>
                  <a:srgbClr val="222222"/>
                </a:solidFill>
                <a:latin typeface="Calibri" pitchFamily="34" charset="0"/>
                <a:ea typeface="Calibri" pitchFamily="34" charset="-122"/>
                <a:cs typeface="Calibri" pitchFamily="34" charset="-120"/>
              </a:rPr>
              <a:t>Promotes shared social &amp; cultural values</a:t>
            </a:r>
            <a:endParaRPr lang="en-US" sz="1300" dirty="0"/>
          </a:p>
          <a:p>
            <a:pPr marL="342900" indent="-342900">
              <a:spcAft>
                <a:spcPts val="1000"/>
              </a:spcAft>
              <a:buSzPct val="100000"/>
              <a:buChar char="✓"/>
            </a:pPr>
            <a:r>
              <a:rPr lang="en-US" sz="1300" dirty="0">
                <a:solidFill>
                  <a:srgbClr val="222222"/>
                </a:solidFill>
                <a:latin typeface="Calibri" pitchFamily="34" charset="0"/>
                <a:ea typeface="Calibri" pitchFamily="34" charset="-122"/>
                <a:cs typeface="Calibri" pitchFamily="34" charset="-120"/>
              </a:rPr>
              <a:t>Relief to top managers via cooperation</a:t>
            </a:r>
            <a:endParaRPr lang="en-US" sz="1300" dirty="0"/>
          </a:p>
          <a:p>
            <a:pPr marL="342900" indent="-342900">
              <a:spcAft>
                <a:spcPts val="1000"/>
              </a:spcAft>
              <a:buSzPct val="100000"/>
              <a:buChar char="✓"/>
            </a:pPr>
            <a:r>
              <a:rPr lang="en-US" sz="1300" dirty="0">
                <a:solidFill>
                  <a:srgbClr val="222222"/>
                </a:solidFill>
                <a:latin typeface="Calibri" pitchFamily="34" charset="0"/>
                <a:ea typeface="Calibri" pitchFamily="34" charset="-122"/>
                <a:cs typeface="Calibri" pitchFamily="34" charset="-120"/>
              </a:rPr>
              <a:t>Supplements managers' decision-making</a:t>
            </a:r>
            <a:endParaRPr lang="en-US" sz="1300" dirty="0"/>
          </a:p>
          <a:p>
            <a:pPr marL="342900" indent="-342900">
              <a:spcAft>
                <a:spcPts val="1000"/>
              </a:spcAft>
              <a:buSzPct val="100000"/>
              <a:buChar char="✓"/>
            </a:pPr>
            <a:r>
              <a:rPr lang="en-US" sz="1300" dirty="0">
                <a:solidFill>
                  <a:srgbClr val="222222"/>
                </a:solidFill>
                <a:latin typeface="Calibri" pitchFamily="34" charset="0"/>
                <a:ea typeface="Calibri" pitchFamily="34" charset="-122"/>
                <a:cs typeface="Calibri" pitchFamily="34" charset="-120"/>
              </a:rPr>
              <a:t>Gives social satisfaction &amp; security</a:t>
            </a:r>
            <a:endParaRPr lang="en-US" sz="1300" dirty="0"/>
          </a:p>
          <a:p>
            <a:pPr marL="342900" indent="-342900">
              <a:spcAft>
                <a:spcPts val="1000"/>
              </a:spcAft>
              <a:buSzPct val="100000"/>
              <a:buChar char="✓"/>
            </a:pPr>
            <a:r>
              <a:rPr lang="en-US" sz="1300" dirty="0">
                <a:solidFill>
                  <a:srgbClr val="222222"/>
                </a:solidFill>
                <a:latin typeface="Calibri" pitchFamily="34" charset="0"/>
                <a:ea typeface="Calibri" pitchFamily="34" charset="-122"/>
                <a:cs typeface="Calibri" pitchFamily="34" charset="-120"/>
              </a:rPr>
              <a:t>Faster communication than formal channels</a:t>
            </a:r>
            <a:endParaRPr lang="en-US" sz="1300" dirty="0"/>
          </a:p>
          <a:p>
            <a:pPr marL="342900" indent="-342900">
              <a:spcAft>
                <a:spcPts val="1000"/>
              </a:spcAft>
              <a:buSzPct val="100000"/>
              <a:buChar char="✓"/>
            </a:pPr>
            <a:r>
              <a:rPr lang="en-US" sz="1300" dirty="0">
                <a:solidFill>
                  <a:srgbClr val="222222"/>
                </a:solidFill>
                <a:latin typeface="Calibri" pitchFamily="34" charset="0"/>
                <a:ea typeface="Calibri" pitchFamily="34" charset="-122"/>
                <a:cs typeface="Calibri" pitchFamily="34" charset="-120"/>
              </a:rPr>
              <a:t>Better relationships across departments</a:t>
            </a:r>
            <a:endParaRPr lang="en-US" sz="1300" dirty="0"/>
          </a:p>
          <a:p>
            <a:pPr marL="342900" indent="-342900">
              <a:spcAft>
                <a:spcPts val="1000"/>
              </a:spcAft>
              <a:buSzPct val="100000"/>
              <a:buChar char="✓"/>
            </a:pPr>
            <a:r>
              <a:rPr lang="en-US" sz="1300" dirty="0">
                <a:solidFill>
                  <a:srgbClr val="222222"/>
                </a:solidFill>
                <a:latin typeface="Calibri" pitchFamily="34" charset="0"/>
                <a:ea typeface="Calibri" pitchFamily="34" charset="-122"/>
                <a:cs typeface="Calibri" pitchFamily="34" charset="-120"/>
              </a:rPr>
              <a:t>Helps solve work problems quickly</a:t>
            </a:r>
            <a:endParaRPr lang="en-US" sz="1300" dirty="0"/>
          </a:p>
          <a:p>
            <a:pPr marL="342900" indent="-342900">
              <a:spcAft>
                <a:spcPts val="1000"/>
              </a:spcAft>
              <a:buSzPct val="100000"/>
              <a:buChar char="✓"/>
            </a:pPr>
            <a:r>
              <a:rPr lang="en-US" sz="1300" dirty="0">
                <a:solidFill>
                  <a:srgbClr val="222222"/>
                </a:solidFill>
                <a:latin typeface="Calibri" pitchFamily="34" charset="0"/>
                <a:ea typeface="Calibri" pitchFamily="34" charset="-122"/>
                <a:cs typeface="Calibri" pitchFamily="34" charset="-120"/>
              </a:rPr>
              <a:t>Encourages creativity &amp; self-control</a:t>
            </a:r>
            <a:endParaRPr lang="en-US" sz="1300" dirty="0"/>
          </a:p>
          <a:p>
            <a:pPr marL="342900" indent="-342900">
              <a:spcAft>
                <a:spcPts val="1000"/>
              </a:spcAft>
              <a:buSzPct val="100000"/>
              <a:buChar char="✓"/>
            </a:pPr>
            <a:r>
              <a:rPr lang="en-US" sz="1300" dirty="0">
                <a:solidFill>
                  <a:srgbClr val="222222"/>
                </a:solidFill>
                <a:latin typeface="Calibri" pitchFamily="34" charset="0"/>
                <a:ea typeface="Calibri" pitchFamily="34" charset="-122"/>
                <a:cs typeface="Calibri" pitchFamily="34" charset="-120"/>
              </a:rPr>
              <a:t>Quick, honest feedback to managers</a:t>
            </a:r>
            <a:endParaRPr lang="en-US" sz="1300" dirty="0"/>
          </a:p>
        </p:txBody>
      </p:sp>
      <p:sp>
        <p:nvSpPr>
          <p:cNvPr id="8" name="Shape 6"/>
          <p:cNvSpPr/>
          <p:nvPr/>
        </p:nvSpPr>
        <p:spPr>
          <a:xfrm>
            <a:off x="6355080" y="1508760"/>
            <a:ext cx="5349240" cy="502920"/>
          </a:xfrm>
          <a:prstGeom prst="roundRect">
            <a:avLst>
              <a:gd name="adj" fmla="val 14545"/>
            </a:avLst>
          </a:prstGeom>
          <a:solidFill>
            <a:srgbClr val="B23A48"/>
          </a:solidFill>
          <a:ln/>
        </p:spPr>
      </p:sp>
      <p:sp>
        <p:nvSpPr>
          <p:cNvPr id="9" name="Text 7"/>
          <p:cNvSpPr/>
          <p:nvPr/>
        </p:nvSpPr>
        <p:spPr>
          <a:xfrm>
            <a:off x="6355080" y="1508760"/>
            <a:ext cx="5349240" cy="50292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Limitations</a:t>
            </a:r>
            <a:endParaRPr lang="en-US" sz="1500" dirty="0"/>
          </a:p>
        </p:txBody>
      </p:sp>
      <p:sp>
        <p:nvSpPr>
          <p:cNvPr id="10" name="Text 8"/>
          <p:cNvSpPr/>
          <p:nvPr/>
        </p:nvSpPr>
        <p:spPr>
          <a:xfrm>
            <a:off x="6492240" y="2194560"/>
            <a:ext cx="5074920" cy="4206240"/>
          </a:xfrm>
          <a:prstGeom prst="rect">
            <a:avLst/>
          </a:prstGeom>
          <a:noFill/>
          <a:ln/>
        </p:spPr>
        <p:txBody>
          <a:bodyPr wrap="square" rtlCol="0" anchor="ctr"/>
          <a:lstStyle/>
          <a:p>
            <a:pPr marL="342900" indent="-342900">
              <a:spcAft>
                <a:spcPts val="1000"/>
              </a:spcAft>
              <a:buSzPct val="100000"/>
              <a:buChar char="✗"/>
            </a:pPr>
            <a:r>
              <a:rPr lang="en-US" sz="1300" dirty="0">
                <a:solidFill>
                  <a:srgbClr val="222222"/>
                </a:solidFill>
                <a:latin typeface="Calibri" pitchFamily="34" charset="0"/>
                <a:ea typeface="Calibri" pitchFamily="34" charset="-122"/>
                <a:cs typeface="Calibri" pitchFamily="34" charset="-120"/>
              </a:rPr>
              <a:t>Excessive conformity within groups</a:t>
            </a:r>
            <a:endParaRPr lang="en-US" sz="1300" dirty="0"/>
          </a:p>
          <a:p>
            <a:pPr marL="342900" indent="-342900">
              <a:spcAft>
                <a:spcPts val="1000"/>
              </a:spcAft>
              <a:buSzPct val="100000"/>
              <a:buChar char="✗"/>
            </a:pPr>
            <a:r>
              <a:rPr lang="en-US" sz="1300" dirty="0">
                <a:solidFill>
                  <a:srgbClr val="222222"/>
                </a:solidFill>
                <a:latin typeface="Calibri" pitchFamily="34" charset="0"/>
                <a:ea typeface="Calibri" pitchFamily="34" charset="-122"/>
                <a:cs typeface="Calibri" pitchFamily="34" charset="-120"/>
              </a:rPr>
              <a:t>Bad leader attitudes can hurt formal goals</a:t>
            </a:r>
            <a:endParaRPr lang="en-US" sz="1300" dirty="0"/>
          </a:p>
          <a:p>
            <a:pPr marL="342900" indent="-342900">
              <a:spcAft>
                <a:spcPts val="1000"/>
              </a:spcAft>
              <a:buSzPct val="100000"/>
              <a:buChar char="✗"/>
            </a:pPr>
            <a:r>
              <a:rPr lang="en-US" sz="1300" dirty="0">
                <a:solidFill>
                  <a:srgbClr val="222222"/>
                </a:solidFill>
                <a:latin typeface="Calibri" pitchFamily="34" charset="0"/>
                <a:ea typeface="Calibri" pitchFamily="34" charset="-122"/>
                <a:cs typeface="Calibri" pitchFamily="34" charset="-120"/>
              </a:rPr>
              <a:t>Role conflict between formal &amp; informal duties</a:t>
            </a:r>
            <a:endParaRPr lang="en-US" sz="1300" dirty="0"/>
          </a:p>
          <a:p>
            <a:pPr marL="342900" indent="-342900">
              <a:spcAft>
                <a:spcPts val="1000"/>
              </a:spcAft>
              <a:buSzPct val="100000"/>
              <a:buChar char="✗"/>
            </a:pPr>
            <a:r>
              <a:rPr lang="en-US" sz="1300" dirty="0">
                <a:solidFill>
                  <a:srgbClr val="222222"/>
                </a:solidFill>
                <a:latin typeface="Calibri" pitchFamily="34" charset="0"/>
                <a:ea typeface="Calibri" pitchFamily="34" charset="-122"/>
                <a:cs typeface="Calibri" pitchFamily="34" charset="-120"/>
              </a:rPr>
              <a:t>Rumors — false info spreads easily</a:t>
            </a:r>
            <a:endParaRPr lang="en-US" sz="1300" dirty="0"/>
          </a:p>
          <a:p>
            <a:pPr marL="342900" indent="-342900">
              <a:spcAft>
                <a:spcPts val="1000"/>
              </a:spcAft>
              <a:buSzPct val="100000"/>
              <a:buChar char="✗"/>
            </a:pPr>
            <a:r>
              <a:rPr lang="en-US" sz="1300" dirty="0">
                <a:solidFill>
                  <a:srgbClr val="222222"/>
                </a:solidFill>
                <a:latin typeface="Calibri" pitchFamily="34" charset="0"/>
                <a:ea typeface="Calibri" pitchFamily="34" charset="-122"/>
                <a:cs typeface="Calibri" pitchFamily="34" charset="-120"/>
              </a:rPr>
              <a:t>Resistance to change to protect the group</a:t>
            </a:r>
            <a:endParaRPr lang="en-US" sz="1300" dirty="0"/>
          </a:p>
          <a:p>
            <a:pPr marL="342900" indent="-342900">
              <a:spcAft>
                <a:spcPts val="1000"/>
              </a:spcAft>
              <a:buSzPct val="100000"/>
              <a:buChar char="✗"/>
            </a:pPr>
            <a:r>
              <a:rPr lang="en-US" sz="1300" dirty="0">
                <a:solidFill>
                  <a:srgbClr val="222222"/>
                </a:solidFill>
                <a:latin typeface="Calibri" pitchFamily="34" charset="0"/>
                <a:ea typeface="Calibri" pitchFamily="34" charset="-122"/>
                <a:cs typeface="Calibri" pitchFamily="34" charset="-120"/>
              </a:rPr>
              <a:t>Conflicting goals vs. organizational goals</a:t>
            </a:r>
            <a:endParaRPr lang="en-US" sz="1300" dirty="0"/>
          </a:p>
        </p:txBody>
      </p:sp>
      <p:pic>
        <p:nvPicPr>
          <p:cNvPr id="11" name="Picture 10" descr="C:\Users\madam\AppData\Local\Temp\UPSA NEW LOGO.png"/>
          <p:cNvPicPr/>
          <p:nvPr/>
        </p:nvPicPr>
        <p:blipFill>
          <a:blip r:embed="rId3" cstate="print"/>
          <a:srcRect/>
          <a:stretch>
            <a:fillRect/>
          </a:stretch>
        </p:blipFill>
        <p:spPr bwMode="auto">
          <a:xfrm>
            <a:off x="7477041" y="169933"/>
            <a:ext cx="4539632" cy="1265675"/>
          </a:xfrm>
          <a:prstGeom prst="rect">
            <a:avLst/>
          </a:prstGeom>
          <a:noFill/>
          <a:ln w="9525">
            <a:noFill/>
            <a:miter lim="800000"/>
            <a:headEnd/>
            <a:tailEnd/>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4">
    <p:bg>
      <p:bgPr>
        <a:solidFill>
          <a:srgbClr val="21295C"/>
        </a:solidFill>
        <a:effectLst/>
      </p:bgPr>
    </p:bg>
    <p:spTree>
      <p:nvGrpSpPr>
        <p:cNvPr id="1" name=""/>
        <p:cNvGrpSpPr/>
        <p:nvPr/>
      </p:nvGrpSpPr>
      <p:grpSpPr>
        <a:xfrm>
          <a:off x="0" y="0"/>
          <a:ext cx="0" cy="0"/>
          <a:chOff x="0" y="0"/>
          <a:chExt cx="0" cy="0"/>
        </a:xfrm>
      </p:grpSpPr>
      <p:sp>
        <p:nvSpPr>
          <p:cNvPr id="2" name="Shape 0"/>
          <p:cNvSpPr/>
          <p:nvPr/>
        </p:nvSpPr>
        <p:spPr>
          <a:xfrm>
            <a:off x="8961120" y="-1828800"/>
            <a:ext cx="5486400" cy="5486400"/>
          </a:xfrm>
          <a:prstGeom prst="ellipse">
            <a:avLst/>
          </a:prstGeom>
          <a:solidFill>
            <a:srgbClr val="065A82">
              <a:alpha val="60000"/>
            </a:srgbClr>
          </a:solidFill>
          <a:ln/>
        </p:spPr>
      </p:sp>
      <p:sp>
        <p:nvSpPr>
          <p:cNvPr id="3" name="Text 1"/>
          <p:cNvSpPr/>
          <p:nvPr/>
        </p:nvSpPr>
        <p:spPr>
          <a:xfrm>
            <a:off x="822960" y="2194560"/>
            <a:ext cx="7315200" cy="548640"/>
          </a:xfrm>
          <a:prstGeom prst="rect">
            <a:avLst/>
          </a:prstGeom>
          <a:noFill/>
          <a:ln/>
        </p:spPr>
        <p:txBody>
          <a:bodyPr wrap="square" rtlCol="0" anchor="ctr"/>
          <a:lstStyle/>
          <a:p>
            <a:pPr marL="0" indent="0">
              <a:buNone/>
            </a:pPr>
            <a:r>
              <a:rPr lang="en-US" sz="1500" b="1" kern="0" spc="300" dirty="0">
                <a:solidFill>
                  <a:srgbClr val="8FCDE0"/>
                </a:solidFill>
                <a:latin typeface="Calibri" pitchFamily="34" charset="0"/>
                <a:ea typeface="Calibri" pitchFamily="34" charset="-122"/>
                <a:cs typeface="Calibri" pitchFamily="34" charset="-120"/>
              </a:rPr>
              <a:t>Recap</a:t>
            </a:r>
            <a:endParaRPr lang="en-US" sz="1500" dirty="0"/>
          </a:p>
        </p:txBody>
      </p:sp>
      <p:sp>
        <p:nvSpPr>
          <p:cNvPr id="4" name="Text 2"/>
          <p:cNvSpPr/>
          <p:nvPr/>
        </p:nvSpPr>
        <p:spPr>
          <a:xfrm>
            <a:off x="822960" y="2651760"/>
            <a:ext cx="10058400" cy="182880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Organizing = building the structure</a:t>
            </a:r>
            <a:endParaRPr lang="en-US" sz="3200" dirty="0"/>
          </a:p>
          <a:p>
            <a:pPr marL="0" indent="0">
              <a:buNone/>
            </a:pPr>
            <a:r>
              <a:rPr lang="en-US" sz="3200" b="1" dirty="0">
                <a:solidFill>
                  <a:srgbClr val="FFFFFF"/>
                </a:solidFill>
                <a:latin typeface="Cambria" pitchFamily="34" charset="0"/>
                <a:ea typeface="Cambria" pitchFamily="34" charset="-122"/>
                <a:cs typeface="Cambria" pitchFamily="34" charset="-120"/>
              </a:rPr>
              <a:t>that lets people work well together.</a:t>
            </a:r>
            <a:endParaRPr lang="en-US" sz="3200" dirty="0"/>
          </a:p>
        </p:txBody>
      </p:sp>
      <p:sp>
        <p:nvSpPr>
          <p:cNvPr id="5" name="Text 3"/>
          <p:cNvSpPr/>
          <p:nvPr/>
        </p:nvSpPr>
        <p:spPr>
          <a:xfrm>
            <a:off x="822960" y="4480560"/>
            <a:ext cx="10058400" cy="457200"/>
          </a:xfrm>
          <a:prstGeom prst="rect">
            <a:avLst/>
          </a:prstGeom>
          <a:noFill/>
          <a:ln/>
        </p:spPr>
        <p:txBody>
          <a:bodyPr wrap="square" rtlCol="0" anchor="ctr"/>
          <a:lstStyle/>
          <a:p>
            <a:pPr marL="0" indent="0">
              <a:buNone/>
            </a:pPr>
            <a:r>
              <a:rPr lang="en-US" sz="1500" i="1" dirty="0">
                <a:solidFill>
                  <a:srgbClr val="CADCE0"/>
                </a:solidFill>
                <a:latin typeface="Calibri" pitchFamily="34" charset="0"/>
                <a:ea typeface="Calibri" pitchFamily="34" charset="-122"/>
                <a:cs typeface="Calibri" pitchFamily="34" charset="-120"/>
              </a:rPr>
              <a:t>Charts • Span of Management • Principles • Formal &amp; Informal Organization</a:t>
            </a:r>
            <a:endParaRPr lang="en-US" sz="1500" dirty="0"/>
          </a:p>
        </p:txBody>
      </p:sp>
      <p:pic>
        <p:nvPicPr>
          <p:cNvPr id="6" name="Picture 5" descr="C:\Users\madam\AppData\Local\Temp\UPSA NEW LOGO.png"/>
          <p:cNvPicPr/>
          <p:nvPr/>
        </p:nvPicPr>
        <p:blipFill>
          <a:blip r:embed="rId3" cstate="print"/>
          <a:srcRect/>
          <a:stretch>
            <a:fillRect/>
          </a:stretch>
        </p:blipFill>
        <p:spPr bwMode="auto">
          <a:xfrm>
            <a:off x="7509409" y="64737"/>
            <a:ext cx="4442527" cy="1306864"/>
          </a:xfrm>
          <a:prstGeom prst="rect">
            <a:avLst/>
          </a:prstGeom>
          <a:noFill/>
          <a:ln w="9525">
            <a:noFill/>
            <a:miter lim="800000"/>
            <a:headEnd/>
            <a:tailEnd/>
          </a:ln>
        </p:spPr>
      </p:pic>
    </p:spTree>
  </p:cSld>
  <p:clrMapOvr>
    <a:masterClrMapping/>
  </p:clrMapOvr>
</p:sld>
</file>

<file path=ppt/theme/theme1.xml><?xml version="1.0" encoding="utf-8"?>
<a:theme xmlns:a="http://schemas.openxmlformats.org/drawingml/2006/main" name="Facet">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61</TotalTime>
  <Words>1389</Words>
  <Application>Microsoft Office PowerPoint</Application>
  <PresentationFormat>Widescreen</PresentationFormat>
  <Paragraphs>245</Paragraphs>
  <Slides>25</Slides>
  <Notes>23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25</vt:i4>
      </vt:variant>
    </vt:vector>
  </HeadingPairs>
  <TitlesOfParts>
    <vt:vector size="32" baseType="lpstr">
      <vt:lpstr>Arial</vt:lpstr>
      <vt:lpstr>Calibri</vt:lpstr>
      <vt:lpstr>Cambria</vt:lpstr>
      <vt:lpstr>Times New Roman</vt:lpstr>
      <vt:lpstr>Trebuchet MS</vt:lpstr>
      <vt:lpstr>Wingdings 3</vt:lpstr>
      <vt:lpstr>Facet</vt:lpstr>
      <vt:lpstr>UNIVERSITY OF PROFESSIONAL STUDIES, ACCRA PROGRAMME: BSc Information Technology COURSE: Introduction to Management COURSE CODE: BCPC 108 CLASS: IT 1 (GROUP 7) SESSION: Weekend NAME OF LECTURER: ABDUL-JAIL IBRAHIM NAMES OF MEMBERS ROONEY ADJETEY          10342006 PRINCE MARTEY ARDEN 10348709 KWAME TABIRI OBIRI AMOAKO     10341572 JOSEPH MANAWUBA   10337576 AMENYO JOHN YAW    10342213 ADJETEY ROONEY ADJEI    10343006 AARON ADAMS ANKRAH   10341565 </vt:lpstr>
      <vt:lpstr>WEEK 7 . MANAGEMENT Organizing A simple, student-friendly guide to how companies structure their work.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user</cp:lastModifiedBy>
  <cp:revision>9</cp:revision>
  <dcterms:created xsi:type="dcterms:W3CDTF">2026-07-10T19:56:11Z</dcterms:created>
  <dcterms:modified xsi:type="dcterms:W3CDTF">2026-07-12T11:23:57Z</dcterms:modified>
</cp:coreProperties>
</file>