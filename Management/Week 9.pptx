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7"/>
  </p:notesMasterIdLst>
  <p:sldIdLst>
    <p:sldId id="256" r:id="rId3"/>
    <p:sldId id="311" r:id="rId4"/>
    <p:sldId id="257" r:id="rId5"/>
    <p:sldId id="259" r:id="rId6"/>
    <p:sldId id="309" r:id="rId7"/>
    <p:sldId id="31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68" r:id="rId17"/>
    <p:sldId id="269" r:id="rId18"/>
    <p:sldId id="271" r:id="rId19"/>
    <p:sldId id="272" r:id="rId20"/>
    <p:sldId id="302" r:id="rId21"/>
    <p:sldId id="303" r:id="rId22"/>
    <p:sldId id="304" r:id="rId23"/>
    <p:sldId id="273" r:id="rId24"/>
    <p:sldId id="305" r:id="rId25"/>
    <p:sldId id="275" r:id="rId26"/>
    <p:sldId id="283" r:id="rId27"/>
    <p:sldId id="276" r:id="rId28"/>
    <p:sldId id="515" r:id="rId29"/>
    <p:sldId id="516" r:id="rId30"/>
    <p:sldId id="517" r:id="rId31"/>
    <p:sldId id="518" r:id="rId32"/>
    <p:sldId id="519" r:id="rId33"/>
    <p:sldId id="520" r:id="rId34"/>
    <p:sldId id="521" r:id="rId35"/>
    <p:sldId id="522" r:id="rId36"/>
    <p:sldId id="523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278" r:id="rId46"/>
    <p:sldId id="279" r:id="rId47"/>
    <p:sldId id="284" r:id="rId48"/>
    <p:sldId id="280" r:id="rId49"/>
    <p:sldId id="285" r:id="rId50"/>
    <p:sldId id="281" r:id="rId51"/>
    <p:sldId id="306" r:id="rId52"/>
    <p:sldId id="307" r:id="rId53"/>
    <p:sldId id="308" r:id="rId54"/>
    <p:sldId id="514" r:id="rId55"/>
    <p:sldId id="312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gif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15A81-9F60-4810-952B-35086A445241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64A5299-2BFB-4191-AFD1-A8452AA27397}">
      <dgm:prSet/>
      <dgm:spPr/>
      <dgm:t>
        <a:bodyPr/>
        <a:lstStyle/>
        <a:p>
          <a:pPr algn="ctr"/>
          <a:r>
            <a:rPr lang="en-US" b="1" dirty="0"/>
            <a:t>CONTROL</a:t>
          </a:r>
          <a:endParaRPr lang="en-US" dirty="0"/>
        </a:p>
      </dgm:t>
    </dgm:pt>
    <dgm:pt modelId="{8D89B470-D288-4467-8428-B3B0184DECD0}" type="parTrans" cxnId="{25904A6C-85ED-4B40-9014-036297348DA8}">
      <dgm:prSet/>
      <dgm:spPr/>
      <dgm:t>
        <a:bodyPr/>
        <a:lstStyle/>
        <a:p>
          <a:endParaRPr lang="en-US"/>
        </a:p>
      </dgm:t>
    </dgm:pt>
    <dgm:pt modelId="{DB075FCB-438B-403E-9611-94D6E4BA5ABF}" type="sibTrans" cxnId="{25904A6C-85ED-4B40-9014-036297348DA8}">
      <dgm:prSet/>
      <dgm:spPr/>
      <dgm:t>
        <a:bodyPr/>
        <a:lstStyle/>
        <a:p>
          <a:endParaRPr lang="en-US"/>
        </a:p>
      </dgm:t>
    </dgm:pt>
    <dgm:pt modelId="{6CF05AE9-1B83-44C7-B20E-2C359B0CD768}" type="pres">
      <dgm:prSet presAssocID="{8CD15A81-9F60-4810-952B-35086A44524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AA7EAA-F247-4514-A3CF-3B06BFCF8332}" type="pres">
      <dgm:prSet presAssocID="{B64A5299-2BFB-4191-AFD1-A8452AA2739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904A6C-85ED-4B40-9014-036297348DA8}" srcId="{8CD15A81-9F60-4810-952B-35086A445241}" destId="{B64A5299-2BFB-4191-AFD1-A8452AA27397}" srcOrd="0" destOrd="0" parTransId="{8D89B470-D288-4467-8428-B3B0184DECD0}" sibTransId="{DB075FCB-438B-403E-9611-94D6E4BA5ABF}"/>
    <dgm:cxn modelId="{8D8C06D1-CF28-4DE4-B585-FB9AC3795EA9}" type="presOf" srcId="{8CD15A81-9F60-4810-952B-35086A445241}" destId="{6CF05AE9-1B83-44C7-B20E-2C359B0CD768}" srcOrd="0" destOrd="0" presId="urn:microsoft.com/office/officeart/2005/8/layout/vList2"/>
    <dgm:cxn modelId="{DA7DDFC1-ED5E-4B1A-85BD-8B71E66E674F}" type="presOf" srcId="{B64A5299-2BFB-4191-AFD1-A8452AA27397}" destId="{D5AA7EAA-F247-4514-A3CF-3B06BFCF8332}" srcOrd="0" destOrd="0" presId="urn:microsoft.com/office/officeart/2005/8/layout/vList2"/>
    <dgm:cxn modelId="{2D09BA39-6609-4EAC-8BF2-C237B89AED73}" type="presParOf" srcId="{6CF05AE9-1B83-44C7-B20E-2C359B0CD768}" destId="{D5AA7EAA-F247-4514-A3CF-3B06BFCF833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5B1ACB-8799-4CA2-9F2F-4CFAFC40DB93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E5FACB0-7276-4B35-BAAE-34EABCB7B2F0}">
      <dgm:prSet/>
      <dgm:spPr/>
      <dgm:t>
        <a:bodyPr/>
        <a:lstStyle/>
        <a:p>
          <a:r>
            <a:rPr lang="en-US" b="1"/>
            <a:t>BCPC 108 Introduction to Management</a:t>
          </a:r>
          <a:endParaRPr lang="en-US"/>
        </a:p>
      </dgm:t>
    </dgm:pt>
    <dgm:pt modelId="{2DFC0E0D-605F-4D51-93F3-9C1239729267}" type="parTrans" cxnId="{4E2944C2-AD92-4F05-8D46-8281023A7478}">
      <dgm:prSet/>
      <dgm:spPr/>
      <dgm:t>
        <a:bodyPr/>
        <a:lstStyle/>
        <a:p>
          <a:endParaRPr lang="en-US"/>
        </a:p>
      </dgm:t>
    </dgm:pt>
    <dgm:pt modelId="{9784C5D4-B7E9-4487-BFE9-38853E2A6FDE}" type="sibTrans" cxnId="{4E2944C2-AD92-4F05-8D46-8281023A7478}">
      <dgm:prSet/>
      <dgm:spPr/>
      <dgm:t>
        <a:bodyPr/>
        <a:lstStyle/>
        <a:p>
          <a:endParaRPr lang="en-US"/>
        </a:p>
      </dgm:t>
    </dgm:pt>
    <dgm:pt modelId="{7FF1662D-64DE-4468-A7EB-3604F5A60466}" type="pres">
      <dgm:prSet presAssocID="{9E5B1ACB-8799-4CA2-9F2F-4CFAFC40DB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898325A-FC9C-4FB2-B81C-454711A3499E}" type="pres">
      <dgm:prSet presAssocID="{BE5FACB0-7276-4B35-BAAE-34EABCB7B2F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7C81C6-F737-474B-9C36-F694B5AB2F13}" type="presOf" srcId="{9E5B1ACB-8799-4CA2-9F2F-4CFAFC40DB93}" destId="{7FF1662D-64DE-4468-A7EB-3604F5A60466}" srcOrd="0" destOrd="0" presId="urn:microsoft.com/office/officeart/2005/8/layout/vList2"/>
    <dgm:cxn modelId="{DFBC0F5B-463C-4B7C-B4F4-CB96F2A2254E}" type="presOf" srcId="{BE5FACB0-7276-4B35-BAAE-34EABCB7B2F0}" destId="{E898325A-FC9C-4FB2-B81C-454711A3499E}" srcOrd="0" destOrd="0" presId="urn:microsoft.com/office/officeart/2005/8/layout/vList2"/>
    <dgm:cxn modelId="{4E2944C2-AD92-4F05-8D46-8281023A7478}" srcId="{9E5B1ACB-8799-4CA2-9F2F-4CFAFC40DB93}" destId="{BE5FACB0-7276-4B35-BAAE-34EABCB7B2F0}" srcOrd="0" destOrd="0" parTransId="{2DFC0E0D-605F-4D51-93F3-9C1239729267}" sibTransId="{9784C5D4-B7E9-4487-BFE9-38853E2A6FDE}"/>
    <dgm:cxn modelId="{FB625455-9278-47A2-9BDD-F301A4F0A181}" type="presParOf" srcId="{7FF1662D-64DE-4468-A7EB-3604F5A60466}" destId="{E898325A-FC9C-4FB2-B81C-454711A3499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28C6F4-03A2-41F4-9DCA-BE19CB937C37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9938FA-0A8D-4CD9-8212-96042BACCCAE}">
      <dgm:prSet/>
      <dgm:spPr/>
      <dgm:t>
        <a:bodyPr/>
        <a:lstStyle/>
        <a:p>
          <a:r>
            <a:rPr lang="en-US"/>
            <a:t>Every manager in every organization today </a:t>
          </a:r>
          <a:r>
            <a:rPr lang="en-US" b="1" u="sng"/>
            <a:t>faces the dilemma of finding ways to administer and coordinate various processes</a:t>
          </a:r>
          <a:r>
            <a:rPr lang="en-US"/>
            <a:t> to control the activities under his or her jurisdiction. </a:t>
          </a:r>
        </a:p>
      </dgm:t>
    </dgm:pt>
    <dgm:pt modelId="{7E7E5A0D-FA6D-4CDF-9FFD-6F4C12715FCE}" type="parTrans" cxnId="{92543933-B70C-47E4-A444-A96E9E6ABD1E}">
      <dgm:prSet/>
      <dgm:spPr/>
      <dgm:t>
        <a:bodyPr/>
        <a:lstStyle/>
        <a:p>
          <a:endParaRPr lang="en-US"/>
        </a:p>
      </dgm:t>
    </dgm:pt>
    <dgm:pt modelId="{B2B4CF6A-FFFA-4A60-B055-BA6A27D49BC2}" type="sibTrans" cxnId="{92543933-B70C-47E4-A444-A96E9E6ABD1E}">
      <dgm:prSet/>
      <dgm:spPr/>
      <dgm:t>
        <a:bodyPr/>
        <a:lstStyle/>
        <a:p>
          <a:endParaRPr lang="en-US"/>
        </a:p>
      </dgm:t>
    </dgm:pt>
    <dgm:pt modelId="{78BE2C12-7FE3-41CF-A25C-1215B5193759}">
      <dgm:prSet/>
      <dgm:spPr/>
      <dgm:t>
        <a:bodyPr/>
        <a:lstStyle/>
        <a:p>
          <a:r>
            <a:rPr lang="en-US"/>
            <a:t>Managers continually look </a:t>
          </a:r>
          <a:r>
            <a:rPr lang="en-US" b="1" u="sng"/>
            <a:t>for ways to improve customer satisfaction, maintain relationships with suppliers, cut inventory costs, </a:t>
          </a:r>
          <a:r>
            <a:rPr lang="en-US"/>
            <a:t>and develop the right products. </a:t>
          </a:r>
        </a:p>
      </dgm:t>
    </dgm:pt>
    <dgm:pt modelId="{FC830BCB-E352-46BA-831E-35E7238F1503}" type="parTrans" cxnId="{7B093E31-05F5-4EAA-A19F-C80C74CD9424}">
      <dgm:prSet/>
      <dgm:spPr/>
      <dgm:t>
        <a:bodyPr/>
        <a:lstStyle/>
        <a:p>
          <a:endParaRPr lang="en-US"/>
        </a:p>
      </dgm:t>
    </dgm:pt>
    <dgm:pt modelId="{197EC9A1-DFBF-4F11-A922-F27A19E8C084}" type="sibTrans" cxnId="{7B093E31-05F5-4EAA-A19F-C80C74CD9424}">
      <dgm:prSet/>
      <dgm:spPr/>
      <dgm:t>
        <a:bodyPr/>
        <a:lstStyle/>
        <a:p>
          <a:endParaRPr lang="en-US"/>
        </a:p>
      </dgm:t>
    </dgm:pt>
    <dgm:pt modelId="{E8D7BDEF-7BF5-4A20-BC25-D29E6DACF13F}">
      <dgm:prSet/>
      <dgm:spPr/>
      <dgm:t>
        <a:bodyPr/>
        <a:lstStyle/>
        <a:p>
          <a:r>
            <a:rPr lang="en-US"/>
            <a:t>As a result, every organization needs basic systems </a:t>
          </a:r>
        </a:p>
      </dgm:t>
    </dgm:pt>
    <dgm:pt modelId="{4ECE102A-B83B-453D-9D7B-FC3272D2447F}" type="parTrans" cxnId="{8DBB2617-FE34-4A61-999C-7BF8B65073D7}">
      <dgm:prSet/>
      <dgm:spPr/>
      <dgm:t>
        <a:bodyPr/>
        <a:lstStyle/>
        <a:p>
          <a:endParaRPr lang="en-US"/>
        </a:p>
      </dgm:t>
    </dgm:pt>
    <dgm:pt modelId="{F95FD2F7-5288-4F61-9F6D-A84616830DD0}" type="sibTrans" cxnId="{8DBB2617-FE34-4A61-999C-7BF8B65073D7}">
      <dgm:prSet/>
      <dgm:spPr/>
      <dgm:t>
        <a:bodyPr/>
        <a:lstStyle/>
        <a:p>
          <a:endParaRPr lang="en-US"/>
        </a:p>
      </dgm:t>
    </dgm:pt>
    <dgm:pt modelId="{4B31FA7E-0537-4D77-B32B-0B1C2AF0AD87}">
      <dgm:prSet/>
      <dgm:spPr/>
      <dgm:t>
        <a:bodyPr/>
        <a:lstStyle/>
        <a:p>
          <a:r>
            <a:rPr lang="en-US"/>
            <a:t>- for allocating financial resources, </a:t>
          </a:r>
        </a:p>
      </dgm:t>
    </dgm:pt>
    <dgm:pt modelId="{3ACB22E6-A1DE-465B-8C9E-247F6ECFCEED}" type="parTrans" cxnId="{2C0F4BC4-6623-4487-A0FF-195DF41E3BFE}">
      <dgm:prSet/>
      <dgm:spPr/>
      <dgm:t>
        <a:bodyPr/>
        <a:lstStyle/>
        <a:p>
          <a:endParaRPr lang="en-US"/>
        </a:p>
      </dgm:t>
    </dgm:pt>
    <dgm:pt modelId="{A5B50815-4CA6-4CF6-8D6F-864E83710048}" type="sibTrans" cxnId="{2C0F4BC4-6623-4487-A0FF-195DF41E3BFE}">
      <dgm:prSet/>
      <dgm:spPr/>
      <dgm:t>
        <a:bodyPr/>
        <a:lstStyle/>
        <a:p>
          <a:endParaRPr lang="en-US"/>
        </a:p>
      </dgm:t>
    </dgm:pt>
    <dgm:pt modelId="{F11848D7-910D-45F3-B367-E3380ECB694B}">
      <dgm:prSet/>
      <dgm:spPr/>
      <dgm:t>
        <a:bodyPr/>
        <a:lstStyle/>
        <a:p>
          <a:r>
            <a:rPr lang="en-US"/>
            <a:t>- developing human resources, </a:t>
          </a:r>
        </a:p>
      </dgm:t>
    </dgm:pt>
    <dgm:pt modelId="{5D5EF061-00A8-4C85-B1D7-9B6DD87D81E9}" type="parTrans" cxnId="{EE9C1D1C-9774-4224-8C74-3C78726645AC}">
      <dgm:prSet/>
      <dgm:spPr/>
      <dgm:t>
        <a:bodyPr/>
        <a:lstStyle/>
        <a:p>
          <a:endParaRPr lang="en-US"/>
        </a:p>
      </dgm:t>
    </dgm:pt>
    <dgm:pt modelId="{668E08BA-C42B-424C-AC07-BDB9F62E65CC}" type="sibTrans" cxnId="{EE9C1D1C-9774-4224-8C74-3C78726645AC}">
      <dgm:prSet/>
      <dgm:spPr/>
      <dgm:t>
        <a:bodyPr/>
        <a:lstStyle/>
        <a:p>
          <a:endParaRPr lang="en-US"/>
        </a:p>
      </dgm:t>
    </dgm:pt>
    <dgm:pt modelId="{22A94396-05F8-4A0F-BE44-D55E294BCEF9}">
      <dgm:prSet/>
      <dgm:spPr/>
      <dgm:t>
        <a:bodyPr/>
        <a:lstStyle/>
        <a:p>
          <a:r>
            <a:rPr lang="en-US"/>
            <a:t>- analyzing financial performance, and </a:t>
          </a:r>
        </a:p>
      </dgm:t>
    </dgm:pt>
    <dgm:pt modelId="{17A7EA2A-D5A9-46A1-A7E6-1E28D837FA93}" type="parTrans" cxnId="{7C466470-2377-491C-B03E-8482EBD7CB45}">
      <dgm:prSet/>
      <dgm:spPr/>
      <dgm:t>
        <a:bodyPr/>
        <a:lstStyle/>
        <a:p>
          <a:endParaRPr lang="en-US"/>
        </a:p>
      </dgm:t>
    </dgm:pt>
    <dgm:pt modelId="{588A3E9F-E661-4D62-8641-C679D2115695}" type="sibTrans" cxnId="{7C466470-2377-491C-B03E-8482EBD7CB45}">
      <dgm:prSet/>
      <dgm:spPr/>
      <dgm:t>
        <a:bodyPr/>
        <a:lstStyle/>
        <a:p>
          <a:endParaRPr lang="en-US"/>
        </a:p>
      </dgm:t>
    </dgm:pt>
    <dgm:pt modelId="{F82E4A0B-3392-4BCC-87FB-B971C235B07B}">
      <dgm:prSet/>
      <dgm:spPr/>
      <dgm:t>
        <a:bodyPr/>
        <a:lstStyle/>
        <a:p>
          <a:r>
            <a:rPr lang="en-US"/>
            <a:t>- evaluating overall profitability</a:t>
          </a:r>
        </a:p>
      </dgm:t>
    </dgm:pt>
    <dgm:pt modelId="{89A4D00C-AFC3-46ED-AC60-50395CFD8E68}" type="parTrans" cxnId="{F320E3D3-996B-4E1C-90A3-EA42FDFDAF0B}">
      <dgm:prSet/>
      <dgm:spPr/>
      <dgm:t>
        <a:bodyPr/>
        <a:lstStyle/>
        <a:p>
          <a:endParaRPr lang="en-US"/>
        </a:p>
      </dgm:t>
    </dgm:pt>
    <dgm:pt modelId="{B7C2785D-783D-4F68-B6B8-57C195C80C42}" type="sibTrans" cxnId="{F320E3D3-996B-4E1C-90A3-EA42FDFDAF0B}">
      <dgm:prSet/>
      <dgm:spPr/>
      <dgm:t>
        <a:bodyPr/>
        <a:lstStyle/>
        <a:p>
          <a:endParaRPr lang="en-US"/>
        </a:p>
      </dgm:t>
    </dgm:pt>
    <dgm:pt modelId="{DAB4A6D8-AF53-4353-9772-4F6784DCFCCB}" type="pres">
      <dgm:prSet presAssocID="{5D28C6F4-03A2-41F4-9DCA-BE19CB937C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0FAD8E9-F02B-437D-86E2-8A39D8A67FE0}" type="pres">
      <dgm:prSet presAssocID="{209938FA-0A8D-4CD9-8212-96042BACCCA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C0E68E-9F5D-49BC-A43F-21E994376564}" type="pres">
      <dgm:prSet presAssocID="{B2B4CF6A-FFFA-4A60-B055-BA6A27D49BC2}" presName="spacer" presStyleCnt="0"/>
      <dgm:spPr/>
    </dgm:pt>
    <dgm:pt modelId="{E74147CB-4D6A-42E3-B8D3-86045F13414A}" type="pres">
      <dgm:prSet presAssocID="{78BE2C12-7FE3-41CF-A25C-1215B519375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1A803F-8B3B-4541-AB10-6DAABE258CA8}" type="pres">
      <dgm:prSet presAssocID="{197EC9A1-DFBF-4F11-A922-F27A19E8C084}" presName="spacer" presStyleCnt="0"/>
      <dgm:spPr/>
    </dgm:pt>
    <dgm:pt modelId="{BC98D1E1-7E74-4F87-9E33-FA4EF561735C}" type="pres">
      <dgm:prSet presAssocID="{E8D7BDEF-7BF5-4A20-BC25-D29E6DACF13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071C63-C83D-4316-A4F2-F3552BC18BF5}" type="pres">
      <dgm:prSet presAssocID="{E8D7BDEF-7BF5-4A20-BC25-D29E6DACF13F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543933-B70C-47E4-A444-A96E9E6ABD1E}" srcId="{5D28C6F4-03A2-41F4-9DCA-BE19CB937C37}" destId="{209938FA-0A8D-4CD9-8212-96042BACCCAE}" srcOrd="0" destOrd="0" parTransId="{7E7E5A0D-FA6D-4CDF-9FFD-6F4C12715FCE}" sibTransId="{B2B4CF6A-FFFA-4A60-B055-BA6A27D49BC2}"/>
    <dgm:cxn modelId="{2C0F4BC4-6623-4487-A0FF-195DF41E3BFE}" srcId="{E8D7BDEF-7BF5-4A20-BC25-D29E6DACF13F}" destId="{4B31FA7E-0537-4D77-B32B-0B1C2AF0AD87}" srcOrd="0" destOrd="0" parTransId="{3ACB22E6-A1DE-465B-8C9E-247F6ECFCEED}" sibTransId="{A5B50815-4CA6-4CF6-8D6F-864E83710048}"/>
    <dgm:cxn modelId="{7922B13C-D36C-4258-95AB-66DA1CCD8BF3}" type="presOf" srcId="{78BE2C12-7FE3-41CF-A25C-1215B5193759}" destId="{E74147CB-4D6A-42E3-B8D3-86045F13414A}" srcOrd="0" destOrd="0" presId="urn:microsoft.com/office/officeart/2005/8/layout/vList2"/>
    <dgm:cxn modelId="{F320E3D3-996B-4E1C-90A3-EA42FDFDAF0B}" srcId="{E8D7BDEF-7BF5-4A20-BC25-D29E6DACF13F}" destId="{F82E4A0B-3392-4BCC-87FB-B971C235B07B}" srcOrd="3" destOrd="0" parTransId="{89A4D00C-AFC3-46ED-AC60-50395CFD8E68}" sibTransId="{B7C2785D-783D-4F68-B6B8-57C195C80C42}"/>
    <dgm:cxn modelId="{083C4BE9-4CE6-44CC-BA98-B22B21B203C1}" type="presOf" srcId="{4B31FA7E-0537-4D77-B32B-0B1C2AF0AD87}" destId="{20071C63-C83D-4316-A4F2-F3552BC18BF5}" srcOrd="0" destOrd="0" presId="urn:microsoft.com/office/officeart/2005/8/layout/vList2"/>
    <dgm:cxn modelId="{9A073B45-CA80-47E1-945F-97BD85B7AAE4}" type="presOf" srcId="{5D28C6F4-03A2-41F4-9DCA-BE19CB937C37}" destId="{DAB4A6D8-AF53-4353-9772-4F6784DCFCCB}" srcOrd="0" destOrd="0" presId="urn:microsoft.com/office/officeart/2005/8/layout/vList2"/>
    <dgm:cxn modelId="{7C466470-2377-491C-B03E-8482EBD7CB45}" srcId="{E8D7BDEF-7BF5-4A20-BC25-D29E6DACF13F}" destId="{22A94396-05F8-4A0F-BE44-D55E294BCEF9}" srcOrd="2" destOrd="0" parTransId="{17A7EA2A-D5A9-46A1-A7E6-1E28D837FA93}" sibTransId="{588A3E9F-E661-4D62-8641-C679D2115695}"/>
    <dgm:cxn modelId="{BE2D083C-0ADA-4777-9298-52E13E129FF9}" type="presOf" srcId="{E8D7BDEF-7BF5-4A20-BC25-D29E6DACF13F}" destId="{BC98D1E1-7E74-4F87-9E33-FA4EF561735C}" srcOrd="0" destOrd="0" presId="urn:microsoft.com/office/officeart/2005/8/layout/vList2"/>
    <dgm:cxn modelId="{CD48190D-B253-4B15-AB14-3B0811609AC1}" type="presOf" srcId="{209938FA-0A8D-4CD9-8212-96042BACCCAE}" destId="{C0FAD8E9-F02B-437D-86E2-8A39D8A67FE0}" srcOrd="0" destOrd="0" presId="urn:microsoft.com/office/officeart/2005/8/layout/vList2"/>
    <dgm:cxn modelId="{7B093E31-05F5-4EAA-A19F-C80C74CD9424}" srcId="{5D28C6F4-03A2-41F4-9DCA-BE19CB937C37}" destId="{78BE2C12-7FE3-41CF-A25C-1215B5193759}" srcOrd="1" destOrd="0" parTransId="{FC830BCB-E352-46BA-831E-35E7238F1503}" sibTransId="{197EC9A1-DFBF-4F11-A922-F27A19E8C084}"/>
    <dgm:cxn modelId="{EE9C1D1C-9774-4224-8C74-3C78726645AC}" srcId="{E8D7BDEF-7BF5-4A20-BC25-D29E6DACF13F}" destId="{F11848D7-910D-45F3-B367-E3380ECB694B}" srcOrd="1" destOrd="0" parTransId="{5D5EF061-00A8-4C85-B1D7-9B6DD87D81E9}" sibTransId="{668E08BA-C42B-424C-AC07-BDB9F62E65CC}"/>
    <dgm:cxn modelId="{A22F311A-59AC-490C-BF73-0CB7741CA2F6}" type="presOf" srcId="{F82E4A0B-3392-4BCC-87FB-B971C235B07B}" destId="{20071C63-C83D-4316-A4F2-F3552BC18BF5}" srcOrd="0" destOrd="3" presId="urn:microsoft.com/office/officeart/2005/8/layout/vList2"/>
    <dgm:cxn modelId="{8DBB2617-FE34-4A61-999C-7BF8B65073D7}" srcId="{5D28C6F4-03A2-41F4-9DCA-BE19CB937C37}" destId="{E8D7BDEF-7BF5-4A20-BC25-D29E6DACF13F}" srcOrd="2" destOrd="0" parTransId="{4ECE102A-B83B-453D-9D7B-FC3272D2447F}" sibTransId="{F95FD2F7-5288-4F61-9F6D-A84616830DD0}"/>
    <dgm:cxn modelId="{AE5220FA-5A29-4579-91EF-2B567569C5A9}" type="presOf" srcId="{F11848D7-910D-45F3-B367-E3380ECB694B}" destId="{20071C63-C83D-4316-A4F2-F3552BC18BF5}" srcOrd="0" destOrd="1" presId="urn:microsoft.com/office/officeart/2005/8/layout/vList2"/>
    <dgm:cxn modelId="{F2A46A37-245E-4433-AAD3-00533F556ECA}" type="presOf" srcId="{22A94396-05F8-4A0F-BE44-D55E294BCEF9}" destId="{20071C63-C83D-4316-A4F2-F3552BC18BF5}" srcOrd="0" destOrd="2" presId="urn:microsoft.com/office/officeart/2005/8/layout/vList2"/>
    <dgm:cxn modelId="{5431D7EB-5509-4E5E-AC30-A14755C69448}" type="presParOf" srcId="{DAB4A6D8-AF53-4353-9772-4F6784DCFCCB}" destId="{C0FAD8E9-F02B-437D-86E2-8A39D8A67FE0}" srcOrd="0" destOrd="0" presId="urn:microsoft.com/office/officeart/2005/8/layout/vList2"/>
    <dgm:cxn modelId="{C254AE02-8953-4057-ABE8-D411C03EE2B2}" type="presParOf" srcId="{DAB4A6D8-AF53-4353-9772-4F6784DCFCCB}" destId="{E6C0E68E-9F5D-49BC-A43F-21E994376564}" srcOrd="1" destOrd="0" presId="urn:microsoft.com/office/officeart/2005/8/layout/vList2"/>
    <dgm:cxn modelId="{DA78DA57-95F3-4D66-8AB5-4063D509D30B}" type="presParOf" srcId="{DAB4A6D8-AF53-4353-9772-4F6784DCFCCB}" destId="{E74147CB-4D6A-42E3-B8D3-86045F13414A}" srcOrd="2" destOrd="0" presId="urn:microsoft.com/office/officeart/2005/8/layout/vList2"/>
    <dgm:cxn modelId="{20270579-E4FD-4016-9446-D9994BF37FDB}" type="presParOf" srcId="{DAB4A6D8-AF53-4353-9772-4F6784DCFCCB}" destId="{261A803F-8B3B-4541-AB10-6DAABE258CA8}" srcOrd="3" destOrd="0" presId="urn:microsoft.com/office/officeart/2005/8/layout/vList2"/>
    <dgm:cxn modelId="{8B5663D6-FB59-4C91-8EFF-8920E99D056E}" type="presParOf" srcId="{DAB4A6D8-AF53-4353-9772-4F6784DCFCCB}" destId="{BC98D1E1-7E74-4F87-9E33-FA4EF561735C}" srcOrd="4" destOrd="0" presId="urn:microsoft.com/office/officeart/2005/8/layout/vList2"/>
    <dgm:cxn modelId="{42517BCD-D320-44AE-A9A0-9F7A5EE6730D}" type="presParOf" srcId="{DAB4A6D8-AF53-4353-9772-4F6784DCFCCB}" destId="{20071C63-C83D-4316-A4F2-F3552BC18BF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A6AD6F-20EA-4AD9-B952-FCAE0679FA86}" type="doc">
      <dgm:prSet loTypeId="urn:microsoft.com/office/officeart/2005/8/layout/vList2" loCatId="list" qsTypeId="urn:microsoft.com/office/officeart/2005/8/quickstyle/3d1" qsCatId="3D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56D7DB20-9220-42C7-8615-EFF34E549C27}">
      <dgm:prSet/>
      <dgm:spPr/>
      <dgm:t>
        <a:bodyPr/>
        <a:lstStyle/>
        <a:p>
          <a:r>
            <a:rPr lang="en-US"/>
            <a:t>Controlling is the process of monitoring performance against goals, intervening when goals are not met, and taking corrective action.</a:t>
          </a:r>
        </a:p>
      </dgm:t>
    </dgm:pt>
    <dgm:pt modelId="{5D3076F6-BDEE-4E63-9802-7B803D45BDCA}" type="parTrans" cxnId="{1AE469FF-00AD-43F0-B57A-652EF8AF2F09}">
      <dgm:prSet/>
      <dgm:spPr/>
      <dgm:t>
        <a:bodyPr/>
        <a:lstStyle/>
        <a:p>
          <a:endParaRPr lang="en-US"/>
        </a:p>
      </dgm:t>
    </dgm:pt>
    <dgm:pt modelId="{F4C49B09-63BE-4858-ACEE-963A81597ACB}" type="sibTrans" cxnId="{1AE469FF-00AD-43F0-B57A-652EF8AF2F09}">
      <dgm:prSet/>
      <dgm:spPr/>
      <dgm:t>
        <a:bodyPr/>
        <a:lstStyle/>
        <a:p>
          <a:endParaRPr lang="en-US"/>
        </a:p>
      </dgm:t>
    </dgm:pt>
    <dgm:pt modelId="{E28707E6-E676-4AFB-96D5-7B30F4BE88B7}">
      <dgm:prSet/>
      <dgm:spPr/>
      <dgm:t>
        <a:bodyPr/>
        <a:lstStyle/>
        <a:p>
          <a:r>
            <a:rPr lang="en-US"/>
            <a:t>Controlling is just as important as planning, strategizing, and organizing. Without control systems to verify that performance is hitting goals, an organization can veer off course.</a:t>
          </a:r>
        </a:p>
      </dgm:t>
    </dgm:pt>
    <dgm:pt modelId="{ECD56064-3B39-4EEB-8F09-5A2BBBB5809E}" type="parTrans" cxnId="{9FCEF5E6-1573-4B92-97D2-CF66824E29BB}">
      <dgm:prSet/>
      <dgm:spPr/>
      <dgm:t>
        <a:bodyPr/>
        <a:lstStyle/>
        <a:p>
          <a:endParaRPr lang="en-US"/>
        </a:p>
      </dgm:t>
    </dgm:pt>
    <dgm:pt modelId="{B2578845-1EE7-4574-9775-BD1E97737CB1}" type="sibTrans" cxnId="{9FCEF5E6-1573-4B92-97D2-CF66824E29BB}">
      <dgm:prSet/>
      <dgm:spPr/>
      <dgm:t>
        <a:bodyPr/>
        <a:lstStyle/>
        <a:p>
          <a:endParaRPr lang="en-US"/>
        </a:p>
      </dgm:t>
    </dgm:pt>
    <dgm:pt modelId="{82C2A4F1-0C66-48A5-AFB4-EE7A2B29B162}">
      <dgm:prSet/>
      <dgm:spPr/>
      <dgm:t>
        <a:bodyPr/>
        <a:lstStyle/>
        <a:p>
          <a:r>
            <a:rPr lang="en-US"/>
            <a:t>Controlling is </a:t>
          </a:r>
          <a:r>
            <a:rPr lang="en-US" b="1" u="sng"/>
            <a:t>the management function in which managers establish </a:t>
          </a:r>
          <a:r>
            <a:rPr lang="en-US"/>
            <a:t>and </a:t>
          </a:r>
          <a:r>
            <a:rPr lang="en-US" b="1" u="sng"/>
            <a:t>communicate performance standards for</a:t>
          </a:r>
          <a:endParaRPr lang="en-US"/>
        </a:p>
      </dgm:t>
    </dgm:pt>
    <dgm:pt modelId="{58D4E14C-D3C0-41E6-99C8-EC2FC9841B43}" type="parTrans" cxnId="{B652CB08-32FF-4D95-B563-4AF965132A12}">
      <dgm:prSet/>
      <dgm:spPr/>
      <dgm:t>
        <a:bodyPr/>
        <a:lstStyle/>
        <a:p>
          <a:endParaRPr lang="en-US"/>
        </a:p>
      </dgm:t>
    </dgm:pt>
    <dgm:pt modelId="{D808440F-F07D-4DFC-9347-9803F62CF73D}" type="sibTrans" cxnId="{B652CB08-32FF-4D95-B563-4AF965132A12}">
      <dgm:prSet/>
      <dgm:spPr/>
      <dgm:t>
        <a:bodyPr/>
        <a:lstStyle/>
        <a:p>
          <a:endParaRPr lang="en-US"/>
        </a:p>
      </dgm:t>
    </dgm:pt>
    <dgm:pt modelId="{8E87DD2C-18DF-4AC6-83F0-2BDA519BDFDD}">
      <dgm:prSet/>
      <dgm:spPr/>
      <dgm:t>
        <a:bodyPr/>
        <a:lstStyle/>
        <a:p>
          <a:r>
            <a:rPr lang="en-US" b="1" u="sng"/>
            <a:t>people</a:t>
          </a:r>
          <a:r>
            <a:rPr lang="en-US"/>
            <a:t>, </a:t>
          </a:r>
          <a:r>
            <a:rPr lang="en-US" b="1" u="sng"/>
            <a:t>processes</a:t>
          </a:r>
          <a:r>
            <a:rPr lang="en-US"/>
            <a:t>, and </a:t>
          </a:r>
          <a:r>
            <a:rPr lang="en-US" b="1" u="sng"/>
            <a:t>devices.</a:t>
          </a:r>
          <a:endParaRPr lang="en-US"/>
        </a:p>
      </dgm:t>
    </dgm:pt>
    <dgm:pt modelId="{4D2BF24B-1BF9-414E-90CE-3F48B0FD86AF}" type="parTrans" cxnId="{93CB7007-0D1B-4B19-9D4E-DEC18DB3AE69}">
      <dgm:prSet/>
      <dgm:spPr/>
      <dgm:t>
        <a:bodyPr/>
        <a:lstStyle/>
        <a:p>
          <a:endParaRPr lang="en-US"/>
        </a:p>
      </dgm:t>
    </dgm:pt>
    <dgm:pt modelId="{EF1AC82C-89C6-49F9-9D13-D9011B681036}" type="sibTrans" cxnId="{93CB7007-0D1B-4B19-9D4E-DEC18DB3AE69}">
      <dgm:prSet/>
      <dgm:spPr/>
      <dgm:t>
        <a:bodyPr/>
        <a:lstStyle/>
        <a:p>
          <a:endParaRPr lang="en-US"/>
        </a:p>
      </dgm:t>
    </dgm:pt>
    <dgm:pt modelId="{43D8AA47-5D12-4C60-BED1-73A997FE6CE3}">
      <dgm:prSet/>
      <dgm:spPr/>
      <dgm:t>
        <a:bodyPr/>
        <a:lstStyle/>
        <a:p>
          <a:r>
            <a:rPr lang="en-US"/>
            <a:t>It could also </a:t>
          </a:r>
          <a:r>
            <a:rPr lang="en-US" b="1" u="sng"/>
            <a:t>be viewed as the systematic process through which managers </a:t>
          </a:r>
          <a:r>
            <a:rPr lang="en-US"/>
            <a:t>regulate </a:t>
          </a:r>
          <a:r>
            <a:rPr lang="en-US" b="1" u="sng"/>
            <a:t>organizational activities to make them consistent </a:t>
          </a:r>
          <a:r>
            <a:rPr lang="en-US"/>
            <a:t>with </a:t>
          </a:r>
          <a:r>
            <a:rPr lang="en-US" b="1" u="sng"/>
            <a:t>expectations established in plan targets</a:t>
          </a:r>
          <a:r>
            <a:rPr lang="en-US"/>
            <a:t> and </a:t>
          </a:r>
          <a:r>
            <a:rPr lang="en-US" b="1" u="sng"/>
            <a:t>standards of performance. </a:t>
          </a:r>
          <a:endParaRPr lang="en-US"/>
        </a:p>
      </dgm:t>
    </dgm:pt>
    <dgm:pt modelId="{34BABAA1-7199-4B3C-A156-2C6EECF32FC1}" type="parTrans" cxnId="{8FCD3346-B927-476D-883A-E6E52C087375}">
      <dgm:prSet/>
      <dgm:spPr/>
      <dgm:t>
        <a:bodyPr/>
        <a:lstStyle/>
        <a:p>
          <a:endParaRPr lang="en-US"/>
        </a:p>
      </dgm:t>
    </dgm:pt>
    <dgm:pt modelId="{701D1D25-8D0F-4528-85B3-9B2910039C98}" type="sibTrans" cxnId="{8FCD3346-B927-476D-883A-E6E52C087375}">
      <dgm:prSet/>
      <dgm:spPr/>
      <dgm:t>
        <a:bodyPr/>
        <a:lstStyle/>
        <a:p>
          <a:endParaRPr lang="en-US"/>
        </a:p>
      </dgm:t>
    </dgm:pt>
    <dgm:pt modelId="{7C03D5E3-FDBC-440A-A7A2-E13527C5133A}">
      <dgm:prSet/>
      <dgm:spPr/>
      <dgm:t>
        <a:bodyPr/>
        <a:lstStyle/>
        <a:p>
          <a:r>
            <a:rPr lang="en-US" b="1" u="sng"/>
            <a:t>Controlling requires managers to compare performance against the plans to monitor how successful an organization is at implementing a strategy. </a:t>
          </a:r>
          <a:endParaRPr lang="en-US"/>
        </a:p>
      </dgm:t>
    </dgm:pt>
    <dgm:pt modelId="{FEC543E4-8B29-4DC6-9479-C0392D6E7075}" type="parTrans" cxnId="{135DEE27-5C5C-4C2F-A491-40FE917CF614}">
      <dgm:prSet/>
      <dgm:spPr/>
      <dgm:t>
        <a:bodyPr/>
        <a:lstStyle/>
        <a:p>
          <a:endParaRPr lang="en-US"/>
        </a:p>
      </dgm:t>
    </dgm:pt>
    <dgm:pt modelId="{FBC5B7AB-6DD2-4AB7-B8A9-BAE3E40E9734}" type="sibTrans" cxnId="{135DEE27-5C5C-4C2F-A491-40FE917CF614}">
      <dgm:prSet/>
      <dgm:spPr/>
      <dgm:t>
        <a:bodyPr/>
        <a:lstStyle/>
        <a:p>
          <a:endParaRPr lang="en-US"/>
        </a:p>
      </dgm:t>
    </dgm:pt>
    <dgm:pt modelId="{4EED6011-F27F-451D-9D01-71296970BE33}" type="pres">
      <dgm:prSet presAssocID="{3CA6AD6F-20EA-4AD9-B952-FCAE0679FA8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FB5BC1-AC0A-41E8-9DEB-479BD1C46C22}" type="pres">
      <dgm:prSet presAssocID="{56D7DB20-9220-42C7-8615-EFF34E549C27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2A1F3D-1939-426A-B8CC-E094FD20E8C4}" type="pres">
      <dgm:prSet presAssocID="{F4C49B09-63BE-4858-ACEE-963A81597ACB}" presName="spacer" presStyleCnt="0"/>
      <dgm:spPr/>
    </dgm:pt>
    <dgm:pt modelId="{FF32EDC0-F35E-46FC-8731-9EB2C10A90B3}" type="pres">
      <dgm:prSet presAssocID="{E28707E6-E676-4AFB-96D5-7B30F4BE88B7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0DAE4E-301E-449A-98FB-1AA24C353779}" type="pres">
      <dgm:prSet presAssocID="{E28707E6-E676-4AFB-96D5-7B30F4BE88B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B021C3-4042-462C-8D05-E915300D9119}" type="presOf" srcId="{82C2A4F1-0C66-48A5-AFB4-EE7A2B29B162}" destId="{A20DAE4E-301E-449A-98FB-1AA24C353779}" srcOrd="0" destOrd="0" presId="urn:microsoft.com/office/officeart/2005/8/layout/vList2"/>
    <dgm:cxn modelId="{85C10DED-2881-4963-A336-3F54A710A90F}" type="presOf" srcId="{7C03D5E3-FDBC-440A-A7A2-E13527C5133A}" destId="{A20DAE4E-301E-449A-98FB-1AA24C353779}" srcOrd="0" destOrd="3" presId="urn:microsoft.com/office/officeart/2005/8/layout/vList2"/>
    <dgm:cxn modelId="{635D27D4-5162-4888-84FA-7B0774B87067}" type="presOf" srcId="{56D7DB20-9220-42C7-8615-EFF34E549C27}" destId="{DAFB5BC1-AC0A-41E8-9DEB-479BD1C46C22}" srcOrd="0" destOrd="0" presId="urn:microsoft.com/office/officeart/2005/8/layout/vList2"/>
    <dgm:cxn modelId="{595F6AAF-CA7E-4961-96BF-1CDFF164B512}" type="presOf" srcId="{E28707E6-E676-4AFB-96D5-7B30F4BE88B7}" destId="{FF32EDC0-F35E-46FC-8731-9EB2C10A90B3}" srcOrd="0" destOrd="0" presId="urn:microsoft.com/office/officeart/2005/8/layout/vList2"/>
    <dgm:cxn modelId="{1AE469FF-00AD-43F0-B57A-652EF8AF2F09}" srcId="{3CA6AD6F-20EA-4AD9-B952-FCAE0679FA86}" destId="{56D7DB20-9220-42C7-8615-EFF34E549C27}" srcOrd="0" destOrd="0" parTransId="{5D3076F6-BDEE-4E63-9802-7B803D45BDCA}" sibTransId="{F4C49B09-63BE-4858-ACEE-963A81597ACB}"/>
    <dgm:cxn modelId="{4C9A8B4B-534A-4213-A2B2-C8A780E0EBB2}" type="presOf" srcId="{43D8AA47-5D12-4C60-BED1-73A997FE6CE3}" destId="{A20DAE4E-301E-449A-98FB-1AA24C353779}" srcOrd="0" destOrd="2" presId="urn:microsoft.com/office/officeart/2005/8/layout/vList2"/>
    <dgm:cxn modelId="{93CB7007-0D1B-4B19-9D4E-DEC18DB3AE69}" srcId="{82C2A4F1-0C66-48A5-AFB4-EE7A2B29B162}" destId="{8E87DD2C-18DF-4AC6-83F0-2BDA519BDFDD}" srcOrd="0" destOrd="0" parTransId="{4D2BF24B-1BF9-414E-90CE-3F48B0FD86AF}" sibTransId="{EF1AC82C-89C6-49F9-9D13-D9011B681036}"/>
    <dgm:cxn modelId="{B652CB08-32FF-4D95-B563-4AF965132A12}" srcId="{E28707E6-E676-4AFB-96D5-7B30F4BE88B7}" destId="{82C2A4F1-0C66-48A5-AFB4-EE7A2B29B162}" srcOrd="0" destOrd="0" parTransId="{58D4E14C-D3C0-41E6-99C8-EC2FC9841B43}" sibTransId="{D808440F-F07D-4DFC-9347-9803F62CF73D}"/>
    <dgm:cxn modelId="{9FCEF5E6-1573-4B92-97D2-CF66824E29BB}" srcId="{3CA6AD6F-20EA-4AD9-B952-FCAE0679FA86}" destId="{E28707E6-E676-4AFB-96D5-7B30F4BE88B7}" srcOrd="1" destOrd="0" parTransId="{ECD56064-3B39-4EEB-8F09-5A2BBBB5809E}" sibTransId="{B2578845-1EE7-4574-9775-BD1E97737CB1}"/>
    <dgm:cxn modelId="{0D4A005E-905D-46AC-B55C-066F7B158B6F}" type="presOf" srcId="{3CA6AD6F-20EA-4AD9-B952-FCAE0679FA86}" destId="{4EED6011-F27F-451D-9D01-71296970BE33}" srcOrd="0" destOrd="0" presId="urn:microsoft.com/office/officeart/2005/8/layout/vList2"/>
    <dgm:cxn modelId="{8FCD3346-B927-476D-883A-E6E52C087375}" srcId="{E28707E6-E676-4AFB-96D5-7B30F4BE88B7}" destId="{43D8AA47-5D12-4C60-BED1-73A997FE6CE3}" srcOrd="1" destOrd="0" parTransId="{34BABAA1-7199-4B3C-A156-2C6EECF32FC1}" sibTransId="{701D1D25-8D0F-4528-85B3-9B2910039C98}"/>
    <dgm:cxn modelId="{F463B617-E28B-4FD7-A213-3561940855BC}" type="presOf" srcId="{8E87DD2C-18DF-4AC6-83F0-2BDA519BDFDD}" destId="{A20DAE4E-301E-449A-98FB-1AA24C353779}" srcOrd="0" destOrd="1" presId="urn:microsoft.com/office/officeart/2005/8/layout/vList2"/>
    <dgm:cxn modelId="{135DEE27-5C5C-4C2F-A491-40FE917CF614}" srcId="{E28707E6-E676-4AFB-96D5-7B30F4BE88B7}" destId="{7C03D5E3-FDBC-440A-A7A2-E13527C5133A}" srcOrd="2" destOrd="0" parTransId="{FEC543E4-8B29-4DC6-9479-C0392D6E7075}" sibTransId="{FBC5B7AB-6DD2-4AB7-B8A9-BAE3E40E9734}"/>
    <dgm:cxn modelId="{745EC27D-2FC1-4421-86F2-C913F3381323}" type="presParOf" srcId="{4EED6011-F27F-451D-9D01-71296970BE33}" destId="{DAFB5BC1-AC0A-41E8-9DEB-479BD1C46C22}" srcOrd="0" destOrd="0" presId="urn:microsoft.com/office/officeart/2005/8/layout/vList2"/>
    <dgm:cxn modelId="{7BB83E0B-DB85-4D41-B1D4-EF7E1BC40D01}" type="presParOf" srcId="{4EED6011-F27F-451D-9D01-71296970BE33}" destId="{4C2A1F3D-1939-426A-B8CC-E094FD20E8C4}" srcOrd="1" destOrd="0" presId="urn:microsoft.com/office/officeart/2005/8/layout/vList2"/>
    <dgm:cxn modelId="{B45D9A2E-453A-45D2-A675-FED16267AD9E}" type="presParOf" srcId="{4EED6011-F27F-451D-9D01-71296970BE33}" destId="{FF32EDC0-F35E-46FC-8731-9EB2C10A90B3}" srcOrd="2" destOrd="0" presId="urn:microsoft.com/office/officeart/2005/8/layout/vList2"/>
    <dgm:cxn modelId="{F605E036-3865-427A-8A18-542D2C55E10C}" type="presParOf" srcId="{4EED6011-F27F-451D-9D01-71296970BE33}" destId="{A20DAE4E-301E-449A-98FB-1AA24C35377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1AF7E7-4A20-4743-BBF7-17F21175A566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D15E64-49E4-4BEB-9DF4-094DCC9713EE}">
      <dgm:prSet/>
      <dgm:spPr/>
      <dgm:t>
        <a:bodyPr/>
        <a:lstStyle/>
        <a:p>
          <a:pPr algn="just"/>
          <a:r>
            <a:rPr lang="en-US" dirty="0"/>
            <a:t>Controlling is the process of monitoring performance against goals, intervening when goals are not met, and taking corrective action.</a:t>
          </a:r>
        </a:p>
      </dgm:t>
    </dgm:pt>
    <dgm:pt modelId="{864CAB71-CDE0-4FE5-895B-615DD26B9499}" type="parTrans" cxnId="{F9B5DB61-1BDA-45EA-83B5-910C99B6FEF5}">
      <dgm:prSet/>
      <dgm:spPr/>
      <dgm:t>
        <a:bodyPr/>
        <a:lstStyle/>
        <a:p>
          <a:endParaRPr lang="en-US"/>
        </a:p>
      </dgm:t>
    </dgm:pt>
    <dgm:pt modelId="{A93D0FC4-41B2-49EC-B02A-088501988CEF}" type="sibTrans" cxnId="{F9B5DB61-1BDA-45EA-83B5-910C99B6FEF5}">
      <dgm:prSet/>
      <dgm:spPr/>
      <dgm:t>
        <a:bodyPr/>
        <a:lstStyle/>
        <a:p>
          <a:endParaRPr lang="en-US"/>
        </a:p>
      </dgm:t>
    </dgm:pt>
    <dgm:pt modelId="{152DC9A0-649E-48D4-9C0A-6347151070D4}">
      <dgm:prSet/>
      <dgm:spPr/>
      <dgm:t>
        <a:bodyPr/>
        <a:lstStyle/>
        <a:p>
          <a:pPr algn="just"/>
          <a:r>
            <a:rPr lang="en-US" dirty="0"/>
            <a:t>Controlling is just as important as planning, strategizing, and organizing. Without control systems to verify that performance is hitting goals, an organization can veer off course.</a:t>
          </a:r>
        </a:p>
      </dgm:t>
    </dgm:pt>
    <dgm:pt modelId="{FD6936A2-198F-4042-969B-56EBA0BE493B}" type="parTrans" cxnId="{2F06E48E-8168-4063-A144-1BA927E1FFE8}">
      <dgm:prSet/>
      <dgm:spPr/>
      <dgm:t>
        <a:bodyPr/>
        <a:lstStyle/>
        <a:p>
          <a:endParaRPr lang="en-US"/>
        </a:p>
      </dgm:t>
    </dgm:pt>
    <dgm:pt modelId="{6933AFDA-61A0-451D-B6B9-E0EF74C9A2DD}" type="sibTrans" cxnId="{2F06E48E-8168-4063-A144-1BA927E1FFE8}">
      <dgm:prSet/>
      <dgm:spPr/>
      <dgm:t>
        <a:bodyPr/>
        <a:lstStyle/>
        <a:p>
          <a:endParaRPr lang="en-US"/>
        </a:p>
      </dgm:t>
    </dgm:pt>
    <dgm:pt modelId="{F49F3BD0-BE70-4581-B99B-2E1798C7BD5B}">
      <dgm:prSet/>
      <dgm:spPr/>
      <dgm:t>
        <a:bodyPr/>
        <a:lstStyle/>
        <a:p>
          <a:r>
            <a:rPr lang="en-US"/>
            <a:t>Controlling is </a:t>
          </a:r>
          <a:r>
            <a:rPr lang="en-US" b="1" u="sng"/>
            <a:t>the management function in which managers establish </a:t>
          </a:r>
          <a:r>
            <a:rPr lang="en-US"/>
            <a:t>and </a:t>
          </a:r>
          <a:r>
            <a:rPr lang="en-US" b="1" u="sng"/>
            <a:t>communicate performance standards for people</a:t>
          </a:r>
          <a:r>
            <a:rPr lang="en-US"/>
            <a:t>, </a:t>
          </a:r>
          <a:r>
            <a:rPr lang="en-US" b="1" u="sng"/>
            <a:t>processes</a:t>
          </a:r>
          <a:r>
            <a:rPr lang="en-US"/>
            <a:t>, and </a:t>
          </a:r>
          <a:r>
            <a:rPr lang="en-US" b="1" u="sng"/>
            <a:t>devices.</a:t>
          </a:r>
          <a:endParaRPr lang="en-US"/>
        </a:p>
      </dgm:t>
    </dgm:pt>
    <dgm:pt modelId="{0651D820-D33A-4C1D-83F0-1E0A25458008}" type="parTrans" cxnId="{1F4EB50A-C83D-4AB2-9E5F-E111CCB78820}">
      <dgm:prSet/>
      <dgm:spPr/>
      <dgm:t>
        <a:bodyPr/>
        <a:lstStyle/>
        <a:p>
          <a:endParaRPr lang="en-US"/>
        </a:p>
      </dgm:t>
    </dgm:pt>
    <dgm:pt modelId="{72A970CB-2A85-44D3-954F-23B3189E0BDA}" type="sibTrans" cxnId="{1F4EB50A-C83D-4AB2-9E5F-E111CCB78820}">
      <dgm:prSet/>
      <dgm:spPr/>
      <dgm:t>
        <a:bodyPr/>
        <a:lstStyle/>
        <a:p>
          <a:endParaRPr lang="en-US"/>
        </a:p>
      </dgm:t>
    </dgm:pt>
    <dgm:pt modelId="{C5987BCE-0E34-468A-ABEE-E5B077909AA2}" type="pres">
      <dgm:prSet presAssocID="{761AF7E7-4A20-4743-BBF7-17F21175A56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5579C2-DB31-4EB9-9F29-016DD61CA56E}" type="pres">
      <dgm:prSet presAssocID="{74D15E64-49E4-4BEB-9DF4-094DCC9713EE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39A188-903B-43E3-9D50-D1A66BB2A6F7}" type="pres">
      <dgm:prSet presAssocID="{A93D0FC4-41B2-49EC-B02A-088501988CEF}" presName="spacer" presStyleCnt="0"/>
      <dgm:spPr/>
    </dgm:pt>
    <dgm:pt modelId="{D13CF488-9E8E-49BE-9048-47E2E8090E8D}" type="pres">
      <dgm:prSet presAssocID="{152DC9A0-649E-48D4-9C0A-6347151070D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E5C7DB-2201-48DD-BBFD-E315D89C3F2F}" type="pres">
      <dgm:prSet presAssocID="{152DC9A0-649E-48D4-9C0A-6347151070D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06E48E-8168-4063-A144-1BA927E1FFE8}" srcId="{761AF7E7-4A20-4743-BBF7-17F21175A566}" destId="{152DC9A0-649E-48D4-9C0A-6347151070D4}" srcOrd="1" destOrd="0" parTransId="{FD6936A2-198F-4042-969B-56EBA0BE493B}" sibTransId="{6933AFDA-61A0-451D-B6B9-E0EF74C9A2DD}"/>
    <dgm:cxn modelId="{F0B1A465-A50D-4529-ACEE-5600558C7542}" type="presOf" srcId="{F49F3BD0-BE70-4581-B99B-2E1798C7BD5B}" destId="{8AE5C7DB-2201-48DD-BBFD-E315D89C3F2F}" srcOrd="0" destOrd="0" presId="urn:microsoft.com/office/officeart/2005/8/layout/vList2"/>
    <dgm:cxn modelId="{F9B5DB61-1BDA-45EA-83B5-910C99B6FEF5}" srcId="{761AF7E7-4A20-4743-BBF7-17F21175A566}" destId="{74D15E64-49E4-4BEB-9DF4-094DCC9713EE}" srcOrd="0" destOrd="0" parTransId="{864CAB71-CDE0-4FE5-895B-615DD26B9499}" sibTransId="{A93D0FC4-41B2-49EC-B02A-088501988CEF}"/>
    <dgm:cxn modelId="{D40D89A6-8F0D-48EF-9205-77A9DDF38107}" type="presOf" srcId="{761AF7E7-4A20-4743-BBF7-17F21175A566}" destId="{C5987BCE-0E34-468A-ABEE-E5B077909AA2}" srcOrd="0" destOrd="0" presId="urn:microsoft.com/office/officeart/2005/8/layout/vList2"/>
    <dgm:cxn modelId="{1F4EB50A-C83D-4AB2-9E5F-E111CCB78820}" srcId="{152DC9A0-649E-48D4-9C0A-6347151070D4}" destId="{F49F3BD0-BE70-4581-B99B-2E1798C7BD5B}" srcOrd="0" destOrd="0" parTransId="{0651D820-D33A-4C1D-83F0-1E0A25458008}" sibTransId="{72A970CB-2A85-44D3-954F-23B3189E0BDA}"/>
    <dgm:cxn modelId="{C31EC293-3554-414F-8AE6-ED3C3E56E175}" type="presOf" srcId="{152DC9A0-649E-48D4-9C0A-6347151070D4}" destId="{D13CF488-9E8E-49BE-9048-47E2E8090E8D}" srcOrd="0" destOrd="0" presId="urn:microsoft.com/office/officeart/2005/8/layout/vList2"/>
    <dgm:cxn modelId="{6D70ED5A-B03D-4F9B-80AE-6E89B0F820E8}" type="presOf" srcId="{74D15E64-49E4-4BEB-9DF4-094DCC9713EE}" destId="{065579C2-DB31-4EB9-9F29-016DD61CA56E}" srcOrd="0" destOrd="0" presId="urn:microsoft.com/office/officeart/2005/8/layout/vList2"/>
    <dgm:cxn modelId="{DF70C7C0-E9E0-46F4-B6BE-568FFFEA048B}" type="presParOf" srcId="{C5987BCE-0E34-468A-ABEE-E5B077909AA2}" destId="{065579C2-DB31-4EB9-9F29-016DD61CA56E}" srcOrd="0" destOrd="0" presId="urn:microsoft.com/office/officeart/2005/8/layout/vList2"/>
    <dgm:cxn modelId="{F68CB9A2-5C6D-4EC2-974C-2C778B893572}" type="presParOf" srcId="{C5987BCE-0E34-468A-ABEE-E5B077909AA2}" destId="{1B39A188-903B-43E3-9D50-D1A66BB2A6F7}" srcOrd="1" destOrd="0" presId="urn:microsoft.com/office/officeart/2005/8/layout/vList2"/>
    <dgm:cxn modelId="{2CD9A96D-8806-4ED2-A8BC-F5E2F4CB333B}" type="presParOf" srcId="{C5987BCE-0E34-468A-ABEE-E5B077909AA2}" destId="{D13CF488-9E8E-49BE-9048-47E2E8090E8D}" srcOrd="2" destOrd="0" presId="urn:microsoft.com/office/officeart/2005/8/layout/vList2"/>
    <dgm:cxn modelId="{BEC2E5C4-947C-4357-9A49-3A7338C94A80}" type="presParOf" srcId="{C5987BCE-0E34-468A-ABEE-E5B077909AA2}" destId="{8AE5C7DB-2201-48DD-BBFD-E315D89C3F2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8715FE-B344-46E9-AB13-27FFE96362FA}" type="doc">
      <dgm:prSet loTypeId="urn:microsoft.com/office/officeart/2005/8/layout/vList3" loCatId="list" qsTypeId="urn:microsoft.com/office/officeart/2005/8/quickstyle/3d1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28A10915-EF20-4D21-A751-19BC93798342}">
      <dgm:prSet/>
      <dgm:spPr/>
      <dgm:t>
        <a:bodyPr/>
        <a:lstStyle/>
        <a:p>
          <a:pPr algn="just"/>
          <a:r>
            <a:rPr lang="en-US" dirty="0"/>
            <a:t>It could also </a:t>
          </a:r>
          <a:r>
            <a:rPr lang="en-US" b="1" u="sng" dirty="0"/>
            <a:t>be viewed as the systematic process through which managers </a:t>
          </a:r>
          <a:r>
            <a:rPr lang="en-US" dirty="0"/>
            <a:t>regulate </a:t>
          </a:r>
          <a:r>
            <a:rPr lang="en-US" b="1" u="sng" dirty="0"/>
            <a:t>organizational activities to make them consistent </a:t>
          </a:r>
          <a:r>
            <a:rPr lang="en-US" dirty="0"/>
            <a:t>with </a:t>
          </a:r>
          <a:r>
            <a:rPr lang="en-US" b="1" u="sng" dirty="0"/>
            <a:t>expectations established in plan targets</a:t>
          </a:r>
          <a:r>
            <a:rPr lang="en-US" dirty="0"/>
            <a:t> and </a:t>
          </a:r>
          <a:r>
            <a:rPr lang="en-US" b="1" u="sng" dirty="0"/>
            <a:t>standards of performance. </a:t>
          </a:r>
          <a:endParaRPr lang="en-US" dirty="0"/>
        </a:p>
      </dgm:t>
    </dgm:pt>
    <dgm:pt modelId="{F2573FBE-567C-47A4-BDC1-36CFBA19A31F}" type="parTrans" cxnId="{8AB98EDC-2691-4BE7-8CDB-95154574969A}">
      <dgm:prSet/>
      <dgm:spPr/>
      <dgm:t>
        <a:bodyPr/>
        <a:lstStyle/>
        <a:p>
          <a:endParaRPr lang="en-US"/>
        </a:p>
      </dgm:t>
    </dgm:pt>
    <dgm:pt modelId="{D424FD14-DDF5-4967-A6BA-3E8544180E47}" type="sibTrans" cxnId="{8AB98EDC-2691-4BE7-8CDB-95154574969A}">
      <dgm:prSet/>
      <dgm:spPr/>
      <dgm:t>
        <a:bodyPr/>
        <a:lstStyle/>
        <a:p>
          <a:endParaRPr lang="en-US"/>
        </a:p>
      </dgm:t>
    </dgm:pt>
    <dgm:pt modelId="{AAD739B0-E1B3-430D-B659-6E1AC49EAC4E}">
      <dgm:prSet/>
      <dgm:spPr/>
      <dgm:t>
        <a:bodyPr/>
        <a:lstStyle/>
        <a:p>
          <a:pPr algn="just"/>
          <a:r>
            <a:rPr lang="en-US" b="1" u="sng" dirty="0"/>
            <a:t>Controlling requires managers to compare performance against the plans to monitor how successful an organization is at implementing a strategy. </a:t>
          </a:r>
          <a:endParaRPr lang="en-US" dirty="0"/>
        </a:p>
      </dgm:t>
    </dgm:pt>
    <dgm:pt modelId="{AF655F58-0BB6-4DD6-922D-7DF279075352}" type="parTrans" cxnId="{962A0C9C-A9A9-4985-ABFF-455DDE90A700}">
      <dgm:prSet/>
      <dgm:spPr/>
      <dgm:t>
        <a:bodyPr/>
        <a:lstStyle/>
        <a:p>
          <a:endParaRPr lang="en-US"/>
        </a:p>
      </dgm:t>
    </dgm:pt>
    <dgm:pt modelId="{A922BD8A-466D-43DA-92D5-243DE5D72CED}" type="sibTrans" cxnId="{962A0C9C-A9A9-4985-ABFF-455DDE90A700}">
      <dgm:prSet/>
      <dgm:spPr/>
      <dgm:t>
        <a:bodyPr/>
        <a:lstStyle/>
        <a:p>
          <a:endParaRPr lang="en-US"/>
        </a:p>
      </dgm:t>
    </dgm:pt>
    <dgm:pt modelId="{DBE5D896-8161-49E0-928B-6D040E9BE16A}" type="pres">
      <dgm:prSet presAssocID="{5B8715FE-B344-46E9-AB13-27FFE96362F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19BBCA1-3E57-4109-82B3-22809DAD71EC}" type="pres">
      <dgm:prSet presAssocID="{28A10915-EF20-4D21-A751-19BC93798342}" presName="composite" presStyleCnt="0"/>
      <dgm:spPr/>
    </dgm:pt>
    <dgm:pt modelId="{599E3A19-2A31-4350-980A-DF3F59FF6B0D}" type="pres">
      <dgm:prSet presAssocID="{28A10915-EF20-4D21-A751-19BC93798342}" presName="imgShp" presStyleLbl="fgImgPlace1" presStyleIdx="0" presStyleCnt="2" custScaleX="70624" custScaleY="91497" custLinFactNeighborX="-31169" custLinFactNeighborY="662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FBFD109B-4C5C-490B-B81A-E58A7BAF4209}" type="pres">
      <dgm:prSet presAssocID="{28A10915-EF20-4D21-A751-19BC93798342}" presName="txShp" presStyleLbl="node1" presStyleIdx="0" presStyleCnt="2" custScaleX="1411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75B5CD-7935-4BBE-A42F-30C8B671B4A1}" type="pres">
      <dgm:prSet presAssocID="{D424FD14-DDF5-4967-A6BA-3E8544180E47}" presName="spacing" presStyleCnt="0"/>
      <dgm:spPr/>
    </dgm:pt>
    <dgm:pt modelId="{18BA721F-CE40-4EA7-AFE3-F299CA4C68B7}" type="pres">
      <dgm:prSet presAssocID="{AAD739B0-E1B3-430D-B659-6E1AC49EAC4E}" presName="composite" presStyleCnt="0"/>
      <dgm:spPr/>
    </dgm:pt>
    <dgm:pt modelId="{47B6F8DB-9D31-4B68-A88A-9FF5CB354F7B}" type="pres">
      <dgm:prSet presAssocID="{AAD739B0-E1B3-430D-B659-6E1AC49EAC4E}" presName="imgShp" presStyleLbl="fgImgPlace1" presStyleIdx="1" presStyleCnt="2" custScaleX="71733" custScaleY="85421" custLinFactNeighborX="-25243" custLinFactNeighborY="-173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C0E1888E-6590-4575-9D37-B2BA705C7C30}" type="pres">
      <dgm:prSet presAssocID="{AAD739B0-E1B3-430D-B659-6E1AC49EAC4E}" presName="txShp" presStyleLbl="node1" presStyleIdx="1" presStyleCnt="2" custScaleX="1450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ED5718-5328-4522-A143-1E94686B7A31}" type="presOf" srcId="{28A10915-EF20-4D21-A751-19BC93798342}" destId="{FBFD109B-4C5C-490B-B81A-E58A7BAF4209}" srcOrd="0" destOrd="0" presId="urn:microsoft.com/office/officeart/2005/8/layout/vList3"/>
    <dgm:cxn modelId="{8B1AF6A3-4879-451F-8F7B-0832088BAB1A}" type="presOf" srcId="{AAD739B0-E1B3-430D-B659-6E1AC49EAC4E}" destId="{C0E1888E-6590-4575-9D37-B2BA705C7C30}" srcOrd="0" destOrd="0" presId="urn:microsoft.com/office/officeart/2005/8/layout/vList3"/>
    <dgm:cxn modelId="{A9656BB9-7AA7-4844-93C3-F846DB747339}" type="presOf" srcId="{5B8715FE-B344-46E9-AB13-27FFE96362FA}" destId="{DBE5D896-8161-49E0-928B-6D040E9BE16A}" srcOrd="0" destOrd="0" presId="urn:microsoft.com/office/officeart/2005/8/layout/vList3"/>
    <dgm:cxn modelId="{8AB98EDC-2691-4BE7-8CDB-95154574969A}" srcId="{5B8715FE-B344-46E9-AB13-27FFE96362FA}" destId="{28A10915-EF20-4D21-A751-19BC93798342}" srcOrd="0" destOrd="0" parTransId="{F2573FBE-567C-47A4-BDC1-36CFBA19A31F}" sibTransId="{D424FD14-DDF5-4967-A6BA-3E8544180E47}"/>
    <dgm:cxn modelId="{962A0C9C-A9A9-4985-ABFF-455DDE90A700}" srcId="{5B8715FE-B344-46E9-AB13-27FFE96362FA}" destId="{AAD739B0-E1B3-430D-B659-6E1AC49EAC4E}" srcOrd="1" destOrd="0" parTransId="{AF655F58-0BB6-4DD6-922D-7DF279075352}" sibTransId="{A922BD8A-466D-43DA-92D5-243DE5D72CED}"/>
    <dgm:cxn modelId="{98C80147-452C-483C-9D93-391834FAABBF}" type="presParOf" srcId="{DBE5D896-8161-49E0-928B-6D040E9BE16A}" destId="{519BBCA1-3E57-4109-82B3-22809DAD71EC}" srcOrd="0" destOrd="0" presId="urn:microsoft.com/office/officeart/2005/8/layout/vList3"/>
    <dgm:cxn modelId="{6C9B4DD8-734A-4534-9172-C2D271C74913}" type="presParOf" srcId="{519BBCA1-3E57-4109-82B3-22809DAD71EC}" destId="{599E3A19-2A31-4350-980A-DF3F59FF6B0D}" srcOrd="0" destOrd="0" presId="urn:microsoft.com/office/officeart/2005/8/layout/vList3"/>
    <dgm:cxn modelId="{0073C754-B07E-4D00-8AA6-F22530789C97}" type="presParOf" srcId="{519BBCA1-3E57-4109-82B3-22809DAD71EC}" destId="{FBFD109B-4C5C-490B-B81A-E58A7BAF4209}" srcOrd="1" destOrd="0" presId="urn:microsoft.com/office/officeart/2005/8/layout/vList3"/>
    <dgm:cxn modelId="{67139AD1-43EE-4EB5-BCF9-68D5BDCC309A}" type="presParOf" srcId="{DBE5D896-8161-49E0-928B-6D040E9BE16A}" destId="{5D75B5CD-7935-4BBE-A42F-30C8B671B4A1}" srcOrd="1" destOrd="0" presId="urn:microsoft.com/office/officeart/2005/8/layout/vList3"/>
    <dgm:cxn modelId="{819237D0-49F0-49A8-B34D-12212E6F3598}" type="presParOf" srcId="{DBE5D896-8161-49E0-928B-6D040E9BE16A}" destId="{18BA721F-CE40-4EA7-AFE3-F299CA4C68B7}" srcOrd="2" destOrd="0" presId="urn:microsoft.com/office/officeart/2005/8/layout/vList3"/>
    <dgm:cxn modelId="{C21DB275-8AF2-47EC-89D2-FA763CD31559}" type="presParOf" srcId="{18BA721F-CE40-4EA7-AFE3-F299CA4C68B7}" destId="{47B6F8DB-9D31-4B68-A88A-9FF5CB354F7B}" srcOrd="0" destOrd="0" presId="urn:microsoft.com/office/officeart/2005/8/layout/vList3"/>
    <dgm:cxn modelId="{F3B243EB-2D52-4E38-8FC1-554EE95AE917}" type="presParOf" srcId="{18BA721F-CE40-4EA7-AFE3-F299CA4C68B7}" destId="{C0E1888E-6590-4575-9D37-B2BA705C7C3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351255-6F70-4188-BEC2-4FCE02B9ABBE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FB6018E4-E2E6-430A-814B-C6E9CF3077C8}">
      <dgm:prSet/>
      <dgm:spPr/>
      <dgm:t>
        <a:bodyPr/>
        <a:lstStyle/>
        <a:p>
          <a:r>
            <a:rPr lang="en-US"/>
            <a:t>The </a:t>
          </a:r>
          <a:r>
            <a:rPr lang="en-US" b="1" u="sng"/>
            <a:t>six major purposes of controls </a:t>
          </a:r>
          <a:r>
            <a:rPr lang="en-US"/>
            <a:t>are as follows;</a:t>
          </a:r>
        </a:p>
      </dgm:t>
    </dgm:pt>
    <dgm:pt modelId="{DA0E540C-52D3-4D8F-B22C-7F415C38549B}" type="parTrans" cxnId="{D68FC6E0-5316-4AF1-BCA8-4A6DEB56902A}">
      <dgm:prSet/>
      <dgm:spPr/>
      <dgm:t>
        <a:bodyPr/>
        <a:lstStyle/>
        <a:p>
          <a:endParaRPr lang="en-US"/>
        </a:p>
      </dgm:t>
    </dgm:pt>
    <dgm:pt modelId="{6A5681E4-66A5-4A16-AC14-296CB57AD066}" type="sibTrans" cxnId="{D68FC6E0-5316-4AF1-BCA8-4A6DEB56902A}">
      <dgm:prSet/>
      <dgm:spPr/>
      <dgm:t>
        <a:bodyPr/>
        <a:lstStyle/>
        <a:p>
          <a:endParaRPr lang="en-US"/>
        </a:p>
      </dgm:t>
    </dgm:pt>
    <dgm:pt modelId="{AE7ABDFB-E695-4C98-B765-1C2D754F9C67}">
      <dgm:prSet/>
      <dgm:spPr/>
      <dgm:t>
        <a:bodyPr/>
        <a:lstStyle/>
        <a:p>
          <a:r>
            <a:rPr lang="en-US" b="1" u="sng"/>
            <a:t>Controls make plans effective</a:t>
          </a:r>
          <a:r>
            <a:rPr lang="en-US"/>
            <a:t>. Managers need to measure progress, get feedback and direct their teams if they want to succeed.</a:t>
          </a:r>
        </a:p>
      </dgm:t>
    </dgm:pt>
    <dgm:pt modelId="{D65B0AE2-263E-4D51-B2BB-F662785C8363}" type="parTrans" cxnId="{A8017D46-827A-4961-84B0-97E49C664DF4}">
      <dgm:prSet/>
      <dgm:spPr/>
      <dgm:t>
        <a:bodyPr/>
        <a:lstStyle/>
        <a:p>
          <a:endParaRPr lang="en-US"/>
        </a:p>
      </dgm:t>
    </dgm:pt>
    <dgm:pt modelId="{70DB6CA5-3894-403A-96BB-D12839362282}" type="sibTrans" cxnId="{A8017D46-827A-4961-84B0-97E49C664DF4}">
      <dgm:prSet/>
      <dgm:spPr/>
      <dgm:t>
        <a:bodyPr/>
        <a:lstStyle/>
        <a:p>
          <a:endParaRPr lang="en-US"/>
        </a:p>
      </dgm:t>
    </dgm:pt>
    <dgm:pt modelId="{ED39BA16-C96C-4947-B76E-2D38D5E1F65A}">
      <dgm:prSet/>
      <dgm:spPr/>
      <dgm:t>
        <a:bodyPr/>
        <a:lstStyle/>
        <a:p>
          <a:r>
            <a:rPr lang="en-US" b="1" u="sng" dirty="0"/>
            <a:t>Controls make sure that organizational activities are consistent. Policies and procedures </a:t>
          </a:r>
          <a:r>
            <a:rPr lang="en-US" dirty="0"/>
            <a:t>help ensure that efforts are integrated.</a:t>
          </a:r>
        </a:p>
      </dgm:t>
    </dgm:pt>
    <dgm:pt modelId="{0A8934A3-8286-484B-8556-96E744C2249A}" type="parTrans" cxnId="{4EE15692-5E02-485C-ADAB-178A46CAA3D6}">
      <dgm:prSet/>
      <dgm:spPr/>
      <dgm:t>
        <a:bodyPr/>
        <a:lstStyle/>
        <a:p>
          <a:endParaRPr lang="en-US"/>
        </a:p>
      </dgm:t>
    </dgm:pt>
    <dgm:pt modelId="{DC24F90E-833D-4243-8573-2AFF4840E1DB}" type="sibTrans" cxnId="{4EE15692-5E02-485C-ADAB-178A46CAA3D6}">
      <dgm:prSet/>
      <dgm:spPr/>
      <dgm:t>
        <a:bodyPr/>
        <a:lstStyle/>
        <a:p>
          <a:endParaRPr lang="en-US"/>
        </a:p>
      </dgm:t>
    </dgm:pt>
    <dgm:pt modelId="{279E61D0-0392-490F-8A41-BCB12F50FC29}">
      <dgm:prSet/>
      <dgm:spPr/>
      <dgm:t>
        <a:bodyPr/>
        <a:lstStyle/>
        <a:p>
          <a:r>
            <a:rPr lang="en-US" b="1" u="sng" dirty="0"/>
            <a:t>Controls make organizations effective. </a:t>
          </a:r>
          <a:r>
            <a:rPr lang="en-US" dirty="0"/>
            <a:t>Organizations need controls in place if they want to achieve and accomplish their objectives.</a:t>
          </a:r>
          <a:r>
            <a:rPr lang="en-US" b="1" u="sng" dirty="0"/>
            <a:t> </a:t>
          </a:r>
          <a:endParaRPr lang="en-US" dirty="0"/>
        </a:p>
      </dgm:t>
    </dgm:pt>
    <dgm:pt modelId="{0BE90EFC-7FA5-4E9C-8050-A0D8B2915A44}" type="parTrans" cxnId="{3C2A33E9-FAEB-4B18-90DB-B4273A724C55}">
      <dgm:prSet/>
      <dgm:spPr/>
      <dgm:t>
        <a:bodyPr/>
        <a:lstStyle/>
        <a:p>
          <a:endParaRPr lang="en-US"/>
        </a:p>
      </dgm:t>
    </dgm:pt>
    <dgm:pt modelId="{BC2251A9-FD64-48A7-BFE6-77ED21D8B939}" type="sibTrans" cxnId="{3C2A33E9-FAEB-4B18-90DB-B4273A724C55}">
      <dgm:prSet/>
      <dgm:spPr/>
      <dgm:t>
        <a:bodyPr/>
        <a:lstStyle/>
        <a:p>
          <a:endParaRPr lang="en-US"/>
        </a:p>
      </dgm:t>
    </dgm:pt>
    <dgm:pt modelId="{744E5FBB-84AF-454A-9A00-FB4DF2D6ABDA}">
      <dgm:prSet/>
      <dgm:spPr/>
      <dgm:t>
        <a:bodyPr/>
        <a:lstStyle/>
        <a:p>
          <a:r>
            <a:rPr lang="en-US" b="1" u="sng"/>
            <a:t>Controls make organizations efficient</a:t>
          </a:r>
          <a:r>
            <a:rPr lang="en-US"/>
            <a:t>. Efficiency probably depends more on controls than any other management function.</a:t>
          </a:r>
          <a:r>
            <a:rPr lang="en-US" b="1" u="sng"/>
            <a:t> </a:t>
          </a:r>
          <a:endParaRPr lang="en-US"/>
        </a:p>
      </dgm:t>
    </dgm:pt>
    <dgm:pt modelId="{4BA4CE35-B1A6-42FA-BF16-4AE9CC85CE3E}" type="parTrans" cxnId="{4D51E06D-756D-456A-973E-49D834510B38}">
      <dgm:prSet/>
      <dgm:spPr/>
      <dgm:t>
        <a:bodyPr/>
        <a:lstStyle/>
        <a:p>
          <a:endParaRPr lang="en-US"/>
        </a:p>
      </dgm:t>
    </dgm:pt>
    <dgm:pt modelId="{9A07DBB3-4C15-4914-9D16-3A1B6A311FB7}" type="sibTrans" cxnId="{4D51E06D-756D-456A-973E-49D834510B38}">
      <dgm:prSet/>
      <dgm:spPr/>
      <dgm:t>
        <a:bodyPr/>
        <a:lstStyle/>
        <a:p>
          <a:endParaRPr lang="en-US"/>
        </a:p>
      </dgm:t>
    </dgm:pt>
    <dgm:pt modelId="{1EF5085A-C9F9-4DE6-A427-81130AADABDE}">
      <dgm:prSet/>
      <dgm:spPr/>
      <dgm:t>
        <a:bodyPr/>
        <a:lstStyle/>
        <a:p>
          <a:r>
            <a:rPr lang="en-US" b="1" u="sng"/>
            <a:t>Controls provide feedback</a:t>
          </a:r>
          <a:r>
            <a:rPr lang="en-US"/>
            <a:t>. Not only do they measure progress, but controls also provide feedback to participants as well and</a:t>
          </a:r>
          <a:r>
            <a:rPr lang="en-US" b="1" u="sng"/>
            <a:t> influences behavior. </a:t>
          </a:r>
          <a:endParaRPr lang="en-US"/>
        </a:p>
      </dgm:t>
    </dgm:pt>
    <dgm:pt modelId="{CACC24DB-406E-4B11-A292-0AC6DBC6D6BF}" type="parTrans" cxnId="{51CC193C-BD59-4740-8286-496F3276783A}">
      <dgm:prSet/>
      <dgm:spPr/>
      <dgm:t>
        <a:bodyPr/>
        <a:lstStyle/>
        <a:p>
          <a:endParaRPr lang="en-US"/>
        </a:p>
      </dgm:t>
    </dgm:pt>
    <dgm:pt modelId="{BF6A05E7-E6D3-4547-AFDB-4BAB312704D0}" type="sibTrans" cxnId="{51CC193C-BD59-4740-8286-496F3276783A}">
      <dgm:prSet/>
      <dgm:spPr/>
      <dgm:t>
        <a:bodyPr/>
        <a:lstStyle/>
        <a:p>
          <a:endParaRPr lang="en-US"/>
        </a:p>
      </dgm:t>
    </dgm:pt>
    <dgm:pt modelId="{9C8D4888-C0D2-4FDB-8708-392BB28F54F8}">
      <dgm:prSet/>
      <dgm:spPr/>
      <dgm:t>
        <a:bodyPr/>
        <a:lstStyle/>
        <a:p>
          <a:r>
            <a:rPr lang="en-US" b="1" u="sng"/>
            <a:t>Controls aid in decision making</a:t>
          </a:r>
          <a:r>
            <a:rPr lang="en-US"/>
            <a:t>. The ultimate purpose of controls is to help managers make better decisions. </a:t>
          </a:r>
          <a:r>
            <a:rPr lang="en-US" b="1" u="sng"/>
            <a:t>Controls make managers aware of problems </a:t>
          </a:r>
          <a:r>
            <a:rPr lang="en-US"/>
            <a:t>and </a:t>
          </a:r>
          <a:r>
            <a:rPr lang="en-US" b="1" u="sng"/>
            <a:t>give them information that is necessary for decision making.</a:t>
          </a:r>
          <a:endParaRPr lang="en-US"/>
        </a:p>
      </dgm:t>
    </dgm:pt>
    <dgm:pt modelId="{E2E5F31A-42C0-4E29-A080-0A1CFD85B22C}" type="parTrans" cxnId="{ED7DE86E-6C4E-4E0F-9805-BA7A18E36A14}">
      <dgm:prSet/>
      <dgm:spPr/>
      <dgm:t>
        <a:bodyPr/>
        <a:lstStyle/>
        <a:p>
          <a:endParaRPr lang="en-US"/>
        </a:p>
      </dgm:t>
    </dgm:pt>
    <dgm:pt modelId="{8E83B22E-9A8D-44A8-B0E0-EA13E601DEAB}" type="sibTrans" cxnId="{ED7DE86E-6C4E-4E0F-9805-BA7A18E36A14}">
      <dgm:prSet/>
      <dgm:spPr/>
      <dgm:t>
        <a:bodyPr/>
        <a:lstStyle/>
        <a:p>
          <a:endParaRPr lang="en-US"/>
        </a:p>
      </dgm:t>
    </dgm:pt>
    <dgm:pt modelId="{A02048F6-9C0C-47C6-AE5C-D64EA780F752}" type="pres">
      <dgm:prSet presAssocID="{7C351255-6F70-4188-BEC2-4FCE02B9ABB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44BC29-808A-40C3-B552-5C506F636501}" type="pres">
      <dgm:prSet presAssocID="{FB6018E4-E2E6-430A-814B-C6E9CF3077C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2A3435-E92D-4480-88E8-F5FA9466E0E9}" type="pres">
      <dgm:prSet presAssocID="{FB6018E4-E2E6-430A-814B-C6E9CF3077C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DC8448-5B5F-4325-8691-46B188EE1D66}" type="presOf" srcId="{ED39BA16-C96C-4947-B76E-2D38D5E1F65A}" destId="{9A2A3435-E92D-4480-88E8-F5FA9466E0E9}" srcOrd="0" destOrd="1" presId="urn:microsoft.com/office/officeart/2005/8/layout/vList2"/>
    <dgm:cxn modelId="{51CC193C-BD59-4740-8286-496F3276783A}" srcId="{FB6018E4-E2E6-430A-814B-C6E9CF3077C8}" destId="{1EF5085A-C9F9-4DE6-A427-81130AADABDE}" srcOrd="4" destOrd="0" parTransId="{CACC24DB-406E-4B11-A292-0AC6DBC6D6BF}" sibTransId="{BF6A05E7-E6D3-4547-AFDB-4BAB312704D0}"/>
    <dgm:cxn modelId="{E8DEEA9A-3C37-486D-82B7-4408F0FE6B23}" type="presOf" srcId="{FB6018E4-E2E6-430A-814B-C6E9CF3077C8}" destId="{1644BC29-808A-40C3-B552-5C506F636501}" srcOrd="0" destOrd="0" presId="urn:microsoft.com/office/officeart/2005/8/layout/vList2"/>
    <dgm:cxn modelId="{ED7DE86E-6C4E-4E0F-9805-BA7A18E36A14}" srcId="{FB6018E4-E2E6-430A-814B-C6E9CF3077C8}" destId="{9C8D4888-C0D2-4FDB-8708-392BB28F54F8}" srcOrd="5" destOrd="0" parTransId="{E2E5F31A-42C0-4E29-A080-0A1CFD85B22C}" sibTransId="{8E83B22E-9A8D-44A8-B0E0-EA13E601DEAB}"/>
    <dgm:cxn modelId="{4D51E06D-756D-456A-973E-49D834510B38}" srcId="{FB6018E4-E2E6-430A-814B-C6E9CF3077C8}" destId="{744E5FBB-84AF-454A-9A00-FB4DF2D6ABDA}" srcOrd="3" destOrd="0" parTransId="{4BA4CE35-B1A6-42FA-BF16-4AE9CC85CE3E}" sibTransId="{9A07DBB3-4C15-4914-9D16-3A1B6A311FB7}"/>
    <dgm:cxn modelId="{6EDE774B-4B9A-4556-88BB-AEBFA0207128}" type="presOf" srcId="{279E61D0-0392-490F-8A41-BCB12F50FC29}" destId="{9A2A3435-E92D-4480-88E8-F5FA9466E0E9}" srcOrd="0" destOrd="2" presId="urn:microsoft.com/office/officeart/2005/8/layout/vList2"/>
    <dgm:cxn modelId="{5D1D7C22-346D-412E-B9DD-3AE4265C55C8}" type="presOf" srcId="{1EF5085A-C9F9-4DE6-A427-81130AADABDE}" destId="{9A2A3435-E92D-4480-88E8-F5FA9466E0E9}" srcOrd="0" destOrd="4" presId="urn:microsoft.com/office/officeart/2005/8/layout/vList2"/>
    <dgm:cxn modelId="{D68FC6E0-5316-4AF1-BCA8-4A6DEB56902A}" srcId="{7C351255-6F70-4188-BEC2-4FCE02B9ABBE}" destId="{FB6018E4-E2E6-430A-814B-C6E9CF3077C8}" srcOrd="0" destOrd="0" parTransId="{DA0E540C-52D3-4D8F-B22C-7F415C38549B}" sibTransId="{6A5681E4-66A5-4A16-AC14-296CB57AD066}"/>
    <dgm:cxn modelId="{81CAFFCA-F092-4F51-BD46-6917074392A2}" type="presOf" srcId="{9C8D4888-C0D2-4FDB-8708-392BB28F54F8}" destId="{9A2A3435-E92D-4480-88E8-F5FA9466E0E9}" srcOrd="0" destOrd="5" presId="urn:microsoft.com/office/officeart/2005/8/layout/vList2"/>
    <dgm:cxn modelId="{E68CB8AA-9A10-44BC-8EB6-8C920E3DEADD}" type="presOf" srcId="{7C351255-6F70-4188-BEC2-4FCE02B9ABBE}" destId="{A02048F6-9C0C-47C6-AE5C-D64EA780F752}" srcOrd="0" destOrd="0" presId="urn:microsoft.com/office/officeart/2005/8/layout/vList2"/>
    <dgm:cxn modelId="{A8017D46-827A-4961-84B0-97E49C664DF4}" srcId="{FB6018E4-E2E6-430A-814B-C6E9CF3077C8}" destId="{AE7ABDFB-E695-4C98-B765-1C2D754F9C67}" srcOrd="0" destOrd="0" parTransId="{D65B0AE2-263E-4D51-B2BB-F662785C8363}" sibTransId="{70DB6CA5-3894-403A-96BB-D12839362282}"/>
    <dgm:cxn modelId="{3C6995D6-AB0A-4EF2-8664-C39056EE7A18}" type="presOf" srcId="{AE7ABDFB-E695-4C98-B765-1C2D754F9C67}" destId="{9A2A3435-E92D-4480-88E8-F5FA9466E0E9}" srcOrd="0" destOrd="0" presId="urn:microsoft.com/office/officeart/2005/8/layout/vList2"/>
    <dgm:cxn modelId="{6FDC358F-912C-4137-999F-8522A664D8B4}" type="presOf" srcId="{744E5FBB-84AF-454A-9A00-FB4DF2D6ABDA}" destId="{9A2A3435-E92D-4480-88E8-F5FA9466E0E9}" srcOrd="0" destOrd="3" presId="urn:microsoft.com/office/officeart/2005/8/layout/vList2"/>
    <dgm:cxn modelId="{3C2A33E9-FAEB-4B18-90DB-B4273A724C55}" srcId="{FB6018E4-E2E6-430A-814B-C6E9CF3077C8}" destId="{279E61D0-0392-490F-8A41-BCB12F50FC29}" srcOrd="2" destOrd="0" parTransId="{0BE90EFC-7FA5-4E9C-8050-A0D8B2915A44}" sibTransId="{BC2251A9-FD64-48A7-BFE6-77ED21D8B939}"/>
    <dgm:cxn modelId="{4EE15692-5E02-485C-ADAB-178A46CAA3D6}" srcId="{FB6018E4-E2E6-430A-814B-C6E9CF3077C8}" destId="{ED39BA16-C96C-4947-B76E-2D38D5E1F65A}" srcOrd="1" destOrd="0" parTransId="{0A8934A3-8286-484B-8556-96E744C2249A}" sibTransId="{DC24F90E-833D-4243-8573-2AFF4840E1DB}"/>
    <dgm:cxn modelId="{47AE13F0-990A-4628-9390-3F1E43EA37D6}" type="presParOf" srcId="{A02048F6-9C0C-47C6-AE5C-D64EA780F752}" destId="{1644BC29-808A-40C3-B552-5C506F636501}" srcOrd="0" destOrd="0" presId="urn:microsoft.com/office/officeart/2005/8/layout/vList2"/>
    <dgm:cxn modelId="{3754A9BA-F03E-4058-8CCC-41F24C9DA359}" type="presParOf" srcId="{A02048F6-9C0C-47C6-AE5C-D64EA780F752}" destId="{9A2A3435-E92D-4480-88E8-F5FA9466E0E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DF2CDC-98E2-4270-91D2-18A620BEF47F}" type="doc">
      <dgm:prSet loTypeId="urn:microsoft.com/office/officeart/2005/8/layout/vList2" loCatId="list" qsTypeId="urn:microsoft.com/office/officeart/2005/8/quickstyle/3d1" qsCatId="3D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4BDC4DAC-2EF6-4E09-958C-CBC69BBA1D68}">
      <dgm:prSet/>
      <dgm:spPr/>
      <dgm:t>
        <a:bodyPr/>
        <a:lstStyle/>
        <a:p>
          <a:r>
            <a:rPr lang="en-US"/>
            <a:t>Many people </a:t>
          </a:r>
          <a:r>
            <a:rPr lang="en-US" b="1" u="sng"/>
            <a:t>assert that as the nature of organizations has changed so must the nature of management controls. </a:t>
          </a:r>
          <a:endParaRPr lang="en-US"/>
        </a:p>
      </dgm:t>
    </dgm:pt>
    <dgm:pt modelId="{ED1C0E3B-D7FF-48BB-95FF-234900496FC5}" type="parTrans" cxnId="{7B30BA42-B4F4-4FB0-A6DE-14D1BA3E0793}">
      <dgm:prSet/>
      <dgm:spPr/>
      <dgm:t>
        <a:bodyPr/>
        <a:lstStyle/>
        <a:p>
          <a:endParaRPr lang="en-US"/>
        </a:p>
      </dgm:t>
    </dgm:pt>
    <dgm:pt modelId="{17E54A9F-F5FB-45F9-906F-C4A2771C9B6E}" type="sibTrans" cxnId="{7B30BA42-B4F4-4FB0-A6DE-14D1BA3E0793}">
      <dgm:prSet/>
      <dgm:spPr/>
      <dgm:t>
        <a:bodyPr/>
        <a:lstStyle/>
        <a:p>
          <a:endParaRPr lang="en-US"/>
        </a:p>
      </dgm:t>
    </dgm:pt>
    <dgm:pt modelId="{1790E8D9-4114-4885-BA19-207BFAFB07D5}">
      <dgm:prSet/>
      <dgm:spPr/>
      <dgm:t>
        <a:bodyPr/>
        <a:lstStyle/>
        <a:p>
          <a:r>
            <a:rPr lang="en-US"/>
            <a:t>Some </a:t>
          </a:r>
          <a:r>
            <a:rPr lang="en-US" b="1" u="sng"/>
            <a:t>people even claim that management shouldn’t exercise any form of control whatsoever</a:t>
          </a:r>
          <a:r>
            <a:rPr lang="en-US"/>
            <a:t>, and </a:t>
          </a:r>
          <a:r>
            <a:rPr lang="en-US" b="1" u="sng"/>
            <a:t>should only support employee efforts to be fully productive members of organizations and communities. </a:t>
          </a:r>
          <a:endParaRPr lang="en-US"/>
        </a:p>
      </dgm:t>
    </dgm:pt>
    <dgm:pt modelId="{D5956229-DC0E-4FAF-956E-BE777306F5F9}" type="parTrans" cxnId="{42B0F7D9-2A36-4392-93EA-308CB74B70C0}">
      <dgm:prSet/>
      <dgm:spPr/>
      <dgm:t>
        <a:bodyPr/>
        <a:lstStyle/>
        <a:p>
          <a:endParaRPr lang="en-US"/>
        </a:p>
      </dgm:t>
    </dgm:pt>
    <dgm:pt modelId="{CE8FC1F2-577E-4B63-82D7-1BBB75ED0A64}" type="sibTrans" cxnId="{42B0F7D9-2A36-4392-93EA-308CB74B70C0}">
      <dgm:prSet/>
      <dgm:spPr/>
      <dgm:t>
        <a:bodyPr/>
        <a:lstStyle/>
        <a:p>
          <a:endParaRPr lang="en-US"/>
        </a:p>
      </dgm:t>
    </dgm:pt>
    <dgm:pt modelId="{314E324F-1308-428A-9DFB-96553526626C}">
      <dgm:prSet/>
      <dgm:spPr/>
      <dgm:t>
        <a:bodyPr/>
        <a:lstStyle/>
        <a:p>
          <a:r>
            <a:rPr lang="en-US"/>
            <a:t>Along those same lines, </a:t>
          </a:r>
          <a:r>
            <a:rPr lang="en-US" b="1" u="sng"/>
            <a:t>some experts even use the word “coordinating” in place of “controlling</a:t>
          </a:r>
          <a:r>
            <a:rPr lang="en-US"/>
            <a:t>” to avoid sounding coercive. </a:t>
          </a:r>
        </a:p>
      </dgm:t>
    </dgm:pt>
    <dgm:pt modelId="{63CD6CFA-8AF6-444F-A774-4F43B5235E5B}" type="parTrans" cxnId="{FD1570BB-DD40-4D27-B325-972101B2A2A1}">
      <dgm:prSet/>
      <dgm:spPr/>
      <dgm:t>
        <a:bodyPr/>
        <a:lstStyle/>
        <a:p>
          <a:endParaRPr lang="en-US"/>
        </a:p>
      </dgm:t>
    </dgm:pt>
    <dgm:pt modelId="{B89FA317-5BF6-4167-8D68-EDD568C23B1D}" type="sibTrans" cxnId="{FD1570BB-DD40-4D27-B325-972101B2A2A1}">
      <dgm:prSet/>
      <dgm:spPr/>
      <dgm:t>
        <a:bodyPr/>
        <a:lstStyle/>
        <a:p>
          <a:endParaRPr lang="en-US"/>
        </a:p>
      </dgm:t>
    </dgm:pt>
    <dgm:pt modelId="{B1A36C93-C6F6-4C31-BF9C-3303722221E6}">
      <dgm:prSet/>
      <dgm:spPr/>
      <dgm:t>
        <a:bodyPr/>
        <a:lstStyle/>
        <a:p>
          <a:r>
            <a:rPr lang="en-US"/>
            <a:t>However, </a:t>
          </a:r>
          <a:r>
            <a:rPr lang="en-US" b="1" u="sng"/>
            <a:t>some forms of controls must exist for an organization to exist</a:t>
          </a:r>
          <a:r>
            <a:rPr lang="en-US"/>
            <a:t>. </a:t>
          </a:r>
        </a:p>
      </dgm:t>
    </dgm:pt>
    <dgm:pt modelId="{CEA45804-227B-4178-870F-30233CB29857}" type="parTrans" cxnId="{FFD87655-E22B-4649-B818-5D43AD56F3CC}">
      <dgm:prSet/>
      <dgm:spPr/>
      <dgm:t>
        <a:bodyPr/>
        <a:lstStyle/>
        <a:p>
          <a:endParaRPr lang="en-US"/>
        </a:p>
      </dgm:t>
    </dgm:pt>
    <dgm:pt modelId="{F8A02C05-89CC-43F9-93E4-6D5CC034B71D}" type="sibTrans" cxnId="{FFD87655-E22B-4649-B818-5D43AD56F3CC}">
      <dgm:prSet/>
      <dgm:spPr/>
      <dgm:t>
        <a:bodyPr/>
        <a:lstStyle/>
        <a:p>
          <a:endParaRPr lang="en-US"/>
        </a:p>
      </dgm:t>
    </dgm:pt>
    <dgm:pt modelId="{7009EEC1-C3C8-422B-AE5B-14A10FE716CC}">
      <dgm:prSet/>
      <dgm:spPr/>
      <dgm:t>
        <a:bodyPr/>
        <a:lstStyle/>
        <a:p>
          <a:endParaRPr lang="en-US"/>
        </a:p>
      </dgm:t>
    </dgm:pt>
    <dgm:pt modelId="{D1AB2FF6-E8A0-4C3A-88CA-0A54C27EA6C6}" type="parTrans" cxnId="{560AA4CF-820C-4BD1-9EB7-E6BCFC5E892C}">
      <dgm:prSet/>
      <dgm:spPr/>
      <dgm:t>
        <a:bodyPr/>
        <a:lstStyle/>
        <a:p>
          <a:endParaRPr lang="en-US"/>
        </a:p>
      </dgm:t>
    </dgm:pt>
    <dgm:pt modelId="{61179578-2F02-4F43-A849-4CC6E1FB3991}" type="sibTrans" cxnId="{560AA4CF-820C-4BD1-9EB7-E6BCFC5E892C}">
      <dgm:prSet/>
      <dgm:spPr/>
      <dgm:t>
        <a:bodyPr/>
        <a:lstStyle/>
        <a:p>
          <a:endParaRPr lang="en-US"/>
        </a:p>
      </dgm:t>
    </dgm:pt>
    <dgm:pt modelId="{E7BB6771-D8D2-4080-ADA3-665F5D6039FD}" type="pres">
      <dgm:prSet presAssocID="{69DF2CDC-98E2-4270-91D2-18A620BEF47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9AAC96-AD59-4DDA-A629-874D7E87A6D1}" type="pres">
      <dgm:prSet presAssocID="{4BDC4DAC-2EF6-4E09-958C-CBC69BBA1D6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5E2DE2-06DE-452F-9BCC-4D456CDCE2B9}" type="pres">
      <dgm:prSet presAssocID="{17E54A9F-F5FB-45F9-906F-C4A2771C9B6E}" presName="spacer" presStyleCnt="0"/>
      <dgm:spPr/>
    </dgm:pt>
    <dgm:pt modelId="{4639180B-A400-416C-8F7F-A6CD0957FDFB}" type="pres">
      <dgm:prSet presAssocID="{1790E8D9-4114-4885-BA19-207BFAFB07D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A78A81-FAB5-4258-A868-A42F313BF84B}" type="pres">
      <dgm:prSet presAssocID="{CE8FC1F2-577E-4B63-82D7-1BBB75ED0A64}" presName="spacer" presStyleCnt="0"/>
      <dgm:spPr/>
    </dgm:pt>
    <dgm:pt modelId="{A1E4D837-5822-4C24-B7AD-496AF7C2BBF2}" type="pres">
      <dgm:prSet presAssocID="{314E324F-1308-428A-9DFB-96553526626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42BB4-9269-46A4-B398-DFAFA039E7BA}" type="pres">
      <dgm:prSet presAssocID="{B89FA317-5BF6-4167-8D68-EDD568C23B1D}" presName="spacer" presStyleCnt="0"/>
      <dgm:spPr/>
    </dgm:pt>
    <dgm:pt modelId="{1EC0F494-E2CF-4BB7-BE43-B334B8303D55}" type="pres">
      <dgm:prSet presAssocID="{B1A36C93-C6F6-4C31-BF9C-3303722221E6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B8BC1D-4BBE-43CA-A9BF-5BBF58578003}" type="pres">
      <dgm:prSet presAssocID="{B1A36C93-C6F6-4C31-BF9C-3303722221E6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1570BB-DD40-4D27-B325-972101B2A2A1}" srcId="{69DF2CDC-98E2-4270-91D2-18A620BEF47F}" destId="{314E324F-1308-428A-9DFB-96553526626C}" srcOrd="2" destOrd="0" parTransId="{63CD6CFA-8AF6-444F-A774-4F43B5235E5B}" sibTransId="{B89FA317-5BF6-4167-8D68-EDD568C23B1D}"/>
    <dgm:cxn modelId="{560AA4CF-820C-4BD1-9EB7-E6BCFC5E892C}" srcId="{B1A36C93-C6F6-4C31-BF9C-3303722221E6}" destId="{7009EEC1-C3C8-422B-AE5B-14A10FE716CC}" srcOrd="0" destOrd="0" parTransId="{D1AB2FF6-E8A0-4C3A-88CA-0A54C27EA6C6}" sibTransId="{61179578-2F02-4F43-A849-4CC6E1FB3991}"/>
    <dgm:cxn modelId="{FFD87655-E22B-4649-B818-5D43AD56F3CC}" srcId="{69DF2CDC-98E2-4270-91D2-18A620BEF47F}" destId="{B1A36C93-C6F6-4C31-BF9C-3303722221E6}" srcOrd="3" destOrd="0" parTransId="{CEA45804-227B-4178-870F-30233CB29857}" sibTransId="{F8A02C05-89CC-43F9-93E4-6D5CC034B71D}"/>
    <dgm:cxn modelId="{AF3F2EDA-A2FC-4B8F-BB43-8FC0A6868294}" type="presOf" srcId="{1790E8D9-4114-4885-BA19-207BFAFB07D5}" destId="{4639180B-A400-416C-8F7F-A6CD0957FDFB}" srcOrd="0" destOrd="0" presId="urn:microsoft.com/office/officeart/2005/8/layout/vList2"/>
    <dgm:cxn modelId="{18839F57-607D-4078-8FAB-AD4FC7890D03}" type="presOf" srcId="{69DF2CDC-98E2-4270-91D2-18A620BEF47F}" destId="{E7BB6771-D8D2-4080-ADA3-665F5D6039FD}" srcOrd="0" destOrd="0" presId="urn:microsoft.com/office/officeart/2005/8/layout/vList2"/>
    <dgm:cxn modelId="{CB2623BA-DE49-4F07-8D5B-2B065E31449F}" type="presOf" srcId="{4BDC4DAC-2EF6-4E09-958C-CBC69BBA1D68}" destId="{D99AAC96-AD59-4DDA-A629-874D7E87A6D1}" srcOrd="0" destOrd="0" presId="urn:microsoft.com/office/officeart/2005/8/layout/vList2"/>
    <dgm:cxn modelId="{7B30BA42-B4F4-4FB0-A6DE-14D1BA3E0793}" srcId="{69DF2CDC-98E2-4270-91D2-18A620BEF47F}" destId="{4BDC4DAC-2EF6-4E09-958C-CBC69BBA1D68}" srcOrd="0" destOrd="0" parTransId="{ED1C0E3B-D7FF-48BB-95FF-234900496FC5}" sibTransId="{17E54A9F-F5FB-45F9-906F-C4A2771C9B6E}"/>
    <dgm:cxn modelId="{B7073919-9882-4768-9EB4-4D978DE3F8E0}" type="presOf" srcId="{7009EEC1-C3C8-422B-AE5B-14A10FE716CC}" destId="{02B8BC1D-4BBE-43CA-A9BF-5BBF58578003}" srcOrd="0" destOrd="0" presId="urn:microsoft.com/office/officeart/2005/8/layout/vList2"/>
    <dgm:cxn modelId="{F655505C-50E3-462D-9E86-62E10EC751BD}" type="presOf" srcId="{B1A36C93-C6F6-4C31-BF9C-3303722221E6}" destId="{1EC0F494-E2CF-4BB7-BE43-B334B8303D55}" srcOrd="0" destOrd="0" presId="urn:microsoft.com/office/officeart/2005/8/layout/vList2"/>
    <dgm:cxn modelId="{42B0F7D9-2A36-4392-93EA-308CB74B70C0}" srcId="{69DF2CDC-98E2-4270-91D2-18A620BEF47F}" destId="{1790E8D9-4114-4885-BA19-207BFAFB07D5}" srcOrd="1" destOrd="0" parTransId="{D5956229-DC0E-4FAF-956E-BE777306F5F9}" sibTransId="{CE8FC1F2-577E-4B63-82D7-1BBB75ED0A64}"/>
    <dgm:cxn modelId="{35D25154-1532-44CE-94E6-CDA0AF457C5E}" type="presOf" srcId="{314E324F-1308-428A-9DFB-96553526626C}" destId="{A1E4D837-5822-4C24-B7AD-496AF7C2BBF2}" srcOrd="0" destOrd="0" presId="urn:microsoft.com/office/officeart/2005/8/layout/vList2"/>
    <dgm:cxn modelId="{D1980DB8-B443-4F76-A733-C04541502FBA}" type="presParOf" srcId="{E7BB6771-D8D2-4080-ADA3-665F5D6039FD}" destId="{D99AAC96-AD59-4DDA-A629-874D7E87A6D1}" srcOrd="0" destOrd="0" presId="urn:microsoft.com/office/officeart/2005/8/layout/vList2"/>
    <dgm:cxn modelId="{6A222D36-B8DD-4595-A18B-750E5A844E00}" type="presParOf" srcId="{E7BB6771-D8D2-4080-ADA3-665F5D6039FD}" destId="{A85E2DE2-06DE-452F-9BCC-4D456CDCE2B9}" srcOrd="1" destOrd="0" presId="urn:microsoft.com/office/officeart/2005/8/layout/vList2"/>
    <dgm:cxn modelId="{59DF547E-93BD-41EE-961E-67E8F265424F}" type="presParOf" srcId="{E7BB6771-D8D2-4080-ADA3-665F5D6039FD}" destId="{4639180B-A400-416C-8F7F-A6CD0957FDFB}" srcOrd="2" destOrd="0" presId="urn:microsoft.com/office/officeart/2005/8/layout/vList2"/>
    <dgm:cxn modelId="{F0CC49BF-583F-4DF9-B65D-70EA7645D889}" type="presParOf" srcId="{E7BB6771-D8D2-4080-ADA3-665F5D6039FD}" destId="{73A78A81-FAB5-4258-A868-A42F313BF84B}" srcOrd="3" destOrd="0" presId="urn:microsoft.com/office/officeart/2005/8/layout/vList2"/>
    <dgm:cxn modelId="{E19795F6-BC63-4588-8FA3-FEAC77ADD628}" type="presParOf" srcId="{E7BB6771-D8D2-4080-ADA3-665F5D6039FD}" destId="{A1E4D837-5822-4C24-B7AD-496AF7C2BBF2}" srcOrd="4" destOrd="0" presId="urn:microsoft.com/office/officeart/2005/8/layout/vList2"/>
    <dgm:cxn modelId="{97989A40-34D4-4BF0-B674-ECF22E4071EC}" type="presParOf" srcId="{E7BB6771-D8D2-4080-ADA3-665F5D6039FD}" destId="{25E42BB4-9269-46A4-B398-DFAFA039E7BA}" srcOrd="5" destOrd="0" presId="urn:microsoft.com/office/officeart/2005/8/layout/vList2"/>
    <dgm:cxn modelId="{97AB95B0-9E79-4816-BCCA-C3B06E9C70C9}" type="presParOf" srcId="{E7BB6771-D8D2-4080-ADA3-665F5D6039FD}" destId="{1EC0F494-E2CF-4BB7-BE43-B334B8303D55}" srcOrd="6" destOrd="0" presId="urn:microsoft.com/office/officeart/2005/8/layout/vList2"/>
    <dgm:cxn modelId="{B53DC21B-64A9-4C84-9D0F-6CFD012F4A03}" type="presParOf" srcId="{E7BB6771-D8D2-4080-ADA3-665F5D6039FD}" destId="{02B8BC1D-4BBE-43CA-A9BF-5BBF5857800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D4FDDB8-C3A3-4292-BCA7-F01DA1709469}" type="doc">
      <dgm:prSet loTypeId="urn:microsoft.com/office/officeart/2005/8/layout/vList2" loCatId="list" qsTypeId="urn:microsoft.com/office/officeart/2005/8/quickstyle/3d1" qsCatId="3D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272FB890-1036-4221-BF05-08AF8D3F2907}">
      <dgm:prSet/>
      <dgm:spPr/>
      <dgm:t>
        <a:bodyPr/>
        <a:lstStyle/>
        <a:p>
          <a:r>
            <a:rPr lang="en-US"/>
            <a:t>The control process</a:t>
          </a:r>
        </a:p>
      </dgm:t>
    </dgm:pt>
    <dgm:pt modelId="{FB8F479F-5F9D-4988-A1EE-F99DEB1CCB9A}" type="parTrans" cxnId="{28F52430-4497-48F7-823B-7D287B81F686}">
      <dgm:prSet/>
      <dgm:spPr/>
      <dgm:t>
        <a:bodyPr/>
        <a:lstStyle/>
        <a:p>
          <a:endParaRPr lang="en-US"/>
        </a:p>
      </dgm:t>
    </dgm:pt>
    <dgm:pt modelId="{E00EC917-AF15-41AD-9129-09A563A07FCB}" type="sibTrans" cxnId="{28F52430-4497-48F7-823B-7D287B81F686}">
      <dgm:prSet/>
      <dgm:spPr/>
      <dgm:t>
        <a:bodyPr/>
        <a:lstStyle/>
        <a:p>
          <a:endParaRPr lang="en-US"/>
        </a:p>
      </dgm:t>
    </dgm:pt>
    <dgm:pt modelId="{4A8D1790-398A-43CB-8A85-2F576F641B39}">
      <dgm:prSet/>
      <dgm:spPr/>
      <dgm:t>
        <a:bodyPr/>
        <a:lstStyle/>
        <a:p>
          <a:r>
            <a:rPr lang="en-US"/>
            <a:t>involves </a:t>
          </a:r>
          <a:r>
            <a:rPr lang="en-US" b="1" u="sng"/>
            <a:t>carefully collecting information </a:t>
          </a:r>
          <a:r>
            <a:rPr lang="en-US"/>
            <a:t>about a system, </a:t>
          </a:r>
        </a:p>
      </dgm:t>
    </dgm:pt>
    <dgm:pt modelId="{29EE6056-5A34-4139-86EE-6AA10C1BAD0F}" type="parTrans" cxnId="{029D7C1C-4F70-43F1-862F-E1BA25917EFD}">
      <dgm:prSet/>
      <dgm:spPr/>
      <dgm:t>
        <a:bodyPr/>
        <a:lstStyle/>
        <a:p>
          <a:endParaRPr lang="en-US"/>
        </a:p>
      </dgm:t>
    </dgm:pt>
    <dgm:pt modelId="{4C0084AA-FD6E-4E39-A697-180927FEC576}" type="sibTrans" cxnId="{029D7C1C-4F70-43F1-862F-E1BA25917EFD}">
      <dgm:prSet/>
      <dgm:spPr/>
      <dgm:t>
        <a:bodyPr/>
        <a:lstStyle/>
        <a:p>
          <a:endParaRPr lang="en-US"/>
        </a:p>
      </dgm:t>
    </dgm:pt>
    <dgm:pt modelId="{58A91BE8-D862-4B3C-86A5-6D3A81CCACF7}">
      <dgm:prSet/>
      <dgm:spPr/>
      <dgm:t>
        <a:bodyPr/>
        <a:lstStyle/>
        <a:p>
          <a:r>
            <a:rPr lang="en-US"/>
            <a:t>process, person, or group of people in order to make necessary decisions about each.</a:t>
          </a:r>
        </a:p>
      </dgm:t>
    </dgm:pt>
    <dgm:pt modelId="{8255BA5C-10E7-4FB5-9AC6-D050AC46710B}" type="parTrans" cxnId="{DC556124-4450-4A4D-9BE4-1ADD0E1D7D8C}">
      <dgm:prSet/>
      <dgm:spPr/>
      <dgm:t>
        <a:bodyPr/>
        <a:lstStyle/>
        <a:p>
          <a:endParaRPr lang="en-US"/>
        </a:p>
      </dgm:t>
    </dgm:pt>
    <dgm:pt modelId="{CBAA0AA2-D536-442F-949C-FFDF101BADF2}" type="sibTrans" cxnId="{DC556124-4450-4A4D-9BE4-1ADD0E1D7D8C}">
      <dgm:prSet/>
      <dgm:spPr/>
      <dgm:t>
        <a:bodyPr/>
        <a:lstStyle/>
        <a:p>
          <a:endParaRPr lang="en-US"/>
        </a:p>
      </dgm:t>
    </dgm:pt>
    <dgm:pt modelId="{ABF4C4B9-DD02-4F44-BB64-B2A86AC71A75}">
      <dgm:prSet/>
      <dgm:spPr/>
      <dgm:t>
        <a:bodyPr/>
        <a:lstStyle/>
        <a:p>
          <a:r>
            <a:rPr lang="en-US" b="1"/>
            <a:t>Managers set up control systems that consist of four key steps:</a:t>
          </a:r>
          <a:endParaRPr lang="en-US"/>
        </a:p>
      </dgm:t>
    </dgm:pt>
    <dgm:pt modelId="{113AED9A-5F9C-4C33-B13E-F2F0532CE047}" type="parTrans" cxnId="{2BA82D64-EAEE-4C52-A7F4-EB3CA9136F30}">
      <dgm:prSet/>
      <dgm:spPr/>
      <dgm:t>
        <a:bodyPr/>
        <a:lstStyle/>
        <a:p>
          <a:endParaRPr lang="en-US"/>
        </a:p>
      </dgm:t>
    </dgm:pt>
    <dgm:pt modelId="{B47513CE-6D9E-4016-B403-18C6E0B51F5A}" type="sibTrans" cxnId="{2BA82D64-EAEE-4C52-A7F4-EB3CA9136F30}">
      <dgm:prSet/>
      <dgm:spPr/>
      <dgm:t>
        <a:bodyPr/>
        <a:lstStyle/>
        <a:p>
          <a:endParaRPr lang="en-US"/>
        </a:p>
      </dgm:t>
    </dgm:pt>
    <dgm:pt modelId="{3EA101FD-A881-4307-9E01-B4F9B860EF45}">
      <dgm:prSet/>
      <dgm:spPr/>
      <dgm:t>
        <a:bodyPr/>
        <a:lstStyle/>
        <a:p>
          <a:r>
            <a:rPr lang="en-US" b="1" dirty="0"/>
            <a:t>Establish standards to measure performance. </a:t>
          </a:r>
          <a:r>
            <a:rPr lang="en-US" dirty="0"/>
            <a:t>Within an </a:t>
          </a:r>
          <a:r>
            <a:rPr lang="en-US" b="1" u="sng" dirty="0"/>
            <a:t>organization’s overall strategic plan</a:t>
          </a:r>
          <a:r>
            <a:rPr lang="en-US" dirty="0"/>
            <a:t>, managers </a:t>
          </a:r>
          <a:r>
            <a:rPr lang="en-US" b="1" u="sng" dirty="0"/>
            <a:t>define goals for organizational departments in specific</a:t>
          </a:r>
          <a:r>
            <a:rPr lang="en-US" dirty="0"/>
            <a:t>, </a:t>
          </a:r>
          <a:r>
            <a:rPr lang="en-US" b="1" u="sng" dirty="0"/>
            <a:t>operational terms </a:t>
          </a:r>
          <a:r>
            <a:rPr lang="en-US" dirty="0"/>
            <a:t>that </a:t>
          </a:r>
          <a:r>
            <a:rPr lang="en-US" b="1" u="sng" dirty="0"/>
            <a:t>include standards of performance to compare </a:t>
          </a:r>
          <a:r>
            <a:rPr lang="en-US" dirty="0"/>
            <a:t>with organizational activities.</a:t>
          </a:r>
        </a:p>
      </dgm:t>
    </dgm:pt>
    <dgm:pt modelId="{F83674BA-1B22-4878-808A-9A58CBC9DF73}" type="parTrans" cxnId="{9AA945E1-20A0-495F-812D-5CF1B2397956}">
      <dgm:prSet/>
      <dgm:spPr/>
      <dgm:t>
        <a:bodyPr/>
        <a:lstStyle/>
        <a:p>
          <a:endParaRPr lang="en-US"/>
        </a:p>
      </dgm:t>
    </dgm:pt>
    <dgm:pt modelId="{CFCE851B-4310-47F2-A6B0-341289F77E4F}" type="sibTrans" cxnId="{9AA945E1-20A0-495F-812D-5CF1B2397956}">
      <dgm:prSet/>
      <dgm:spPr/>
      <dgm:t>
        <a:bodyPr/>
        <a:lstStyle/>
        <a:p>
          <a:endParaRPr lang="en-US"/>
        </a:p>
      </dgm:t>
    </dgm:pt>
    <dgm:pt modelId="{1CE84C1B-6E84-44F1-830B-0A998963224A}" type="pres">
      <dgm:prSet presAssocID="{6D4FDDB8-C3A3-4292-BCA7-F01DA17094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E4EBD5-56C4-4123-B262-E0AC65D12B75}" type="pres">
      <dgm:prSet presAssocID="{272FB890-1036-4221-BF05-08AF8D3F2907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645F2-9B28-4F0F-8D69-A176E8590431}" type="pres">
      <dgm:prSet presAssocID="{272FB890-1036-4221-BF05-08AF8D3F290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7795F4-B843-4CD4-A84A-983475C0C777}" type="pres">
      <dgm:prSet presAssocID="{ABF4C4B9-DD02-4F44-BB64-B2A86AC71A75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9ECEC1-7362-46CA-99B6-9C78B1FB0121}" type="pres">
      <dgm:prSet presAssocID="{ABF4C4B9-DD02-4F44-BB64-B2A86AC71A75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BA82D64-EAEE-4C52-A7F4-EB3CA9136F30}" srcId="{6D4FDDB8-C3A3-4292-BCA7-F01DA1709469}" destId="{ABF4C4B9-DD02-4F44-BB64-B2A86AC71A75}" srcOrd="1" destOrd="0" parTransId="{113AED9A-5F9C-4C33-B13E-F2F0532CE047}" sibTransId="{B47513CE-6D9E-4016-B403-18C6E0B51F5A}"/>
    <dgm:cxn modelId="{28F52430-4497-48F7-823B-7D287B81F686}" srcId="{6D4FDDB8-C3A3-4292-BCA7-F01DA1709469}" destId="{272FB890-1036-4221-BF05-08AF8D3F2907}" srcOrd="0" destOrd="0" parTransId="{FB8F479F-5F9D-4988-A1EE-F99DEB1CCB9A}" sibTransId="{E00EC917-AF15-41AD-9129-09A563A07FCB}"/>
    <dgm:cxn modelId="{90CF5351-D8C1-4C1C-8475-EA100454E93F}" type="presOf" srcId="{4A8D1790-398A-43CB-8A85-2F576F641B39}" destId="{D93645F2-9B28-4F0F-8D69-A176E8590431}" srcOrd="0" destOrd="0" presId="urn:microsoft.com/office/officeart/2005/8/layout/vList2"/>
    <dgm:cxn modelId="{029D7C1C-4F70-43F1-862F-E1BA25917EFD}" srcId="{272FB890-1036-4221-BF05-08AF8D3F2907}" destId="{4A8D1790-398A-43CB-8A85-2F576F641B39}" srcOrd="0" destOrd="0" parTransId="{29EE6056-5A34-4139-86EE-6AA10C1BAD0F}" sibTransId="{4C0084AA-FD6E-4E39-A697-180927FEC576}"/>
    <dgm:cxn modelId="{74DA347E-1A47-4479-96D2-924A6C396788}" type="presOf" srcId="{ABF4C4B9-DD02-4F44-BB64-B2A86AC71A75}" destId="{937795F4-B843-4CD4-A84A-983475C0C777}" srcOrd="0" destOrd="0" presId="urn:microsoft.com/office/officeart/2005/8/layout/vList2"/>
    <dgm:cxn modelId="{66AE1964-CC4A-4E7A-AA55-CFE01F1DF1B2}" type="presOf" srcId="{272FB890-1036-4221-BF05-08AF8D3F2907}" destId="{B8E4EBD5-56C4-4123-B262-E0AC65D12B75}" srcOrd="0" destOrd="0" presId="urn:microsoft.com/office/officeart/2005/8/layout/vList2"/>
    <dgm:cxn modelId="{DC556124-4450-4A4D-9BE4-1ADD0E1D7D8C}" srcId="{272FB890-1036-4221-BF05-08AF8D3F2907}" destId="{58A91BE8-D862-4B3C-86A5-6D3A81CCACF7}" srcOrd="1" destOrd="0" parTransId="{8255BA5C-10E7-4FB5-9AC6-D050AC46710B}" sibTransId="{CBAA0AA2-D536-442F-949C-FFDF101BADF2}"/>
    <dgm:cxn modelId="{95A55A76-4B92-4BDE-AEC2-00DA76858ACB}" type="presOf" srcId="{3EA101FD-A881-4307-9E01-B4F9B860EF45}" destId="{B19ECEC1-7362-46CA-99B6-9C78B1FB0121}" srcOrd="0" destOrd="0" presId="urn:microsoft.com/office/officeart/2005/8/layout/vList2"/>
    <dgm:cxn modelId="{9AA945E1-20A0-495F-812D-5CF1B2397956}" srcId="{ABF4C4B9-DD02-4F44-BB64-B2A86AC71A75}" destId="{3EA101FD-A881-4307-9E01-B4F9B860EF45}" srcOrd="0" destOrd="0" parTransId="{F83674BA-1B22-4878-808A-9A58CBC9DF73}" sibTransId="{CFCE851B-4310-47F2-A6B0-341289F77E4F}"/>
    <dgm:cxn modelId="{9EE22255-B732-4E08-9741-90E1598CD759}" type="presOf" srcId="{6D4FDDB8-C3A3-4292-BCA7-F01DA1709469}" destId="{1CE84C1B-6E84-44F1-830B-0A998963224A}" srcOrd="0" destOrd="0" presId="urn:microsoft.com/office/officeart/2005/8/layout/vList2"/>
    <dgm:cxn modelId="{2FE5312C-B216-499F-9895-95356ED8B5CB}" type="presOf" srcId="{58A91BE8-D862-4B3C-86A5-6D3A81CCACF7}" destId="{D93645F2-9B28-4F0F-8D69-A176E8590431}" srcOrd="0" destOrd="1" presId="urn:microsoft.com/office/officeart/2005/8/layout/vList2"/>
    <dgm:cxn modelId="{6C74A95B-0D34-4ECA-95F8-F523F465D807}" type="presParOf" srcId="{1CE84C1B-6E84-44F1-830B-0A998963224A}" destId="{B8E4EBD5-56C4-4123-B262-E0AC65D12B75}" srcOrd="0" destOrd="0" presId="urn:microsoft.com/office/officeart/2005/8/layout/vList2"/>
    <dgm:cxn modelId="{A4CE3607-D97C-43BE-8E5B-CC70CE658D8C}" type="presParOf" srcId="{1CE84C1B-6E84-44F1-830B-0A998963224A}" destId="{D93645F2-9B28-4F0F-8D69-A176E8590431}" srcOrd="1" destOrd="0" presId="urn:microsoft.com/office/officeart/2005/8/layout/vList2"/>
    <dgm:cxn modelId="{FE7A941A-080E-49B1-9AD2-59A0D3CF010E}" type="presParOf" srcId="{1CE84C1B-6E84-44F1-830B-0A998963224A}" destId="{937795F4-B843-4CD4-A84A-983475C0C777}" srcOrd="2" destOrd="0" presId="urn:microsoft.com/office/officeart/2005/8/layout/vList2"/>
    <dgm:cxn modelId="{9059CAFB-0AA9-46BC-9AC7-CB754AC8AB1E}" type="presParOf" srcId="{1CE84C1B-6E84-44F1-830B-0A998963224A}" destId="{B19ECEC1-7362-46CA-99B6-9C78B1FB012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DF2B5BF-60C1-4FFC-83DA-E294F6D1FC3F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F51DDEB-DBA0-4B5F-AC4B-2BE8512D7BBE}">
      <dgm:prSet/>
      <dgm:spPr/>
      <dgm:t>
        <a:bodyPr/>
        <a:lstStyle/>
        <a:p>
          <a:r>
            <a:rPr lang="en-US" b="1"/>
            <a:t>2. Measure actual performance</a:t>
          </a:r>
          <a:r>
            <a:rPr lang="en-US"/>
            <a:t>. </a:t>
          </a:r>
        </a:p>
      </dgm:t>
    </dgm:pt>
    <dgm:pt modelId="{D2BA11EE-7BB5-4B45-BDCC-0B9CF16C0D49}" type="parTrans" cxnId="{F35CE3CE-960C-4240-8C47-8BFB002ED520}">
      <dgm:prSet/>
      <dgm:spPr/>
      <dgm:t>
        <a:bodyPr/>
        <a:lstStyle/>
        <a:p>
          <a:endParaRPr lang="en-US"/>
        </a:p>
      </dgm:t>
    </dgm:pt>
    <dgm:pt modelId="{0BE6F7FD-0188-4430-AF5B-003ADA72C6E6}" type="sibTrans" cxnId="{F35CE3CE-960C-4240-8C47-8BFB002ED520}">
      <dgm:prSet/>
      <dgm:spPr/>
      <dgm:t>
        <a:bodyPr/>
        <a:lstStyle/>
        <a:p>
          <a:endParaRPr lang="en-US"/>
        </a:p>
      </dgm:t>
    </dgm:pt>
    <dgm:pt modelId="{5D24A0A6-0D80-4615-A571-41D6F0CD524C}">
      <dgm:prSet/>
      <dgm:spPr/>
      <dgm:t>
        <a:bodyPr/>
        <a:lstStyle/>
        <a:p>
          <a:r>
            <a:rPr lang="en-US"/>
            <a:t>Most organizations </a:t>
          </a:r>
          <a:r>
            <a:rPr lang="en-US" b="1" u="sng"/>
            <a:t>prepare formal reports of performance measurements </a:t>
          </a:r>
          <a:r>
            <a:rPr lang="en-US"/>
            <a:t>that manager’s review regularly. </a:t>
          </a:r>
        </a:p>
      </dgm:t>
    </dgm:pt>
    <dgm:pt modelId="{536A7BB1-0FF8-4549-A106-F91F46DEEEFD}" type="parTrans" cxnId="{205B8CCD-76BE-4545-86F1-594764B2C222}">
      <dgm:prSet/>
      <dgm:spPr/>
      <dgm:t>
        <a:bodyPr/>
        <a:lstStyle/>
        <a:p>
          <a:endParaRPr lang="en-US"/>
        </a:p>
      </dgm:t>
    </dgm:pt>
    <dgm:pt modelId="{B37F9B78-BE09-4F9C-8F1A-3F5B42D186FC}" type="sibTrans" cxnId="{205B8CCD-76BE-4545-86F1-594764B2C222}">
      <dgm:prSet/>
      <dgm:spPr/>
      <dgm:t>
        <a:bodyPr/>
        <a:lstStyle/>
        <a:p>
          <a:endParaRPr lang="en-US"/>
        </a:p>
      </dgm:t>
    </dgm:pt>
    <dgm:pt modelId="{E6156114-3C74-4728-BE5F-64D310984197}">
      <dgm:prSet/>
      <dgm:spPr/>
      <dgm:t>
        <a:bodyPr/>
        <a:lstStyle/>
        <a:p>
          <a:r>
            <a:rPr lang="en-US"/>
            <a:t>These </a:t>
          </a:r>
          <a:r>
            <a:rPr lang="en-US" b="1" u="sng"/>
            <a:t>measurements should be related to the standards </a:t>
          </a:r>
          <a:r>
            <a:rPr lang="en-US"/>
            <a:t>set in the first step of the control process. </a:t>
          </a:r>
        </a:p>
      </dgm:t>
    </dgm:pt>
    <dgm:pt modelId="{A74F27FF-A28F-4C4F-959C-3E8D2E3D4197}" type="parTrans" cxnId="{651BCD3A-DD31-4775-A23B-CDCD8AACEFFB}">
      <dgm:prSet/>
      <dgm:spPr/>
      <dgm:t>
        <a:bodyPr/>
        <a:lstStyle/>
        <a:p>
          <a:endParaRPr lang="en-US"/>
        </a:p>
      </dgm:t>
    </dgm:pt>
    <dgm:pt modelId="{A639625F-4B1F-4A38-A2F4-97122CF0E469}" type="sibTrans" cxnId="{651BCD3A-DD31-4775-A23B-CDCD8AACEFFB}">
      <dgm:prSet/>
      <dgm:spPr/>
      <dgm:t>
        <a:bodyPr/>
        <a:lstStyle/>
        <a:p>
          <a:endParaRPr lang="en-US"/>
        </a:p>
      </dgm:t>
    </dgm:pt>
    <dgm:pt modelId="{69658A03-4F22-4488-915E-E2C748AB3B53}">
      <dgm:prSet/>
      <dgm:spPr/>
      <dgm:t>
        <a:bodyPr/>
        <a:lstStyle/>
        <a:p>
          <a:r>
            <a:rPr lang="en-US"/>
            <a:t>For example, if sales growth is a target, the organization should have a means of gathering and reporting sales data.</a:t>
          </a:r>
        </a:p>
      </dgm:t>
    </dgm:pt>
    <dgm:pt modelId="{91BC76B8-B63B-4874-AED3-C7812375B9D2}" type="parTrans" cxnId="{B0EA8EB8-0140-4A1E-842D-8D232C432278}">
      <dgm:prSet/>
      <dgm:spPr/>
      <dgm:t>
        <a:bodyPr/>
        <a:lstStyle/>
        <a:p>
          <a:endParaRPr lang="en-US"/>
        </a:p>
      </dgm:t>
    </dgm:pt>
    <dgm:pt modelId="{8DE0C3C1-96CC-44F4-B276-12CBEAB96DFD}" type="sibTrans" cxnId="{B0EA8EB8-0140-4A1E-842D-8D232C432278}">
      <dgm:prSet/>
      <dgm:spPr/>
      <dgm:t>
        <a:bodyPr/>
        <a:lstStyle/>
        <a:p>
          <a:endParaRPr lang="en-US"/>
        </a:p>
      </dgm:t>
    </dgm:pt>
    <dgm:pt modelId="{4D1912DD-EB09-4CD1-B57B-2C82C76DAB17}" type="pres">
      <dgm:prSet presAssocID="{0DF2B5BF-60C1-4FFC-83DA-E294F6D1FC3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2C3152-A429-4067-B0E8-126FBD782FAA}" type="pres">
      <dgm:prSet presAssocID="{CF51DDEB-DBA0-4B5F-AC4B-2BE8512D7BB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6ED5AC-3F5E-40DC-8408-2EA53586F1CA}" type="pres">
      <dgm:prSet presAssocID="{CF51DDEB-DBA0-4B5F-AC4B-2BE8512D7BBE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CE61DA-179D-4CF8-BDD6-8EBA2ABD42CF}" type="presOf" srcId="{CF51DDEB-DBA0-4B5F-AC4B-2BE8512D7BBE}" destId="{602C3152-A429-4067-B0E8-126FBD782FAA}" srcOrd="0" destOrd="0" presId="urn:microsoft.com/office/officeart/2005/8/layout/vList2"/>
    <dgm:cxn modelId="{ED269189-F4CC-4DF9-A480-6DD3582CFF1C}" type="presOf" srcId="{5D24A0A6-0D80-4615-A571-41D6F0CD524C}" destId="{546ED5AC-3F5E-40DC-8408-2EA53586F1CA}" srcOrd="0" destOrd="0" presId="urn:microsoft.com/office/officeart/2005/8/layout/vList2"/>
    <dgm:cxn modelId="{F35CE3CE-960C-4240-8C47-8BFB002ED520}" srcId="{0DF2B5BF-60C1-4FFC-83DA-E294F6D1FC3F}" destId="{CF51DDEB-DBA0-4B5F-AC4B-2BE8512D7BBE}" srcOrd="0" destOrd="0" parTransId="{D2BA11EE-7BB5-4B45-BDCC-0B9CF16C0D49}" sibTransId="{0BE6F7FD-0188-4430-AF5B-003ADA72C6E6}"/>
    <dgm:cxn modelId="{808AFB9C-FE59-4395-A185-67C49E7F3679}" type="presOf" srcId="{E6156114-3C74-4728-BE5F-64D310984197}" destId="{546ED5AC-3F5E-40DC-8408-2EA53586F1CA}" srcOrd="0" destOrd="1" presId="urn:microsoft.com/office/officeart/2005/8/layout/vList2"/>
    <dgm:cxn modelId="{B0EA8EB8-0140-4A1E-842D-8D232C432278}" srcId="{CF51DDEB-DBA0-4B5F-AC4B-2BE8512D7BBE}" destId="{69658A03-4F22-4488-915E-E2C748AB3B53}" srcOrd="2" destOrd="0" parTransId="{91BC76B8-B63B-4874-AED3-C7812375B9D2}" sibTransId="{8DE0C3C1-96CC-44F4-B276-12CBEAB96DFD}"/>
    <dgm:cxn modelId="{651BCD3A-DD31-4775-A23B-CDCD8AACEFFB}" srcId="{CF51DDEB-DBA0-4B5F-AC4B-2BE8512D7BBE}" destId="{E6156114-3C74-4728-BE5F-64D310984197}" srcOrd="1" destOrd="0" parTransId="{A74F27FF-A28F-4C4F-959C-3E8D2E3D4197}" sibTransId="{A639625F-4B1F-4A38-A2F4-97122CF0E469}"/>
    <dgm:cxn modelId="{5797D14B-C848-4E14-B716-E053391E7F17}" type="presOf" srcId="{0DF2B5BF-60C1-4FFC-83DA-E294F6D1FC3F}" destId="{4D1912DD-EB09-4CD1-B57B-2C82C76DAB17}" srcOrd="0" destOrd="0" presId="urn:microsoft.com/office/officeart/2005/8/layout/vList2"/>
    <dgm:cxn modelId="{4A1E5D50-BFAE-43A6-8950-67364663B22E}" type="presOf" srcId="{69658A03-4F22-4488-915E-E2C748AB3B53}" destId="{546ED5AC-3F5E-40DC-8408-2EA53586F1CA}" srcOrd="0" destOrd="2" presId="urn:microsoft.com/office/officeart/2005/8/layout/vList2"/>
    <dgm:cxn modelId="{205B8CCD-76BE-4545-86F1-594764B2C222}" srcId="{CF51DDEB-DBA0-4B5F-AC4B-2BE8512D7BBE}" destId="{5D24A0A6-0D80-4615-A571-41D6F0CD524C}" srcOrd="0" destOrd="0" parTransId="{536A7BB1-0FF8-4549-A106-F91F46DEEEFD}" sibTransId="{B37F9B78-BE09-4F9C-8F1A-3F5B42D186FC}"/>
    <dgm:cxn modelId="{AAD17AA9-D3D7-4B60-9393-2CED91B5D51F}" type="presParOf" srcId="{4D1912DD-EB09-4CD1-B57B-2C82C76DAB17}" destId="{602C3152-A429-4067-B0E8-126FBD782FAA}" srcOrd="0" destOrd="0" presId="urn:microsoft.com/office/officeart/2005/8/layout/vList2"/>
    <dgm:cxn modelId="{92564A06-0B79-412E-A8D9-7467FDCA752A}" type="presParOf" srcId="{4D1912DD-EB09-4CD1-B57B-2C82C76DAB17}" destId="{546ED5AC-3F5E-40DC-8408-2EA53586F1C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CACADB-061F-4D88-83BD-4C903E4DD407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FA4ABE4-E5A3-4355-AA62-2B7AA8EDEB86}">
      <dgm:prSet/>
      <dgm:spPr/>
      <dgm:t>
        <a:bodyPr/>
        <a:lstStyle/>
        <a:p>
          <a:r>
            <a:rPr lang="en-US" b="1"/>
            <a:t>3. Compare performance with the standards</a:t>
          </a:r>
          <a:r>
            <a:rPr lang="en-US"/>
            <a:t>.</a:t>
          </a:r>
        </a:p>
      </dgm:t>
    </dgm:pt>
    <dgm:pt modelId="{1B7DD9AE-CEB3-4119-8D64-F39B05225488}" type="parTrans" cxnId="{8B3DDE8C-E17F-4C75-8266-032C9BD7C60A}">
      <dgm:prSet/>
      <dgm:spPr/>
      <dgm:t>
        <a:bodyPr/>
        <a:lstStyle/>
        <a:p>
          <a:endParaRPr lang="en-US"/>
        </a:p>
      </dgm:t>
    </dgm:pt>
    <dgm:pt modelId="{27298AD5-7118-440B-93F1-8BC759E244C1}" type="sibTrans" cxnId="{8B3DDE8C-E17F-4C75-8266-032C9BD7C60A}">
      <dgm:prSet/>
      <dgm:spPr/>
      <dgm:t>
        <a:bodyPr/>
        <a:lstStyle/>
        <a:p>
          <a:endParaRPr lang="en-US"/>
        </a:p>
      </dgm:t>
    </dgm:pt>
    <dgm:pt modelId="{A670B86B-7276-4945-91C1-6A3B87AB87F5}">
      <dgm:prSet/>
      <dgm:spPr/>
      <dgm:t>
        <a:bodyPr/>
        <a:lstStyle/>
        <a:p>
          <a:r>
            <a:rPr lang="en-US"/>
            <a:t>This step </a:t>
          </a:r>
          <a:r>
            <a:rPr lang="en-US" b="1" u="sng"/>
            <a:t>compares actual activities to performance standards. </a:t>
          </a:r>
          <a:endParaRPr lang="en-US"/>
        </a:p>
      </dgm:t>
    </dgm:pt>
    <dgm:pt modelId="{9A89F0B2-660F-43A4-81A3-4C7375863ACB}" type="parTrans" cxnId="{05080B8F-4E84-400A-BDD7-04E51B6FA426}">
      <dgm:prSet/>
      <dgm:spPr/>
      <dgm:t>
        <a:bodyPr/>
        <a:lstStyle/>
        <a:p>
          <a:endParaRPr lang="en-US"/>
        </a:p>
      </dgm:t>
    </dgm:pt>
    <dgm:pt modelId="{F06E7114-65F2-468C-96AD-0EB01E1B3959}" type="sibTrans" cxnId="{05080B8F-4E84-400A-BDD7-04E51B6FA426}">
      <dgm:prSet/>
      <dgm:spPr/>
      <dgm:t>
        <a:bodyPr/>
        <a:lstStyle/>
        <a:p>
          <a:endParaRPr lang="en-US"/>
        </a:p>
      </dgm:t>
    </dgm:pt>
    <dgm:pt modelId="{4101932A-6979-4602-863C-07682DF9B438}">
      <dgm:prSet/>
      <dgm:spPr/>
      <dgm:t>
        <a:bodyPr/>
        <a:lstStyle/>
        <a:p>
          <a:r>
            <a:rPr lang="en-US"/>
            <a:t>When </a:t>
          </a:r>
          <a:r>
            <a:rPr lang="en-US" b="1" u="sng"/>
            <a:t>managers read computer reports or walk through their plants, </a:t>
          </a:r>
          <a:r>
            <a:rPr lang="en-US"/>
            <a:t>they </a:t>
          </a:r>
          <a:r>
            <a:rPr lang="en-US" b="1" u="sng"/>
            <a:t>identify whether actual performance meets, exceeds,</a:t>
          </a:r>
          <a:r>
            <a:rPr lang="en-US"/>
            <a:t> or falls short of standards. </a:t>
          </a:r>
        </a:p>
      </dgm:t>
    </dgm:pt>
    <dgm:pt modelId="{2B105189-B9DA-4E60-A9B9-4770747975A7}" type="parTrans" cxnId="{95B4AF18-9DE5-4E59-9B7B-3BAF63B5895A}">
      <dgm:prSet/>
      <dgm:spPr/>
      <dgm:t>
        <a:bodyPr/>
        <a:lstStyle/>
        <a:p>
          <a:endParaRPr lang="en-US"/>
        </a:p>
      </dgm:t>
    </dgm:pt>
    <dgm:pt modelId="{ED6A5735-52A2-482B-A071-B785D92D33A6}" type="sibTrans" cxnId="{95B4AF18-9DE5-4E59-9B7B-3BAF63B5895A}">
      <dgm:prSet/>
      <dgm:spPr/>
      <dgm:t>
        <a:bodyPr/>
        <a:lstStyle/>
        <a:p>
          <a:endParaRPr lang="en-US"/>
        </a:p>
      </dgm:t>
    </dgm:pt>
    <dgm:pt modelId="{4242CA33-18A6-42B2-8F2A-65C3D4768C1D}">
      <dgm:prSet/>
      <dgm:spPr/>
      <dgm:t>
        <a:bodyPr/>
        <a:lstStyle/>
        <a:p>
          <a:r>
            <a:rPr lang="en-US"/>
            <a:t>Typically, </a:t>
          </a:r>
          <a:r>
            <a:rPr lang="en-US" b="1" u="sng"/>
            <a:t>performance reports simplify such comparison by placing the performance standards </a:t>
          </a:r>
          <a:r>
            <a:rPr lang="en-US"/>
            <a:t>for the </a:t>
          </a:r>
          <a:r>
            <a:rPr lang="en-US" b="1" u="sng"/>
            <a:t>reporting period </a:t>
          </a:r>
          <a:endParaRPr lang="en-US"/>
        </a:p>
      </dgm:t>
    </dgm:pt>
    <dgm:pt modelId="{298EDAB9-3AD0-47EE-8934-3ED020EA2B50}" type="parTrans" cxnId="{1052F704-D611-4137-B1FF-2AD9A11FBD1B}">
      <dgm:prSet/>
      <dgm:spPr/>
      <dgm:t>
        <a:bodyPr/>
        <a:lstStyle/>
        <a:p>
          <a:endParaRPr lang="en-US"/>
        </a:p>
      </dgm:t>
    </dgm:pt>
    <dgm:pt modelId="{47E4507E-DDDD-4F9B-97BE-65A519C2B9EB}" type="sibTrans" cxnId="{1052F704-D611-4137-B1FF-2AD9A11FBD1B}">
      <dgm:prSet/>
      <dgm:spPr/>
      <dgm:t>
        <a:bodyPr/>
        <a:lstStyle/>
        <a:p>
          <a:endParaRPr lang="en-US"/>
        </a:p>
      </dgm:t>
    </dgm:pt>
    <dgm:pt modelId="{E50A09C0-462E-4506-9F3E-AAF0A7211670}">
      <dgm:prSet/>
      <dgm:spPr/>
      <dgm:t>
        <a:bodyPr/>
        <a:lstStyle/>
        <a:p>
          <a:r>
            <a:rPr lang="en-US" b="1" u="sng"/>
            <a:t>alongside the actual performance for the same period </a:t>
          </a:r>
          <a:r>
            <a:rPr lang="en-US"/>
            <a:t>and </a:t>
          </a:r>
          <a:r>
            <a:rPr lang="en-US" b="1" u="sng"/>
            <a:t>by computing the variance,</a:t>
          </a:r>
          <a:r>
            <a:rPr lang="en-US"/>
            <a:t> that is, the </a:t>
          </a:r>
          <a:r>
            <a:rPr lang="en-US" b="1" u="sng"/>
            <a:t>difference between each actual amount and the associated standard</a:t>
          </a:r>
          <a:r>
            <a:rPr lang="en-US"/>
            <a:t>.</a:t>
          </a:r>
        </a:p>
      </dgm:t>
    </dgm:pt>
    <dgm:pt modelId="{866CEB44-ED6D-4FE9-88F0-2A26EDF8544F}" type="parTrans" cxnId="{AEB2B569-FEE3-47D2-83A0-7FDACFD86989}">
      <dgm:prSet/>
      <dgm:spPr/>
      <dgm:t>
        <a:bodyPr/>
        <a:lstStyle/>
        <a:p>
          <a:endParaRPr lang="en-US"/>
        </a:p>
      </dgm:t>
    </dgm:pt>
    <dgm:pt modelId="{EA12FE89-C6B9-4B47-8862-18B07BFE5F29}" type="sibTrans" cxnId="{AEB2B569-FEE3-47D2-83A0-7FDACFD86989}">
      <dgm:prSet/>
      <dgm:spPr/>
      <dgm:t>
        <a:bodyPr/>
        <a:lstStyle/>
        <a:p>
          <a:endParaRPr lang="en-US"/>
        </a:p>
      </dgm:t>
    </dgm:pt>
    <dgm:pt modelId="{E6C21B88-5CB4-42DC-BBDD-F6E81CF0AC87}" type="pres">
      <dgm:prSet presAssocID="{F0CACADB-061F-4D88-83BD-4C903E4DD40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75EC350-955A-4D06-AB7C-08E7AF9F78EC}" type="pres">
      <dgm:prSet presAssocID="{CFA4ABE4-E5A3-4355-AA62-2B7AA8EDEB8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4B0F3A-9599-424C-9CDE-4F0812B25BB1}" type="pres">
      <dgm:prSet presAssocID="{CFA4ABE4-E5A3-4355-AA62-2B7AA8EDEB86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B3DDE8C-E17F-4C75-8266-032C9BD7C60A}" srcId="{F0CACADB-061F-4D88-83BD-4C903E4DD407}" destId="{CFA4ABE4-E5A3-4355-AA62-2B7AA8EDEB86}" srcOrd="0" destOrd="0" parTransId="{1B7DD9AE-CEB3-4119-8D64-F39B05225488}" sibTransId="{27298AD5-7118-440B-93F1-8BC759E244C1}"/>
    <dgm:cxn modelId="{715ED1EB-7E9C-4A4D-B816-9AA8486CF072}" type="presOf" srcId="{CFA4ABE4-E5A3-4355-AA62-2B7AA8EDEB86}" destId="{C75EC350-955A-4D06-AB7C-08E7AF9F78EC}" srcOrd="0" destOrd="0" presId="urn:microsoft.com/office/officeart/2005/8/layout/vList2"/>
    <dgm:cxn modelId="{89A1643F-7E21-4C09-BC5B-17DC9C33A219}" type="presOf" srcId="{F0CACADB-061F-4D88-83BD-4C903E4DD407}" destId="{E6C21B88-5CB4-42DC-BBDD-F6E81CF0AC87}" srcOrd="0" destOrd="0" presId="urn:microsoft.com/office/officeart/2005/8/layout/vList2"/>
    <dgm:cxn modelId="{1052F704-D611-4137-B1FF-2AD9A11FBD1B}" srcId="{CFA4ABE4-E5A3-4355-AA62-2B7AA8EDEB86}" destId="{4242CA33-18A6-42B2-8F2A-65C3D4768C1D}" srcOrd="2" destOrd="0" parTransId="{298EDAB9-3AD0-47EE-8934-3ED020EA2B50}" sibTransId="{47E4507E-DDDD-4F9B-97BE-65A519C2B9EB}"/>
    <dgm:cxn modelId="{14C973CE-C517-4999-91FE-F22DBAC91915}" type="presOf" srcId="{4242CA33-18A6-42B2-8F2A-65C3D4768C1D}" destId="{514B0F3A-9599-424C-9CDE-4F0812B25BB1}" srcOrd="0" destOrd="2" presId="urn:microsoft.com/office/officeart/2005/8/layout/vList2"/>
    <dgm:cxn modelId="{05080B8F-4E84-400A-BDD7-04E51B6FA426}" srcId="{CFA4ABE4-E5A3-4355-AA62-2B7AA8EDEB86}" destId="{A670B86B-7276-4945-91C1-6A3B87AB87F5}" srcOrd="0" destOrd="0" parTransId="{9A89F0B2-660F-43A4-81A3-4C7375863ACB}" sibTransId="{F06E7114-65F2-468C-96AD-0EB01E1B3959}"/>
    <dgm:cxn modelId="{95B4AF18-9DE5-4E59-9B7B-3BAF63B5895A}" srcId="{CFA4ABE4-E5A3-4355-AA62-2B7AA8EDEB86}" destId="{4101932A-6979-4602-863C-07682DF9B438}" srcOrd="1" destOrd="0" parTransId="{2B105189-B9DA-4E60-A9B9-4770747975A7}" sibTransId="{ED6A5735-52A2-482B-A071-B785D92D33A6}"/>
    <dgm:cxn modelId="{66A41E1E-E187-43D0-857C-4EB52746FEB3}" type="presOf" srcId="{4101932A-6979-4602-863C-07682DF9B438}" destId="{514B0F3A-9599-424C-9CDE-4F0812B25BB1}" srcOrd="0" destOrd="1" presId="urn:microsoft.com/office/officeart/2005/8/layout/vList2"/>
    <dgm:cxn modelId="{C30265AC-CBA2-4309-9F85-C09AA962A6D5}" type="presOf" srcId="{A670B86B-7276-4945-91C1-6A3B87AB87F5}" destId="{514B0F3A-9599-424C-9CDE-4F0812B25BB1}" srcOrd="0" destOrd="0" presId="urn:microsoft.com/office/officeart/2005/8/layout/vList2"/>
    <dgm:cxn modelId="{D14729BD-18B1-4071-A075-CE5D74AAC191}" type="presOf" srcId="{E50A09C0-462E-4506-9F3E-AAF0A7211670}" destId="{514B0F3A-9599-424C-9CDE-4F0812B25BB1}" srcOrd="0" destOrd="3" presId="urn:microsoft.com/office/officeart/2005/8/layout/vList2"/>
    <dgm:cxn modelId="{AEB2B569-FEE3-47D2-83A0-7FDACFD86989}" srcId="{CFA4ABE4-E5A3-4355-AA62-2B7AA8EDEB86}" destId="{E50A09C0-462E-4506-9F3E-AAF0A7211670}" srcOrd="3" destOrd="0" parTransId="{866CEB44-ED6D-4FE9-88F0-2A26EDF8544F}" sibTransId="{EA12FE89-C6B9-4B47-8862-18B07BFE5F29}"/>
    <dgm:cxn modelId="{3A50ECA7-4FC9-4701-8997-CA882E7808BC}" type="presParOf" srcId="{E6C21B88-5CB4-42DC-BBDD-F6E81CF0AC87}" destId="{C75EC350-955A-4D06-AB7C-08E7AF9F78EC}" srcOrd="0" destOrd="0" presId="urn:microsoft.com/office/officeart/2005/8/layout/vList2"/>
    <dgm:cxn modelId="{766106E8-A573-4542-9C9F-68F0A2187DBA}" type="presParOf" srcId="{E6C21B88-5CB4-42DC-BBDD-F6E81CF0AC87}" destId="{514B0F3A-9599-424C-9CDE-4F0812B25BB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37A01D5-8EE9-4785-8E0D-8EBE1F1B4736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323C8A7-0A69-452A-8A5F-4AE79E307E24}">
      <dgm:prSet/>
      <dgm:spPr/>
      <dgm:t>
        <a:bodyPr/>
        <a:lstStyle/>
        <a:p>
          <a:r>
            <a:rPr lang="en-US" b="1"/>
            <a:t>4. Take corrective actions. </a:t>
          </a:r>
          <a:endParaRPr lang="en-US"/>
        </a:p>
      </dgm:t>
    </dgm:pt>
    <dgm:pt modelId="{3C84B9B7-2B39-4CD9-A1FF-4EAA52634262}" type="parTrans" cxnId="{91E4A40A-6D23-41B3-9EDD-2CAA0EDE0215}">
      <dgm:prSet/>
      <dgm:spPr/>
      <dgm:t>
        <a:bodyPr/>
        <a:lstStyle/>
        <a:p>
          <a:endParaRPr lang="en-US"/>
        </a:p>
      </dgm:t>
    </dgm:pt>
    <dgm:pt modelId="{5DF4DF50-E0EC-4AA3-A014-ECECEAEAEE31}" type="sibTrans" cxnId="{91E4A40A-6D23-41B3-9EDD-2CAA0EDE0215}">
      <dgm:prSet/>
      <dgm:spPr/>
      <dgm:t>
        <a:bodyPr/>
        <a:lstStyle/>
        <a:p>
          <a:endParaRPr lang="en-US"/>
        </a:p>
      </dgm:t>
    </dgm:pt>
    <dgm:pt modelId="{D9C3C299-24F5-46D4-8793-0C8A953299DF}">
      <dgm:prSet/>
      <dgm:spPr/>
      <dgm:t>
        <a:bodyPr/>
        <a:lstStyle/>
        <a:p>
          <a:r>
            <a:rPr lang="en-US" b="1" u="sng"/>
            <a:t>When performance deviates from standards, managers must determine what changes,</a:t>
          </a:r>
          <a:r>
            <a:rPr lang="en-US"/>
            <a:t> if any, are necessary and how to apply them.</a:t>
          </a:r>
        </a:p>
      </dgm:t>
    </dgm:pt>
    <dgm:pt modelId="{38E9D7CA-B09D-48E5-B7AE-A2E1E4BC2EFA}" type="parTrans" cxnId="{4FEBE88B-DF2A-4688-B600-D35DD732B4BB}">
      <dgm:prSet/>
      <dgm:spPr/>
      <dgm:t>
        <a:bodyPr/>
        <a:lstStyle/>
        <a:p>
          <a:endParaRPr lang="en-US"/>
        </a:p>
      </dgm:t>
    </dgm:pt>
    <dgm:pt modelId="{5626D0D7-F511-4A4B-960D-E9F1DCC0EDB9}" type="sibTrans" cxnId="{4FEBE88B-DF2A-4688-B600-D35DD732B4BB}">
      <dgm:prSet/>
      <dgm:spPr/>
      <dgm:t>
        <a:bodyPr/>
        <a:lstStyle/>
        <a:p>
          <a:endParaRPr lang="en-US"/>
        </a:p>
      </dgm:t>
    </dgm:pt>
    <dgm:pt modelId="{65F126C4-84E6-4DF4-8A3C-910C20DD48B0}">
      <dgm:prSet/>
      <dgm:spPr/>
      <dgm:t>
        <a:bodyPr/>
        <a:lstStyle/>
        <a:p>
          <a:r>
            <a:rPr lang="en-US" b="1" u="sng"/>
            <a:t>In the productivity and quality-centered environment, </a:t>
          </a:r>
          <a:r>
            <a:rPr lang="en-US"/>
            <a:t>workers and managers are often empowered to evaluate their own work.</a:t>
          </a:r>
        </a:p>
      </dgm:t>
    </dgm:pt>
    <dgm:pt modelId="{09347A57-C84E-4F03-9163-698969F23CB4}" type="parTrans" cxnId="{206159A8-71DE-4E0C-8C59-0B94BA727560}">
      <dgm:prSet/>
      <dgm:spPr/>
      <dgm:t>
        <a:bodyPr/>
        <a:lstStyle/>
        <a:p>
          <a:endParaRPr lang="en-US"/>
        </a:p>
      </dgm:t>
    </dgm:pt>
    <dgm:pt modelId="{D4647F03-DE05-4651-B0C7-C68009947888}" type="sibTrans" cxnId="{206159A8-71DE-4E0C-8C59-0B94BA727560}">
      <dgm:prSet/>
      <dgm:spPr/>
      <dgm:t>
        <a:bodyPr/>
        <a:lstStyle/>
        <a:p>
          <a:endParaRPr lang="en-US"/>
        </a:p>
      </dgm:t>
    </dgm:pt>
    <dgm:pt modelId="{5F38A74E-58FA-4D6A-AFF3-8AB02173A0BF}">
      <dgm:prSet/>
      <dgm:spPr/>
      <dgm:t>
        <a:bodyPr/>
        <a:lstStyle/>
        <a:p>
          <a:r>
            <a:rPr lang="en-US" b="1" u="sng"/>
            <a:t>After the evaluator determines the cause or causes of deviation, he or she can take the fourth step </a:t>
          </a:r>
          <a:r>
            <a:rPr lang="en-US"/>
            <a:t>(corrective action).</a:t>
          </a:r>
        </a:p>
      </dgm:t>
    </dgm:pt>
    <dgm:pt modelId="{ED36BABA-318D-4293-85F9-ECF7B7604F37}" type="parTrans" cxnId="{C1E53FF8-41E9-42F3-8CC4-846C7E8F1EBD}">
      <dgm:prSet/>
      <dgm:spPr/>
      <dgm:t>
        <a:bodyPr/>
        <a:lstStyle/>
        <a:p>
          <a:endParaRPr lang="en-US"/>
        </a:p>
      </dgm:t>
    </dgm:pt>
    <dgm:pt modelId="{9DEECF1D-E125-428E-8596-FFA0C066D04D}" type="sibTrans" cxnId="{C1E53FF8-41E9-42F3-8CC4-846C7E8F1EBD}">
      <dgm:prSet/>
      <dgm:spPr/>
      <dgm:t>
        <a:bodyPr/>
        <a:lstStyle/>
        <a:p>
          <a:endParaRPr lang="en-US"/>
        </a:p>
      </dgm:t>
    </dgm:pt>
    <dgm:pt modelId="{489D73F7-A476-4621-9B82-C1BF050F33E1}">
      <dgm:prSet/>
      <dgm:spPr/>
      <dgm:t>
        <a:bodyPr/>
        <a:lstStyle/>
        <a:p>
          <a:r>
            <a:rPr lang="en-US" b="1" u="sng"/>
            <a:t>The most effective course may be prescribed by policies or may be best left up to employees’ judgment and initiative.</a:t>
          </a:r>
          <a:r>
            <a:rPr lang="en-US"/>
            <a:t> </a:t>
          </a:r>
        </a:p>
      </dgm:t>
    </dgm:pt>
    <dgm:pt modelId="{3603AFBB-5764-4867-B154-88EB76762A87}" type="parTrans" cxnId="{6377A540-7993-4C74-ABD5-AF6F98F620A6}">
      <dgm:prSet/>
      <dgm:spPr/>
      <dgm:t>
        <a:bodyPr/>
        <a:lstStyle/>
        <a:p>
          <a:endParaRPr lang="en-US"/>
        </a:p>
      </dgm:t>
    </dgm:pt>
    <dgm:pt modelId="{0ADE0B65-EAF9-48DB-8225-FEB3BFDAFD88}" type="sibTrans" cxnId="{6377A540-7993-4C74-ABD5-AF6F98F620A6}">
      <dgm:prSet/>
      <dgm:spPr/>
      <dgm:t>
        <a:bodyPr/>
        <a:lstStyle/>
        <a:p>
          <a:endParaRPr lang="en-US"/>
        </a:p>
      </dgm:t>
    </dgm:pt>
    <dgm:pt modelId="{4FADEC1A-6BA6-4E41-8A7F-5223B9524FB2}">
      <dgm:prSet/>
      <dgm:spPr/>
      <dgm:t>
        <a:bodyPr/>
        <a:lstStyle/>
        <a:p>
          <a:r>
            <a:rPr lang="en-US"/>
            <a:t>These </a:t>
          </a:r>
          <a:r>
            <a:rPr lang="en-US" b="1" u="sng"/>
            <a:t>steps must be repeated periodically until the organizational goal</a:t>
          </a:r>
          <a:r>
            <a:rPr lang="en-US"/>
            <a:t> is achieved.</a:t>
          </a:r>
        </a:p>
      </dgm:t>
    </dgm:pt>
    <dgm:pt modelId="{C0338F18-015F-4518-AEB7-8AFBA3F57718}" type="parTrans" cxnId="{21B48526-3A50-47F2-94CE-2AC5D96B9647}">
      <dgm:prSet/>
      <dgm:spPr/>
      <dgm:t>
        <a:bodyPr/>
        <a:lstStyle/>
        <a:p>
          <a:endParaRPr lang="en-US"/>
        </a:p>
      </dgm:t>
    </dgm:pt>
    <dgm:pt modelId="{E368A97A-11E1-4C7D-9D72-99F771156B82}" type="sibTrans" cxnId="{21B48526-3A50-47F2-94CE-2AC5D96B9647}">
      <dgm:prSet/>
      <dgm:spPr/>
      <dgm:t>
        <a:bodyPr/>
        <a:lstStyle/>
        <a:p>
          <a:endParaRPr lang="en-US"/>
        </a:p>
      </dgm:t>
    </dgm:pt>
    <dgm:pt modelId="{8CB6210E-43DC-44D2-9325-6F28100DBC72}" type="pres">
      <dgm:prSet presAssocID="{A37A01D5-8EE9-4785-8E0D-8EBE1F1B473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8AE0C8-BE03-4830-A54E-DA0DE899A231}" type="pres">
      <dgm:prSet presAssocID="{D323C8A7-0A69-452A-8A5F-4AE79E307E2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F85B87-C992-414D-86AA-84CD64FED0DE}" type="pres">
      <dgm:prSet presAssocID="{D323C8A7-0A69-452A-8A5F-4AE79E307E2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6159A8-71DE-4E0C-8C59-0B94BA727560}" srcId="{D323C8A7-0A69-452A-8A5F-4AE79E307E24}" destId="{65F126C4-84E6-4DF4-8A3C-910C20DD48B0}" srcOrd="1" destOrd="0" parTransId="{09347A57-C84E-4F03-9163-698969F23CB4}" sibTransId="{D4647F03-DE05-4651-B0C7-C68009947888}"/>
    <dgm:cxn modelId="{C1E53FF8-41E9-42F3-8CC4-846C7E8F1EBD}" srcId="{D323C8A7-0A69-452A-8A5F-4AE79E307E24}" destId="{5F38A74E-58FA-4D6A-AFF3-8AB02173A0BF}" srcOrd="2" destOrd="0" parTransId="{ED36BABA-318D-4293-85F9-ECF7B7604F37}" sibTransId="{9DEECF1D-E125-428E-8596-FFA0C066D04D}"/>
    <dgm:cxn modelId="{21B48526-3A50-47F2-94CE-2AC5D96B9647}" srcId="{D323C8A7-0A69-452A-8A5F-4AE79E307E24}" destId="{4FADEC1A-6BA6-4E41-8A7F-5223B9524FB2}" srcOrd="4" destOrd="0" parTransId="{C0338F18-015F-4518-AEB7-8AFBA3F57718}" sibTransId="{E368A97A-11E1-4C7D-9D72-99F771156B82}"/>
    <dgm:cxn modelId="{01202512-F2B7-4E73-84CF-7B8ABD0994B8}" type="presOf" srcId="{D9C3C299-24F5-46D4-8793-0C8A953299DF}" destId="{B4F85B87-C992-414D-86AA-84CD64FED0DE}" srcOrd="0" destOrd="0" presId="urn:microsoft.com/office/officeart/2005/8/layout/vList2"/>
    <dgm:cxn modelId="{8A371737-4991-4B48-AFEC-62C3B554B133}" type="presOf" srcId="{5F38A74E-58FA-4D6A-AFF3-8AB02173A0BF}" destId="{B4F85B87-C992-414D-86AA-84CD64FED0DE}" srcOrd="0" destOrd="2" presId="urn:microsoft.com/office/officeart/2005/8/layout/vList2"/>
    <dgm:cxn modelId="{020EDAA4-903E-4630-A0BE-69249EC0EAEB}" type="presOf" srcId="{4FADEC1A-6BA6-4E41-8A7F-5223B9524FB2}" destId="{B4F85B87-C992-414D-86AA-84CD64FED0DE}" srcOrd="0" destOrd="4" presId="urn:microsoft.com/office/officeart/2005/8/layout/vList2"/>
    <dgm:cxn modelId="{91E4A40A-6D23-41B3-9EDD-2CAA0EDE0215}" srcId="{A37A01D5-8EE9-4785-8E0D-8EBE1F1B4736}" destId="{D323C8A7-0A69-452A-8A5F-4AE79E307E24}" srcOrd="0" destOrd="0" parTransId="{3C84B9B7-2B39-4CD9-A1FF-4EAA52634262}" sibTransId="{5DF4DF50-E0EC-4AA3-A014-ECECEAEAEE31}"/>
    <dgm:cxn modelId="{5017BD06-AF2C-4819-B0D7-481C1FD6EDCD}" type="presOf" srcId="{A37A01D5-8EE9-4785-8E0D-8EBE1F1B4736}" destId="{8CB6210E-43DC-44D2-9325-6F28100DBC72}" srcOrd="0" destOrd="0" presId="urn:microsoft.com/office/officeart/2005/8/layout/vList2"/>
    <dgm:cxn modelId="{6377A540-7993-4C74-ABD5-AF6F98F620A6}" srcId="{D323C8A7-0A69-452A-8A5F-4AE79E307E24}" destId="{489D73F7-A476-4621-9B82-C1BF050F33E1}" srcOrd="3" destOrd="0" parTransId="{3603AFBB-5764-4867-B154-88EB76762A87}" sibTransId="{0ADE0B65-EAF9-48DB-8225-FEB3BFDAFD88}"/>
    <dgm:cxn modelId="{EBCCFEF9-0643-459C-8A00-7571C6160C13}" type="presOf" srcId="{D323C8A7-0A69-452A-8A5F-4AE79E307E24}" destId="{318AE0C8-BE03-4830-A54E-DA0DE899A231}" srcOrd="0" destOrd="0" presId="urn:microsoft.com/office/officeart/2005/8/layout/vList2"/>
    <dgm:cxn modelId="{068476EE-9AD3-4947-B5E5-F02026417B90}" type="presOf" srcId="{489D73F7-A476-4621-9B82-C1BF050F33E1}" destId="{B4F85B87-C992-414D-86AA-84CD64FED0DE}" srcOrd="0" destOrd="3" presId="urn:microsoft.com/office/officeart/2005/8/layout/vList2"/>
    <dgm:cxn modelId="{71D3CA8B-4E32-4A7F-8457-39E9E56B089F}" type="presOf" srcId="{65F126C4-84E6-4DF4-8A3C-910C20DD48B0}" destId="{B4F85B87-C992-414D-86AA-84CD64FED0DE}" srcOrd="0" destOrd="1" presId="urn:microsoft.com/office/officeart/2005/8/layout/vList2"/>
    <dgm:cxn modelId="{4FEBE88B-DF2A-4688-B600-D35DD732B4BB}" srcId="{D323C8A7-0A69-452A-8A5F-4AE79E307E24}" destId="{D9C3C299-24F5-46D4-8793-0C8A953299DF}" srcOrd="0" destOrd="0" parTransId="{38E9D7CA-B09D-48E5-B7AE-A2E1E4BC2EFA}" sibTransId="{5626D0D7-F511-4A4B-960D-E9F1DCC0EDB9}"/>
    <dgm:cxn modelId="{6C69F4E0-AA2B-4362-9BFE-3A5DA3CE6962}" type="presParOf" srcId="{8CB6210E-43DC-44D2-9325-6F28100DBC72}" destId="{318AE0C8-BE03-4830-A54E-DA0DE899A231}" srcOrd="0" destOrd="0" presId="urn:microsoft.com/office/officeart/2005/8/layout/vList2"/>
    <dgm:cxn modelId="{9AFCAE98-BA6C-459D-95D4-11D3E2AC633C}" type="presParOf" srcId="{8CB6210E-43DC-44D2-9325-6F28100DBC72}" destId="{B4F85B87-C992-414D-86AA-84CD64FED0D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16A2126-2BC3-4C76-B7C3-97672023C020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99250195-A62B-4119-A8F8-326D775586F8}">
      <dgm:prSet/>
      <dgm:spPr/>
      <dgm:t>
        <a:bodyPr/>
        <a:lstStyle/>
        <a:p>
          <a:r>
            <a:rPr lang="en-US"/>
            <a:t>Control can </a:t>
          </a:r>
          <a:r>
            <a:rPr lang="en-US" b="1" u="sng"/>
            <a:t>focus on events before, during, or after </a:t>
          </a:r>
          <a:r>
            <a:rPr lang="en-US"/>
            <a:t>a process. </a:t>
          </a:r>
        </a:p>
      </dgm:t>
    </dgm:pt>
    <dgm:pt modelId="{4C292CDF-91DE-4C21-8199-B03ECD1089ED}" type="parTrans" cxnId="{E44B50D4-3722-4C48-8F1D-651358E9BBFB}">
      <dgm:prSet/>
      <dgm:spPr/>
      <dgm:t>
        <a:bodyPr/>
        <a:lstStyle/>
        <a:p>
          <a:endParaRPr lang="en-US"/>
        </a:p>
      </dgm:t>
    </dgm:pt>
    <dgm:pt modelId="{5F12E242-2F3E-4B4B-8C0F-3EE6A7C16DE9}" type="sibTrans" cxnId="{E44B50D4-3722-4C48-8F1D-651358E9BBFB}">
      <dgm:prSet/>
      <dgm:spPr/>
      <dgm:t>
        <a:bodyPr/>
        <a:lstStyle/>
        <a:p>
          <a:endParaRPr lang="en-US"/>
        </a:p>
      </dgm:t>
    </dgm:pt>
    <dgm:pt modelId="{ED841AB1-A474-40DE-AE98-35022FBF5349}">
      <dgm:prSet/>
      <dgm:spPr/>
      <dgm:t>
        <a:bodyPr/>
        <a:lstStyle/>
        <a:p>
          <a:r>
            <a:rPr lang="en-US"/>
            <a:t>For example, </a:t>
          </a:r>
          <a:r>
            <a:rPr lang="en-US" b="1" u="sng"/>
            <a:t>a local automobile dealer can focus on activities before, during, or after sales of new cars. </a:t>
          </a:r>
          <a:endParaRPr lang="en-US"/>
        </a:p>
      </dgm:t>
    </dgm:pt>
    <dgm:pt modelId="{BDE8FFCB-9A04-4389-B124-90B546B1A8E8}" type="parTrans" cxnId="{B4924D4A-C1D1-4A43-8DF9-4D00434678D4}">
      <dgm:prSet/>
      <dgm:spPr/>
      <dgm:t>
        <a:bodyPr/>
        <a:lstStyle/>
        <a:p>
          <a:endParaRPr lang="en-US"/>
        </a:p>
      </dgm:t>
    </dgm:pt>
    <dgm:pt modelId="{09620D6F-E1C4-4E16-8B79-D4654B50388D}" type="sibTrans" cxnId="{B4924D4A-C1D1-4A43-8DF9-4D00434678D4}">
      <dgm:prSet/>
      <dgm:spPr/>
      <dgm:t>
        <a:bodyPr/>
        <a:lstStyle/>
        <a:p>
          <a:endParaRPr lang="en-US"/>
        </a:p>
      </dgm:t>
    </dgm:pt>
    <dgm:pt modelId="{19AD6A87-9D70-4845-AE7E-9001C22E5FF5}">
      <dgm:prSet/>
      <dgm:spPr/>
      <dgm:t>
        <a:bodyPr/>
        <a:lstStyle/>
        <a:p>
          <a:r>
            <a:rPr lang="en-US" b="1" u="sng"/>
            <a:t>Careful inspection of new cars and cautious selection of sales employees </a:t>
          </a:r>
          <a:r>
            <a:rPr lang="en-US"/>
            <a:t>are ways to ensure high quality or profitable sales even before those sales take place. </a:t>
          </a:r>
        </a:p>
      </dgm:t>
    </dgm:pt>
    <dgm:pt modelId="{A7637661-A839-4423-A9DA-BD2C79488508}" type="parTrans" cxnId="{81406354-79C7-4E12-9766-C2ED019B10DA}">
      <dgm:prSet/>
      <dgm:spPr/>
      <dgm:t>
        <a:bodyPr/>
        <a:lstStyle/>
        <a:p>
          <a:endParaRPr lang="en-US"/>
        </a:p>
      </dgm:t>
    </dgm:pt>
    <dgm:pt modelId="{4DD9F401-8A80-4290-B9F2-9A2F3AE07371}" type="sibTrans" cxnId="{81406354-79C7-4E12-9766-C2ED019B10DA}">
      <dgm:prSet/>
      <dgm:spPr/>
      <dgm:t>
        <a:bodyPr/>
        <a:lstStyle/>
        <a:p>
          <a:endParaRPr lang="en-US"/>
        </a:p>
      </dgm:t>
    </dgm:pt>
    <dgm:pt modelId="{B7BC2DAB-2F8F-49DA-8EDE-EEAA959A6C0C}">
      <dgm:prSet/>
      <dgm:spPr/>
      <dgm:t>
        <a:bodyPr/>
        <a:lstStyle/>
        <a:p>
          <a:r>
            <a:rPr lang="en-US" b="1" u="sng"/>
            <a:t>Monitoring how salespeople act with customers </a:t>
          </a:r>
          <a:r>
            <a:rPr lang="en-US"/>
            <a:t>is a control during the sales task. </a:t>
          </a:r>
        </a:p>
      </dgm:t>
    </dgm:pt>
    <dgm:pt modelId="{DADD3BEC-DA0A-4460-9CC5-CC044C69FD24}" type="parTrans" cxnId="{2B524E83-2A4E-4370-A982-E00997B87537}">
      <dgm:prSet/>
      <dgm:spPr/>
      <dgm:t>
        <a:bodyPr/>
        <a:lstStyle/>
        <a:p>
          <a:endParaRPr lang="en-US"/>
        </a:p>
      </dgm:t>
    </dgm:pt>
    <dgm:pt modelId="{A6CF7D0F-ED76-4DA8-8E03-3C93CBCF2A67}" type="sibTrans" cxnId="{2B524E83-2A4E-4370-A982-E00997B87537}">
      <dgm:prSet/>
      <dgm:spPr/>
      <dgm:t>
        <a:bodyPr/>
        <a:lstStyle/>
        <a:p>
          <a:endParaRPr lang="en-US"/>
        </a:p>
      </dgm:t>
    </dgm:pt>
    <dgm:pt modelId="{D14D59E2-F553-4C55-AEDB-FE8F530698CB}" type="pres">
      <dgm:prSet presAssocID="{416A2126-2BC3-4C76-B7C3-97672023C02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1D87C62-CE05-413C-9A54-FB426E87223A}" type="pres">
      <dgm:prSet presAssocID="{99250195-A62B-4119-A8F8-326D775586F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0C23AF-AC99-4A9E-86DB-226A6B30863D}" type="pres">
      <dgm:prSet presAssocID="{5F12E242-2F3E-4B4B-8C0F-3EE6A7C16DE9}" presName="spacer" presStyleCnt="0"/>
      <dgm:spPr/>
    </dgm:pt>
    <dgm:pt modelId="{FB4B08A8-FF4C-454D-AF0C-596D9690D430}" type="pres">
      <dgm:prSet presAssocID="{ED841AB1-A474-40DE-AE98-35022FBF534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994552-3A27-4571-8435-ACD3288C52FC}" type="pres">
      <dgm:prSet presAssocID="{09620D6F-E1C4-4E16-8B79-D4654B50388D}" presName="spacer" presStyleCnt="0"/>
      <dgm:spPr/>
    </dgm:pt>
    <dgm:pt modelId="{B117C564-4BA0-4BFB-85CB-A2C7F4891D78}" type="pres">
      <dgm:prSet presAssocID="{19AD6A87-9D70-4845-AE7E-9001C22E5FF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44E529-586D-4637-B105-2472B2641F97}" type="pres">
      <dgm:prSet presAssocID="{4DD9F401-8A80-4290-B9F2-9A2F3AE07371}" presName="spacer" presStyleCnt="0"/>
      <dgm:spPr/>
    </dgm:pt>
    <dgm:pt modelId="{39BE108A-4437-4568-A1D6-02AC3DBDA378}" type="pres">
      <dgm:prSet presAssocID="{B7BC2DAB-2F8F-49DA-8EDE-EEAA959A6C0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71A901-D40B-470B-AB0E-76E78FC34B0A}" type="presOf" srcId="{B7BC2DAB-2F8F-49DA-8EDE-EEAA959A6C0C}" destId="{39BE108A-4437-4568-A1D6-02AC3DBDA378}" srcOrd="0" destOrd="0" presId="urn:microsoft.com/office/officeart/2005/8/layout/vList2"/>
    <dgm:cxn modelId="{5DA666F7-0B27-4D62-9C4C-030499FF6462}" type="presOf" srcId="{99250195-A62B-4119-A8F8-326D775586F8}" destId="{A1D87C62-CE05-413C-9A54-FB426E87223A}" srcOrd="0" destOrd="0" presId="urn:microsoft.com/office/officeart/2005/8/layout/vList2"/>
    <dgm:cxn modelId="{65F3082A-4BD7-4678-B170-C5E0F0F96D85}" type="presOf" srcId="{ED841AB1-A474-40DE-AE98-35022FBF5349}" destId="{FB4B08A8-FF4C-454D-AF0C-596D9690D430}" srcOrd="0" destOrd="0" presId="urn:microsoft.com/office/officeart/2005/8/layout/vList2"/>
    <dgm:cxn modelId="{B4924D4A-C1D1-4A43-8DF9-4D00434678D4}" srcId="{416A2126-2BC3-4C76-B7C3-97672023C020}" destId="{ED841AB1-A474-40DE-AE98-35022FBF5349}" srcOrd="1" destOrd="0" parTransId="{BDE8FFCB-9A04-4389-B124-90B546B1A8E8}" sibTransId="{09620D6F-E1C4-4E16-8B79-D4654B50388D}"/>
    <dgm:cxn modelId="{E44B50D4-3722-4C48-8F1D-651358E9BBFB}" srcId="{416A2126-2BC3-4C76-B7C3-97672023C020}" destId="{99250195-A62B-4119-A8F8-326D775586F8}" srcOrd="0" destOrd="0" parTransId="{4C292CDF-91DE-4C21-8199-B03ECD1089ED}" sibTransId="{5F12E242-2F3E-4B4B-8C0F-3EE6A7C16DE9}"/>
    <dgm:cxn modelId="{2B524E83-2A4E-4370-A982-E00997B87537}" srcId="{416A2126-2BC3-4C76-B7C3-97672023C020}" destId="{B7BC2DAB-2F8F-49DA-8EDE-EEAA959A6C0C}" srcOrd="3" destOrd="0" parTransId="{DADD3BEC-DA0A-4460-9CC5-CC044C69FD24}" sibTransId="{A6CF7D0F-ED76-4DA8-8E03-3C93CBCF2A67}"/>
    <dgm:cxn modelId="{AEAEC35F-D90B-4785-BD57-669F9DF329DE}" type="presOf" srcId="{19AD6A87-9D70-4845-AE7E-9001C22E5FF5}" destId="{B117C564-4BA0-4BFB-85CB-A2C7F4891D78}" srcOrd="0" destOrd="0" presId="urn:microsoft.com/office/officeart/2005/8/layout/vList2"/>
    <dgm:cxn modelId="{81406354-79C7-4E12-9766-C2ED019B10DA}" srcId="{416A2126-2BC3-4C76-B7C3-97672023C020}" destId="{19AD6A87-9D70-4845-AE7E-9001C22E5FF5}" srcOrd="2" destOrd="0" parTransId="{A7637661-A839-4423-A9DA-BD2C79488508}" sibTransId="{4DD9F401-8A80-4290-B9F2-9A2F3AE07371}"/>
    <dgm:cxn modelId="{099DBD3A-5BDE-4B05-BBC9-86D2AB260CB0}" type="presOf" srcId="{416A2126-2BC3-4C76-B7C3-97672023C020}" destId="{D14D59E2-F553-4C55-AEDB-FE8F530698CB}" srcOrd="0" destOrd="0" presId="urn:microsoft.com/office/officeart/2005/8/layout/vList2"/>
    <dgm:cxn modelId="{33B2B146-203B-4271-889D-D368A1B30B45}" type="presParOf" srcId="{D14D59E2-F553-4C55-AEDB-FE8F530698CB}" destId="{A1D87C62-CE05-413C-9A54-FB426E87223A}" srcOrd="0" destOrd="0" presId="urn:microsoft.com/office/officeart/2005/8/layout/vList2"/>
    <dgm:cxn modelId="{376D77C9-2CBF-4CEB-A0DD-22EE2A9D44F2}" type="presParOf" srcId="{D14D59E2-F553-4C55-AEDB-FE8F530698CB}" destId="{010C23AF-AC99-4A9E-86DB-226A6B30863D}" srcOrd="1" destOrd="0" presId="urn:microsoft.com/office/officeart/2005/8/layout/vList2"/>
    <dgm:cxn modelId="{38EF553E-E812-4558-898C-EFF6AFB66DC0}" type="presParOf" srcId="{D14D59E2-F553-4C55-AEDB-FE8F530698CB}" destId="{FB4B08A8-FF4C-454D-AF0C-596D9690D430}" srcOrd="2" destOrd="0" presId="urn:microsoft.com/office/officeart/2005/8/layout/vList2"/>
    <dgm:cxn modelId="{CDFF0FB5-9BEE-42CB-B8EF-9097A4D0D042}" type="presParOf" srcId="{D14D59E2-F553-4C55-AEDB-FE8F530698CB}" destId="{75994552-3A27-4571-8435-ACD3288C52FC}" srcOrd="3" destOrd="0" presId="urn:microsoft.com/office/officeart/2005/8/layout/vList2"/>
    <dgm:cxn modelId="{49737DD8-CD97-4D07-A1C9-2204B84A7515}" type="presParOf" srcId="{D14D59E2-F553-4C55-AEDB-FE8F530698CB}" destId="{B117C564-4BA0-4BFB-85CB-A2C7F4891D78}" srcOrd="4" destOrd="0" presId="urn:microsoft.com/office/officeart/2005/8/layout/vList2"/>
    <dgm:cxn modelId="{17297D79-2F11-42E9-9548-04ADA9CB7E1A}" type="presParOf" srcId="{D14D59E2-F553-4C55-AEDB-FE8F530698CB}" destId="{9744E529-586D-4637-B105-2472B2641F97}" srcOrd="5" destOrd="0" presId="urn:microsoft.com/office/officeart/2005/8/layout/vList2"/>
    <dgm:cxn modelId="{837818C8-737E-4C18-8FB2-E74ACCD899D7}" type="presParOf" srcId="{D14D59E2-F553-4C55-AEDB-FE8F530698CB}" destId="{39BE108A-4437-4568-A1D6-02AC3DBDA3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81DE2B8-6DF0-4192-96DE-C4A2E6B9A422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2F66C3F-1C0B-480D-B96C-1A4529D086B2}">
      <dgm:prSet/>
      <dgm:spPr/>
      <dgm:t>
        <a:bodyPr/>
        <a:lstStyle/>
        <a:p>
          <a:r>
            <a:rPr lang="en-US" b="1" u="sng"/>
            <a:t>Counting the number of new cars sold during the month </a:t>
          </a:r>
          <a:r>
            <a:rPr lang="en-US"/>
            <a:t>and telephoning </a:t>
          </a:r>
          <a:r>
            <a:rPr lang="en-US" b="1" u="sng"/>
            <a:t>buyers about their satisfaction with sales transactions are controls</a:t>
          </a:r>
          <a:r>
            <a:rPr lang="en-US"/>
            <a:t> after sales have occurred. </a:t>
          </a:r>
        </a:p>
      </dgm:t>
    </dgm:pt>
    <dgm:pt modelId="{11CA6497-2A03-4594-BB47-15C2A98041A3}" type="parTrans" cxnId="{B63BBEBF-CFB3-4C3C-A693-3DBD68C40137}">
      <dgm:prSet/>
      <dgm:spPr/>
      <dgm:t>
        <a:bodyPr/>
        <a:lstStyle/>
        <a:p>
          <a:endParaRPr lang="en-US"/>
        </a:p>
      </dgm:t>
    </dgm:pt>
    <dgm:pt modelId="{EAE8B1B5-E990-4C7E-BBBB-0E99C15F4FCD}" type="sibTrans" cxnId="{B63BBEBF-CFB3-4C3C-A693-3DBD68C40137}">
      <dgm:prSet/>
      <dgm:spPr/>
      <dgm:t>
        <a:bodyPr/>
        <a:lstStyle/>
        <a:p>
          <a:endParaRPr lang="en-US"/>
        </a:p>
      </dgm:t>
    </dgm:pt>
    <dgm:pt modelId="{E9E27A0D-5F19-4648-8E91-07481CD7EF3F}">
      <dgm:prSet/>
      <dgm:spPr/>
      <dgm:t>
        <a:bodyPr/>
        <a:lstStyle/>
        <a:p>
          <a:r>
            <a:rPr lang="en-US" dirty="0"/>
            <a:t>These types of controls </a:t>
          </a:r>
          <a:r>
            <a:rPr lang="en-US" b="1" u="sng" dirty="0"/>
            <a:t>are formally called </a:t>
          </a:r>
          <a:endParaRPr lang="en-US" dirty="0"/>
        </a:p>
      </dgm:t>
    </dgm:pt>
    <dgm:pt modelId="{01E551D7-5802-4C9E-BB2F-F61F85447CCF}" type="parTrans" cxnId="{835221D3-8684-4EA9-875D-21D613CA73B5}">
      <dgm:prSet/>
      <dgm:spPr/>
      <dgm:t>
        <a:bodyPr/>
        <a:lstStyle/>
        <a:p>
          <a:endParaRPr lang="en-US"/>
        </a:p>
      </dgm:t>
    </dgm:pt>
    <dgm:pt modelId="{820B68DD-58C0-4966-AB1B-58933A0805C2}" type="sibTrans" cxnId="{835221D3-8684-4EA9-875D-21D613CA73B5}">
      <dgm:prSet/>
      <dgm:spPr/>
      <dgm:t>
        <a:bodyPr/>
        <a:lstStyle/>
        <a:p>
          <a:endParaRPr lang="en-US"/>
        </a:p>
      </dgm:t>
    </dgm:pt>
    <dgm:pt modelId="{BA1478E6-1842-4ED5-9105-140832D349E3}">
      <dgm:prSet/>
      <dgm:spPr/>
      <dgm:t>
        <a:bodyPr/>
        <a:lstStyle/>
        <a:p>
          <a:r>
            <a:rPr lang="en-US" b="1" dirty="0"/>
            <a:t>feed-forward, </a:t>
          </a:r>
          <a:endParaRPr lang="en-US" dirty="0"/>
        </a:p>
      </dgm:t>
    </dgm:pt>
    <dgm:pt modelId="{26312321-95FC-4A41-9E05-2AA33E3FFD4C}" type="parTrans" cxnId="{CF4B9578-47D4-4761-AC49-59047CC325B8}">
      <dgm:prSet/>
      <dgm:spPr/>
      <dgm:t>
        <a:bodyPr/>
        <a:lstStyle/>
        <a:p>
          <a:endParaRPr lang="en-US"/>
        </a:p>
      </dgm:t>
    </dgm:pt>
    <dgm:pt modelId="{C4AE423C-ACB1-4C62-84DC-F873D1233743}" type="sibTrans" cxnId="{CF4B9578-47D4-4761-AC49-59047CC325B8}">
      <dgm:prSet/>
      <dgm:spPr/>
      <dgm:t>
        <a:bodyPr/>
        <a:lstStyle/>
        <a:p>
          <a:endParaRPr lang="en-US"/>
        </a:p>
      </dgm:t>
    </dgm:pt>
    <dgm:pt modelId="{D65AC84F-E44C-4013-BBA6-C77CE0EC6B78}">
      <dgm:prSet/>
      <dgm:spPr/>
      <dgm:t>
        <a:bodyPr/>
        <a:lstStyle/>
        <a:p>
          <a:r>
            <a:rPr lang="en-US" b="1"/>
            <a:t>concurrent, </a:t>
          </a:r>
          <a:endParaRPr lang="en-US"/>
        </a:p>
      </dgm:t>
    </dgm:pt>
    <dgm:pt modelId="{C356296D-219C-4B5C-BEBE-F7248504F420}" type="parTrans" cxnId="{5C98E6B8-35E2-4958-936D-062A60ECE317}">
      <dgm:prSet/>
      <dgm:spPr/>
      <dgm:t>
        <a:bodyPr/>
        <a:lstStyle/>
        <a:p>
          <a:endParaRPr lang="en-US"/>
        </a:p>
      </dgm:t>
    </dgm:pt>
    <dgm:pt modelId="{36B5DD6B-8236-44FE-9505-8DD568E67806}" type="sibTrans" cxnId="{5C98E6B8-35E2-4958-936D-062A60ECE317}">
      <dgm:prSet/>
      <dgm:spPr/>
      <dgm:t>
        <a:bodyPr/>
        <a:lstStyle/>
        <a:p>
          <a:endParaRPr lang="en-US"/>
        </a:p>
      </dgm:t>
    </dgm:pt>
    <dgm:pt modelId="{6F549B9E-4754-4F8C-B875-F5C07FE933B8}">
      <dgm:prSet/>
      <dgm:spPr/>
      <dgm:t>
        <a:bodyPr/>
        <a:lstStyle/>
        <a:p>
          <a:r>
            <a:rPr lang="en-US" b="1"/>
            <a:t>and feed-back, respectively.</a:t>
          </a:r>
          <a:endParaRPr lang="en-US"/>
        </a:p>
      </dgm:t>
    </dgm:pt>
    <dgm:pt modelId="{88228773-2742-4C78-8325-3954357AA450}" type="parTrans" cxnId="{C92446E6-1DAF-4BB2-B02E-DB242D875C76}">
      <dgm:prSet/>
      <dgm:spPr/>
      <dgm:t>
        <a:bodyPr/>
        <a:lstStyle/>
        <a:p>
          <a:endParaRPr lang="en-US"/>
        </a:p>
      </dgm:t>
    </dgm:pt>
    <dgm:pt modelId="{9EF6BDA3-87F8-4792-BB82-45ED671A5B8F}" type="sibTrans" cxnId="{C92446E6-1DAF-4BB2-B02E-DB242D875C76}">
      <dgm:prSet/>
      <dgm:spPr/>
      <dgm:t>
        <a:bodyPr/>
        <a:lstStyle/>
        <a:p>
          <a:endParaRPr lang="en-US"/>
        </a:p>
      </dgm:t>
    </dgm:pt>
    <dgm:pt modelId="{2F022C0D-0EFC-4177-9A95-D47D35424C30}" type="pres">
      <dgm:prSet presAssocID="{081DE2B8-6DF0-4192-96DE-C4A2E6B9A42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AC7EF9-F91B-4E44-9725-0FB3AA0208E9}" type="pres">
      <dgm:prSet presAssocID="{72F66C3F-1C0B-480D-B96C-1A4529D086B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EC8635-5DE7-40AF-AA0C-5A8206030B50}" type="pres">
      <dgm:prSet presAssocID="{EAE8B1B5-E990-4C7E-BBBB-0E99C15F4FCD}" presName="spacer" presStyleCnt="0"/>
      <dgm:spPr/>
    </dgm:pt>
    <dgm:pt modelId="{36D5B2E1-893C-4711-A48E-1165340B300E}" type="pres">
      <dgm:prSet presAssocID="{E9E27A0D-5F19-4648-8E91-07481CD7EF3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1D8F5E-0927-4D4E-8000-BEB16040C41E}" type="pres">
      <dgm:prSet presAssocID="{E9E27A0D-5F19-4648-8E91-07481CD7EF3F}" presName="childText" presStyleLbl="revTx" presStyleIdx="0" presStyleCnt="1" custScaleY="1531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C58BE9-D7E7-4B0F-A452-0671D5899EB6}" type="presOf" srcId="{BA1478E6-1842-4ED5-9105-140832D349E3}" destId="{D01D8F5E-0927-4D4E-8000-BEB16040C41E}" srcOrd="0" destOrd="0" presId="urn:microsoft.com/office/officeart/2005/8/layout/vList2"/>
    <dgm:cxn modelId="{5C98E6B8-35E2-4958-936D-062A60ECE317}" srcId="{E9E27A0D-5F19-4648-8E91-07481CD7EF3F}" destId="{D65AC84F-E44C-4013-BBA6-C77CE0EC6B78}" srcOrd="1" destOrd="0" parTransId="{C356296D-219C-4B5C-BEBE-F7248504F420}" sibTransId="{36B5DD6B-8236-44FE-9505-8DD568E67806}"/>
    <dgm:cxn modelId="{2FD73A2A-4DEE-4FCD-8B74-EB617A2063B9}" type="presOf" srcId="{E9E27A0D-5F19-4648-8E91-07481CD7EF3F}" destId="{36D5B2E1-893C-4711-A48E-1165340B300E}" srcOrd="0" destOrd="0" presId="urn:microsoft.com/office/officeart/2005/8/layout/vList2"/>
    <dgm:cxn modelId="{B63BBEBF-CFB3-4C3C-A693-3DBD68C40137}" srcId="{081DE2B8-6DF0-4192-96DE-C4A2E6B9A422}" destId="{72F66C3F-1C0B-480D-B96C-1A4529D086B2}" srcOrd="0" destOrd="0" parTransId="{11CA6497-2A03-4594-BB47-15C2A98041A3}" sibTransId="{EAE8B1B5-E990-4C7E-BBBB-0E99C15F4FCD}"/>
    <dgm:cxn modelId="{72F97A01-CD70-4809-80A5-D754B8B04E3E}" type="presOf" srcId="{081DE2B8-6DF0-4192-96DE-C4A2E6B9A422}" destId="{2F022C0D-0EFC-4177-9A95-D47D35424C30}" srcOrd="0" destOrd="0" presId="urn:microsoft.com/office/officeart/2005/8/layout/vList2"/>
    <dgm:cxn modelId="{7493093F-B6BD-479C-9645-12434FB3F16C}" type="presOf" srcId="{72F66C3F-1C0B-480D-B96C-1A4529D086B2}" destId="{46AC7EF9-F91B-4E44-9725-0FB3AA0208E9}" srcOrd="0" destOrd="0" presId="urn:microsoft.com/office/officeart/2005/8/layout/vList2"/>
    <dgm:cxn modelId="{7EEC9F83-9253-40FB-A81F-8AE23CEF537D}" type="presOf" srcId="{D65AC84F-E44C-4013-BBA6-C77CE0EC6B78}" destId="{D01D8F5E-0927-4D4E-8000-BEB16040C41E}" srcOrd="0" destOrd="1" presId="urn:microsoft.com/office/officeart/2005/8/layout/vList2"/>
    <dgm:cxn modelId="{C92446E6-1DAF-4BB2-B02E-DB242D875C76}" srcId="{E9E27A0D-5F19-4648-8E91-07481CD7EF3F}" destId="{6F549B9E-4754-4F8C-B875-F5C07FE933B8}" srcOrd="2" destOrd="0" parTransId="{88228773-2742-4C78-8325-3954357AA450}" sibTransId="{9EF6BDA3-87F8-4792-BB82-45ED671A5B8F}"/>
    <dgm:cxn modelId="{835221D3-8684-4EA9-875D-21D613CA73B5}" srcId="{081DE2B8-6DF0-4192-96DE-C4A2E6B9A422}" destId="{E9E27A0D-5F19-4648-8E91-07481CD7EF3F}" srcOrd="1" destOrd="0" parTransId="{01E551D7-5802-4C9E-BB2F-F61F85447CCF}" sibTransId="{820B68DD-58C0-4966-AB1B-58933A0805C2}"/>
    <dgm:cxn modelId="{A61AD5FA-CB2D-45C8-802D-E11C3B41B98E}" type="presOf" srcId="{6F549B9E-4754-4F8C-B875-F5C07FE933B8}" destId="{D01D8F5E-0927-4D4E-8000-BEB16040C41E}" srcOrd="0" destOrd="2" presId="urn:microsoft.com/office/officeart/2005/8/layout/vList2"/>
    <dgm:cxn modelId="{CF4B9578-47D4-4761-AC49-59047CC325B8}" srcId="{E9E27A0D-5F19-4648-8E91-07481CD7EF3F}" destId="{BA1478E6-1842-4ED5-9105-140832D349E3}" srcOrd="0" destOrd="0" parTransId="{26312321-95FC-4A41-9E05-2AA33E3FFD4C}" sibTransId="{C4AE423C-ACB1-4C62-84DC-F873D1233743}"/>
    <dgm:cxn modelId="{32479156-E483-4677-BD21-180C01869004}" type="presParOf" srcId="{2F022C0D-0EFC-4177-9A95-D47D35424C30}" destId="{46AC7EF9-F91B-4E44-9725-0FB3AA0208E9}" srcOrd="0" destOrd="0" presId="urn:microsoft.com/office/officeart/2005/8/layout/vList2"/>
    <dgm:cxn modelId="{8E594785-315D-4F36-B51C-AD22947BD0FB}" type="presParOf" srcId="{2F022C0D-0EFC-4177-9A95-D47D35424C30}" destId="{73EC8635-5DE7-40AF-AA0C-5A8206030B50}" srcOrd="1" destOrd="0" presId="urn:microsoft.com/office/officeart/2005/8/layout/vList2"/>
    <dgm:cxn modelId="{CD6788E7-667B-4707-97CB-54DC7FC68D24}" type="presParOf" srcId="{2F022C0D-0EFC-4177-9A95-D47D35424C30}" destId="{36D5B2E1-893C-4711-A48E-1165340B300E}" srcOrd="2" destOrd="0" presId="urn:microsoft.com/office/officeart/2005/8/layout/vList2"/>
    <dgm:cxn modelId="{E8FFF869-205D-4A17-819D-BF917F4EE0BC}" type="presParOf" srcId="{2F022C0D-0EFC-4177-9A95-D47D35424C30}" destId="{D01D8F5E-0927-4D4E-8000-BEB16040C41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73A2B93-234C-4904-A231-413FD4B71F2F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CEC59A-AC4F-441F-A7FF-00D883C3A229}">
      <dgm:prSet/>
      <dgm:spPr/>
      <dgm:t>
        <a:bodyPr/>
        <a:lstStyle/>
        <a:p>
          <a:r>
            <a:rPr lang="en-US"/>
            <a:t>Sometimes </a:t>
          </a:r>
          <a:r>
            <a:rPr lang="en-US" b="1" u="sng"/>
            <a:t>called preliminary or preventive controls</a:t>
          </a:r>
          <a:r>
            <a:rPr lang="en-US"/>
            <a:t>, this attempts to identify and prevent deviations in the standards before they occur. </a:t>
          </a:r>
        </a:p>
      </dgm:t>
    </dgm:pt>
    <dgm:pt modelId="{6C54E3C3-63C9-439B-A563-3E4EAC2B6B3A}" type="parTrans" cxnId="{C14C85DD-67EE-4891-ADBE-9BD007D71BC0}">
      <dgm:prSet/>
      <dgm:spPr/>
      <dgm:t>
        <a:bodyPr/>
        <a:lstStyle/>
        <a:p>
          <a:endParaRPr lang="en-US"/>
        </a:p>
      </dgm:t>
    </dgm:pt>
    <dgm:pt modelId="{BAC8D05F-8901-4421-9DCC-46BD53EFFFD0}" type="sibTrans" cxnId="{C14C85DD-67EE-4891-ADBE-9BD007D71BC0}">
      <dgm:prSet/>
      <dgm:spPr/>
      <dgm:t>
        <a:bodyPr/>
        <a:lstStyle/>
        <a:p>
          <a:endParaRPr lang="en-US"/>
        </a:p>
      </dgm:t>
    </dgm:pt>
    <dgm:pt modelId="{05385517-D94C-44E9-9D79-2659A991DC5D}">
      <dgm:prSet/>
      <dgm:spPr/>
      <dgm:t>
        <a:bodyPr/>
        <a:lstStyle/>
        <a:p>
          <a:pPr algn="just"/>
          <a:r>
            <a:rPr lang="en-US" b="1" dirty="0"/>
            <a:t>Feed-forward</a:t>
          </a:r>
          <a:r>
            <a:rPr lang="en-US" dirty="0"/>
            <a:t> controls </a:t>
          </a:r>
          <a:r>
            <a:rPr lang="en-US" b="1" u="sng" dirty="0"/>
            <a:t>focus on human, material, and financial resources </a:t>
          </a:r>
          <a:r>
            <a:rPr lang="en-US" dirty="0"/>
            <a:t>within the organization. These controls are </a:t>
          </a:r>
          <a:r>
            <a:rPr lang="en-US" b="1" u="sng" dirty="0"/>
            <a:t>evident in the selection and hiring of new employees. </a:t>
          </a:r>
          <a:endParaRPr lang="en-US" dirty="0"/>
        </a:p>
      </dgm:t>
    </dgm:pt>
    <dgm:pt modelId="{006FC1CD-D3E9-4D65-BC55-0080D10B0A86}" type="parTrans" cxnId="{F097A9FC-89F1-4065-B53D-89A818E591E9}">
      <dgm:prSet/>
      <dgm:spPr/>
      <dgm:t>
        <a:bodyPr/>
        <a:lstStyle/>
        <a:p>
          <a:endParaRPr lang="en-US"/>
        </a:p>
      </dgm:t>
    </dgm:pt>
    <dgm:pt modelId="{C6CB1497-5257-437D-A1F1-2FC9BCED1F60}" type="sibTrans" cxnId="{F097A9FC-89F1-4065-B53D-89A818E591E9}">
      <dgm:prSet/>
      <dgm:spPr/>
      <dgm:t>
        <a:bodyPr/>
        <a:lstStyle/>
        <a:p>
          <a:endParaRPr lang="en-US"/>
        </a:p>
      </dgm:t>
    </dgm:pt>
    <dgm:pt modelId="{4D4C8C70-2F32-4CF8-B945-56892E077941}">
      <dgm:prSet/>
      <dgm:spPr/>
      <dgm:t>
        <a:bodyPr/>
        <a:lstStyle/>
        <a:p>
          <a:pPr algn="just"/>
          <a:r>
            <a:rPr lang="en-US" b="1" u="sng" dirty="0"/>
            <a:t>For example, organizations attempt to improve the likelihood that employees will perform up to standards </a:t>
          </a:r>
          <a:r>
            <a:rPr lang="en-US" dirty="0"/>
            <a:t>by </a:t>
          </a:r>
          <a:r>
            <a:rPr lang="en-US" b="1" u="sng" dirty="0"/>
            <a:t>identifying the necessary job skills </a:t>
          </a:r>
          <a:r>
            <a:rPr lang="en-US" dirty="0"/>
            <a:t>and </a:t>
          </a:r>
          <a:r>
            <a:rPr lang="en-US" b="1" u="sng" dirty="0"/>
            <a:t>by using tests and other screening devices </a:t>
          </a:r>
          <a:r>
            <a:rPr lang="en-US" dirty="0"/>
            <a:t>to hire people with those skills.</a:t>
          </a:r>
        </a:p>
      </dgm:t>
    </dgm:pt>
    <dgm:pt modelId="{E708CBF3-6036-48FD-AEB8-F6495E7C78A8}" type="parTrans" cxnId="{8ED59C70-71C8-4826-B7AC-E40F67EC919C}">
      <dgm:prSet/>
      <dgm:spPr/>
      <dgm:t>
        <a:bodyPr/>
        <a:lstStyle/>
        <a:p>
          <a:endParaRPr lang="en-US"/>
        </a:p>
      </dgm:t>
    </dgm:pt>
    <dgm:pt modelId="{DF36331E-8D96-4F85-9BC9-3E5A309E00BC}" type="sibTrans" cxnId="{8ED59C70-71C8-4826-B7AC-E40F67EC919C}">
      <dgm:prSet/>
      <dgm:spPr/>
      <dgm:t>
        <a:bodyPr/>
        <a:lstStyle/>
        <a:p>
          <a:endParaRPr lang="en-US"/>
        </a:p>
      </dgm:t>
    </dgm:pt>
    <dgm:pt modelId="{B3F55A29-B770-471C-85B9-B4CB01FB0B08}">
      <dgm:prSet/>
      <dgm:spPr/>
      <dgm:t>
        <a:bodyPr/>
        <a:lstStyle/>
        <a:p>
          <a:pPr algn="just"/>
          <a:endParaRPr lang="en-US" dirty="0"/>
        </a:p>
      </dgm:t>
    </dgm:pt>
    <dgm:pt modelId="{6EE09AC0-0FDC-4734-B49A-A912C5614A5B}" type="parTrans" cxnId="{334EDAC9-B8D5-4950-9ED2-76EC67F403D2}">
      <dgm:prSet/>
      <dgm:spPr/>
    </dgm:pt>
    <dgm:pt modelId="{12E563E1-D3AA-47E5-8062-C2448B40703A}" type="sibTrans" cxnId="{334EDAC9-B8D5-4950-9ED2-76EC67F403D2}">
      <dgm:prSet/>
      <dgm:spPr/>
    </dgm:pt>
    <dgm:pt modelId="{2AD772EE-7264-45C4-8CE4-759591D8A5F5}" type="pres">
      <dgm:prSet presAssocID="{273A2B93-234C-4904-A231-413FD4B71F2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7B4F39-188E-439A-9A8C-CE3E4531947E}" type="pres">
      <dgm:prSet presAssocID="{98CEC59A-AC4F-441F-A7FF-00D883C3A22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10AC5-B1DD-43A3-B5B0-C524C02B1A17}" type="pres">
      <dgm:prSet presAssocID="{98CEC59A-AC4F-441F-A7FF-00D883C3A229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26CE61-CCAE-4AED-A095-20C3D3190E80}" type="presOf" srcId="{B3F55A29-B770-471C-85B9-B4CB01FB0B08}" destId="{2B010AC5-B1DD-43A3-B5B0-C524C02B1A17}" srcOrd="0" destOrd="1" presId="urn:microsoft.com/office/officeart/2005/8/layout/vList2"/>
    <dgm:cxn modelId="{F097A9FC-89F1-4065-B53D-89A818E591E9}" srcId="{98CEC59A-AC4F-441F-A7FF-00D883C3A229}" destId="{05385517-D94C-44E9-9D79-2659A991DC5D}" srcOrd="0" destOrd="0" parTransId="{006FC1CD-D3E9-4D65-BC55-0080D10B0A86}" sibTransId="{C6CB1497-5257-437D-A1F1-2FC9BCED1F60}"/>
    <dgm:cxn modelId="{B17F0712-9CC8-4BBF-B036-C073706D81AE}" type="presOf" srcId="{273A2B93-234C-4904-A231-413FD4B71F2F}" destId="{2AD772EE-7264-45C4-8CE4-759591D8A5F5}" srcOrd="0" destOrd="0" presId="urn:microsoft.com/office/officeart/2005/8/layout/vList2"/>
    <dgm:cxn modelId="{FC51AA76-1178-4370-98AA-80A57EB5C37B}" type="presOf" srcId="{4D4C8C70-2F32-4CF8-B945-56892E077941}" destId="{2B010AC5-B1DD-43A3-B5B0-C524C02B1A17}" srcOrd="0" destOrd="2" presId="urn:microsoft.com/office/officeart/2005/8/layout/vList2"/>
    <dgm:cxn modelId="{8ED59C70-71C8-4826-B7AC-E40F67EC919C}" srcId="{98CEC59A-AC4F-441F-A7FF-00D883C3A229}" destId="{4D4C8C70-2F32-4CF8-B945-56892E077941}" srcOrd="2" destOrd="0" parTransId="{E708CBF3-6036-48FD-AEB8-F6495E7C78A8}" sibTransId="{DF36331E-8D96-4F85-9BC9-3E5A309E00BC}"/>
    <dgm:cxn modelId="{B70ADEAC-8173-4876-B7FD-4C79E004DCDF}" type="presOf" srcId="{05385517-D94C-44E9-9D79-2659A991DC5D}" destId="{2B010AC5-B1DD-43A3-B5B0-C524C02B1A17}" srcOrd="0" destOrd="0" presId="urn:microsoft.com/office/officeart/2005/8/layout/vList2"/>
    <dgm:cxn modelId="{07ABA079-0977-44E0-A0B2-A23BE4DF3014}" type="presOf" srcId="{98CEC59A-AC4F-441F-A7FF-00D883C3A229}" destId="{DF7B4F39-188E-439A-9A8C-CE3E4531947E}" srcOrd="0" destOrd="0" presId="urn:microsoft.com/office/officeart/2005/8/layout/vList2"/>
    <dgm:cxn modelId="{334EDAC9-B8D5-4950-9ED2-76EC67F403D2}" srcId="{98CEC59A-AC4F-441F-A7FF-00D883C3A229}" destId="{B3F55A29-B770-471C-85B9-B4CB01FB0B08}" srcOrd="1" destOrd="0" parTransId="{6EE09AC0-0FDC-4734-B49A-A912C5614A5B}" sibTransId="{12E563E1-D3AA-47E5-8062-C2448B40703A}"/>
    <dgm:cxn modelId="{C14C85DD-67EE-4891-ADBE-9BD007D71BC0}" srcId="{273A2B93-234C-4904-A231-413FD4B71F2F}" destId="{98CEC59A-AC4F-441F-A7FF-00D883C3A229}" srcOrd="0" destOrd="0" parTransId="{6C54E3C3-63C9-439B-A563-3E4EAC2B6B3A}" sibTransId="{BAC8D05F-8901-4421-9DCC-46BD53EFFFD0}"/>
    <dgm:cxn modelId="{284B8ECC-51D6-4895-9A43-1942B1402176}" type="presParOf" srcId="{2AD772EE-7264-45C4-8CE4-759591D8A5F5}" destId="{DF7B4F39-188E-439A-9A8C-CE3E4531947E}" srcOrd="0" destOrd="0" presId="urn:microsoft.com/office/officeart/2005/8/layout/vList2"/>
    <dgm:cxn modelId="{CEE75A86-9CD7-4099-871F-C331121A0064}" type="presParOf" srcId="{2AD772EE-7264-45C4-8CE4-759591D8A5F5}" destId="{2B010AC5-B1DD-43A3-B5B0-C524C02B1A1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B3F3250-9AC9-4150-A2A7-19A7F5B97D6B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82873B-B49E-468B-B6DF-73867ED7B7D7}">
      <dgm:prSet/>
      <dgm:spPr/>
      <dgm:t>
        <a:bodyPr/>
        <a:lstStyle/>
        <a:p>
          <a:r>
            <a:rPr lang="en-US" b="1" dirty="0"/>
            <a:t>ii. Concurrent controls</a:t>
          </a:r>
          <a:r>
            <a:rPr lang="en-US" dirty="0"/>
            <a:t>:</a:t>
          </a:r>
        </a:p>
      </dgm:t>
    </dgm:pt>
    <dgm:pt modelId="{D64F4467-FA2B-455B-B540-169A2FE95168}" type="parTrans" cxnId="{A49EE28F-3E58-4D4E-A728-F07B0E6837B5}">
      <dgm:prSet/>
      <dgm:spPr/>
      <dgm:t>
        <a:bodyPr/>
        <a:lstStyle/>
        <a:p>
          <a:endParaRPr lang="en-US"/>
        </a:p>
      </dgm:t>
    </dgm:pt>
    <dgm:pt modelId="{51CEAD7E-A0E7-433C-AC8E-1F60062AE889}" type="sibTrans" cxnId="{A49EE28F-3E58-4D4E-A728-F07B0E6837B5}">
      <dgm:prSet/>
      <dgm:spPr/>
      <dgm:t>
        <a:bodyPr/>
        <a:lstStyle/>
        <a:p>
          <a:endParaRPr lang="en-US"/>
        </a:p>
      </dgm:t>
    </dgm:pt>
    <dgm:pt modelId="{7647E96A-AA47-4D9B-BBB1-8215E8DE8A17}">
      <dgm:prSet/>
      <dgm:spPr/>
      <dgm:t>
        <a:bodyPr/>
        <a:lstStyle/>
        <a:p>
          <a:pPr algn="l"/>
          <a:r>
            <a:rPr lang="en-US" b="1" u="sng"/>
            <a:t>Monitor ongoing employee activity to ensure consistency with quality standards</a:t>
          </a:r>
          <a:r>
            <a:rPr lang="en-US"/>
            <a:t>. </a:t>
          </a:r>
        </a:p>
      </dgm:t>
    </dgm:pt>
    <dgm:pt modelId="{9848448F-1104-4449-A7DC-C2D5274FDB17}" type="parTrans" cxnId="{5F979A92-E6EE-4B68-8D98-04264B658C58}">
      <dgm:prSet/>
      <dgm:spPr/>
      <dgm:t>
        <a:bodyPr/>
        <a:lstStyle/>
        <a:p>
          <a:endParaRPr lang="en-US"/>
        </a:p>
      </dgm:t>
    </dgm:pt>
    <dgm:pt modelId="{DE521665-A32E-43A5-8700-63DD699819B0}" type="sibTrans" cxnId="{5F979A92-E6EE-4B68-8D98-04264B658C58}">
      <dgm:prSet/>
      <dgm:spPr/>
      <dgm:t>
        <a:bodyPr/>
        <a:lstStyle/>
        <a:p>
          <a:endParaRPr lang="en-US"/>
        </a:p>
      </dgm:t>
    </dgm:pt>
    <dgm:pt modelId="{18104ADC-3C34-4E84-8C94-F1EE62EC38C1}">
      <dgm:prSet/>
      <dgm:spPr/>
      <dgm:t>
        <a:bodyPr/>
        <a:lstStyle/>
        <a:p>
          <a:pPr algn="just"/>
          <a:r>
            <a:rPr lang="en-US" dirty="0"/>
            <a:t>These controls </a:t>
          </a:r>
          <a:r>
            <a:rPr lang="en-US" b="1" u="sng" dirty="0"/>
            <a:t>rely on performance standards, rules, and regulations for guiding employee tasks and behaviors. </a:t>
          </a:r>
          <a:endParaRPr lang="en-US" dirty="0"/>
        </a:p>
      </dgm:t>
    </dgm:pt>
    <dgm:pt modelId="{48B452FF-1BF7-44EF-96A3-A6EC447F6FEC}" type="parTrans" cxnId="{75478A6B-1904-48BA-85B7-E2A1A404540C}">
      <dgm:prSet/>
      <dgm:spPr/>
      <dgm:t>
        <a:bodyPr/>
        <a:lstStyle/>
        <a:p>
          <a:endParaRPr lang="en-US"/>
        </a:p>
      </dgm:t>
    </dgm:pt>
    <dgm:pt modelId="{B8E50652-A5AF-48AB-A63C-C7DBB5087D99}" type="sibTrans" cxnId="{75478A6B-1904-48BA-85B7-E2A1A404540C}">
      <dgm:prSet/>
      <dgm:spPr/>
      <dgm:t>
        <a:bodyPr/>
        <a:lstStyle/>
        <a:p>
          <a:endParaRPr lang="en-US"/>
        </a:p>
      </dgm:t>
    </dgm:pt>
    <dgm:pt modelId="{35B60A0E-02F5-4CDE-B36E-8EF0D2D1F51C}">
      <dgm:prSet/>
      <dgm:spPr/>
      <dgm:t>
        <a:bodyPr/>
        <a:lstStyle/>
        <a:p>
          <a:pPr algn="just"/>
          <a:r>
            <a:rPr lang="en-US" dirty="0"/>
            <a:t>Their </a:t>
          </a:r>
          <a:r>
            <a:rPr lang="en-US" b="1" u="sng" dirty="0"/>
            <a:t>purpose is to ensure that work activities produce the desired results. </a:t>
          </a:r>
          <a:endParaRPr lang="en-US" dirty="0"/>
        </a:p>
      </dgm:t>
    </dgm:pt>
    <dgm:pt modelId="{01C1C26F-0DD5-487F-8FCE-391EE2A7A372}" type="parTrans" cxnId="{A975236C-A2F1-41EB-A0EA-45B54A038749}">
      <dgm:prSet/>
      <dgm:spPr/>
      <dgm:t>
        <a:bodyPr/>
        <a:lstStyle/>
        <a:p>
          <a:endParaRPr lang="en-US"/>
        </a:p>
      </dgm:t>
    </dgm:pt>
    <dgm:pt modelId="{BE50DF1A-EFB3-47E4-97B4-1899D2D2B1DF}" type="sibTrans" cxnId="{A975236C-A2F1-41EB-A0EA-45B54A038749}">
      <dgm:prSet/>
      <dgm:spPr/>
      <dgm:t>
        <a:bodyPr/>
        <a:lstStyle/>
        <a:p>
          <a:endParaRPr lang="en-US"/>
        </a:p>
      </dgm:t>
    </dgm:pt>
    <dgm:pt modelId="{0DF19351-1CF9-4304-8449-2778F9D20B6C}">
      <dgm:prSet/>
      <dgm:spPr/>
      <dgm:t>
        <a:bodyPr/>
        <a:lstStyle/>
        <a:p>
          <a:pPr algn="just"/>
          <a:r>
            <a:rPr lang="en-US" dirty="0"/>
            <a:t>As an example, </a:t>
          </a:r>
          <a:r>
            <a:rPr lang="en-US" b="1" u="sng" dirty="0"/>
            <a:t>many manufacturing operations include devices that measure whether the items being produced meet quality standards. </a:t>
          </a:r>
          <a:endParaRPr lang="en-US" dirty="0"/>
        </a:p>
      </dgm:t>
    </dgm:pt>
    <dgm:pt modelId="{BB6948B1-F9C0-4075-B65A-7F9D67168FF7}" type="parTrans" cxnId="{BEF34854-8747-4215-8632-AF6AE2B5D900}">
      <dgm:prSet/>
      <dgm:spPr/>
      <dgm:t>
        <a:bodyPr/>
        <a:lstStyle/>
        <a:p>
          <a:endParaRPr lang="en-US"/>
        </a:p>
      </dgm:t>
    </dgm:pt>
    <dgm:pt modelId="{895F343A-4A06-44DB-A621-FF7E3FC240C1}" type="sibTrans" cxnId="{BEF34854-8747-4215-8632-AF6AE2B5D900}">
      <dgm:prSet/>
      <dgm:spPr/>
      <dgm:t>
        <a:bodyPr/>
        <a:lstStyle/>
        <a:p>
          <a:endParaRPr lang="en-US"/>
        </a:p>
      </dgm:t>
    </dgm:pt>
    <dgm:pt modelId="{AC5A9457-F4B9-4F13-9F15-8EC48DA2F4DA}">
      <dgm:prSet/>
      <dgm:spPr/>
      <dgm:t>
        <a:bodyPr/>
        <a:lstStyle/>
        <a:p>
          <a:pPr algn="l"/>
          <a:r>
            <a:rPr lang="en-US" b="1" u="sng"/>
            <a:t>Employees monitor the measurements</a:t>
          </a:r>
          <a:r>
            <a:rPr lang="en-US"/>
            <a:t>;</a:t>
          </a:r>
        </a:p>
      </dgm:t>
    </dgm:pt>
    <dgm:pt modelId="{DAB5D4D1-7FC6-4D7B-A0E3-14F9849E4309}" type="parTrans" cxnId="{0A78E76B-0C2D-43F4-8F29-983AE5F675A3}">
      <dgm:prSet/>
      <dgm:spPr/>
      <dgm:t>
        <a:bodyPr/>
        <a:lstStyle/>
        <a:p>
          <a:endParaRPr lang="en-US"/>
        </a:p>
      </dgm:t>
    </dgm:pt>
    <dgm:pt modelId="{DDC3EB8F-6421-4248-9607-5E590B101263}" type="sibTrans" cxnId="{0A78E76B-0C2D-43F4-8F29-983AE5F675A3}">
      <dgm:prSet/>
      <dgm:spPr/>
      <dgm:t>
        <a:bodyPr/>
        <a:lstStyle/>
        <a:p>
          <a:endParaRPr lang="en-US"/>
        </a:p>
      </dgm:t>
    </dgm:pt>
    <dgm:pt modelId="{E0CF6694-7333-45A1-B039-7034FDE645FB}">
      <dgm:prSet/>
      <dgm:spPr/>
      <dgm:t>
        <a:bodyPr/>
        <a:lstStyle/>
        <a:p>
          <a:pPr algn="just"/>
          <a:r>
            <a:rPr lang="en-US" dirty="0"/>
            <a:t>if they see that </a:t>
          </a:r>
          <a:r>
            <a:rPr lang="en-US" b="1" u="sng" dirty="0"/>
            <a:t>standards are not being met in some area, they make a correction themselves or let a manager know that a problem is occurring. </a:t>
          </a:r>
          <a:endParaRPr lang="en-US" dirty="0"/>
        </a:p>
      </dgm:t>
    </dgm:pt>
    <dgm:pt modelId="{D8A3F360-72E5-4E81-A511-66D5DA595D76}" type="parTrans" cxnId="{273F67E6-2A1B-45E3-89FC-0A790AC2219C}">
      <dgm:prSet/>
      <dgm:spPr/>
      <dgm:t>
        <a:bodyPr/>
        <a:lstStyle/>
        <a:p>
          <a:endParaRPr lang="en-US"/>
        </a:p>
      </dgm:t>
    </dgm:pt>
    <dgm:pt modelId="{9CC2D58B-A3BA-4CD0-B7C3-61AA0F1964D7}" type="sibTrans" cxnId="{273F67E6-2A1B-45E3-89FC-0A790AC2219C}">
      <dgm:prSet/>
      <dgm:spPr/>
      <dgm:t>
        <a:bodyPr/>
        <a:lstStyle/>
        <a:p>
          <a:endParaRPr lang="en-US"/>
        </a:p>
      </dgm:t>
    </dgm:pt>
    <dgm:pt modelId="{B97B131F-13D8-467C-A8CD-F0AEA4D40216}" type="pres">
      <dgm:prSet presAssocID="{DB3F3250-9AC9-4150-A2A7-19A7F5B97D6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46DCC4-7523-427B-8866-984B27091772}" type="pres">
      <dgm:prSet presAssocID="{3182873B-B49E-468B-B6DF-73867ED7B7D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A67561-A9EA-430C-A2D7-55ECD0DFA69F}" type="pres">
      <dgm:prSet presAssocID="{3182873B-B49E-468B-B6DF-73867ED7B7D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EF34854-8747-4215-8632-AF6AE2B5D900}" srcId="{3182873B-B49E-468B-B6DF-73867ED7B7D7}" destId="{0DF19351-1CF9-4304-8449-2778F9D20B6C}" srcOrd="3" destOrd="0" parTransId="{BB6948B1-F9C0-4075-B65A-7F9D67168FF7}" sibTransId="{895F343A-4A06-44DB-A621-FF7E3FC240C1}"/>
    <dgm:cxn modelId="{352CE501-BEC1-4E81-A10C-40632C8B8A8E}" type="presOf" srcId="{3182873B-B49E-468B-B6DF-73867ED7B7D7}" destId="{F946DCC4-7523-427B-8866-984B27091772}" srcOrd="0" destOrd="0" presId="urn:microsoft.com/office/officeart/2005/8/layout/vList2"/>
    <dgm:cxn modelId="{C0BF4001-B8E6-4DA4-9CAB-A9087E4E5C6F}" type="presOf" srcId="{7647E96A-AA47-4D9B-BBB1-8215E8DE8A17}" destId="{A4A67561-A9EA-430C-A2D7-55ECD0DFA69F}" srcOrd="0" destOrd="0" presId="urn:microsoft.com/office/officeart/2005/8/layout/vList2"/>
    <dgm:cxn modelId="{A975236C-A2F1-41EB-A0EA-45B54A038749}" srcId="{3182873B-B49E-468B-B6DF-73867ED7B7D7}" destId="{35B60A0E-02F5-4CDE-B36E-8EF0D2D1F51C}" srcOrd="2" destOrd="0" parTransId="{01C1C26F-0DD5-487F-8FCE-391EE2A7A372}" sibTransId="{BE50DF1A-EFB3-47E4-97B4-1899D2D2B1DF}"/>
    <dgm:cxn modelId="{5F979A92-E6EE-4B68-8D98-04264B658C58}" srcId="{3182873B-B49E-468B-B6DF-73867ED7B7D7}" destId="{7647E96A-AA47-4D9B-BBB1-8215E8DE8A17}" srcOrd="0" destOrd="0" parTransId="{9848448F-1104-4449-A7DC-C2D5274FDB17}" sibTransId="{DE521665-A32E-43A5-8700-63DD699819B0}"/>
    <dgm:cxn modelId="{0A78E76B-0C2D-43F4-8F29-983AE5F675A3}" srcId="{3182873B-B49E-468B-B6DF-73867ED7B7D7}" destId="{AC5A9457-F4B9-4F13-9F15-8EC48DA2F4DA}" srcOrd="4" destOrd="0" parTransId="{DAB5D4D1-7FC6-4D7B-A0E3-14F9849E4309}" sibTransId="{DDC3EB8F-6421-4248-9607-5E590B101263}"/>
    <dgm:cxn modelId="{15781829-D3B5-4D44-8581-F1D47D0238E7}" type="presOf" srcId="{18104ADC-3C34-4E84-8C94-F1EE62EC38C1}" destId="{A4A67561-A9EA-430C-A2D7-55ECD0DFA69F}" srcOrd="0" destOrd="1" presId="urn:microsoft.com/office/officeart/2005/8/layout/vList2"/>
    <dgm:cxn modelId="{F45E183C-6FFE-4C3D-B8C9-621ACF8613A5}" type="presOf" srcId="{0DF19351-1CF9-4304-8449-2778F9D20B6C}" destId="{A4A67561-A9EA-430C-A2D7-55ECD0DFA69F}" srcOrd="0" destOrd="3" presId="urn:microsoft.com/office/officeart/2005/8/layout/vList2"/>
    <dgm:cxn modelId="{A49EE28F-3E58-4D4E-A728-F07B0E6837B5}" srcId="{DB3F3250-9AC9-4150-A2A7-19A7F5B97D6B}" destId="{3182873B-B49E-468B-B6DF-73867ED7B7D7}" srcOrd="0" destOrd="0" parTransId="{D64F4467-FA2B-455B-B540-169A2FE95168}" sibTransId="{51CEAD7E-A0E7-433C-AC8E-1F60062AE889}"/>
    <dgm:cxn modelId="{FD21E227-0286-4734-A6BF-EED8555ED654}" type="presOf" srcId="{DB3F3250-9AC9-4150-A2A7-19A7F5B97D6B}" destId="{B97B131F-13D8-467C-A8CD-F0AEA4D40216}" srcOrd="0" destOrd="0" presId="urn:microsoft.com/office/officeart/2005/8/layout/vList2"/>
    <dgm:cxn modelId="{273F67E6-2A1B-45E3-89FC-0A790AC2219C}" srcId="{3182873B-B49E-468B-B6DF-73867ED7B7D7}" destId="{E0CF6694-7333-45A1-B039-7034FDE645FB}" srcOrd="5" destOrd="0" parTransId="{D8A3F360-72E5-4E81-A511-66D5DA595D76}" sibTransId="{9CC2D58B-A3BA-4CD0-B7C3-61AA0F1964D7}"/>
    <dgm:cxn modelId="{C65529DE-649A-4B84-897E-265979F479BF}" type="presOf" srcId="{E0CF6694-7333-45A1-B039-7034FDE645FB}" destId="{A4A67561-A9EA-430C-A2D7-55ECD0DFA69F}" srcOrd="0" destOrd="5" presId="urn:microsoft.com/office/officeart/2005/8/layout/vList2"/>
    <dgm:cxn modelId="{75478A6B-1904-48BA-85B7-E2A1A404540C}" srcId="{3182873B-B49E-468B-B6DF-73867ED7B7D7}" destId="{18104ADC-3C34-4E84-8C94-F1EE62EC38C1}" srcOrd="1" destOrd="0" parTransId="{48B452FF-1BF7-44EF-96A3-A6EC447F6FEC}" sibTransId="{B8E50652-A5AF-48AB-A63C-C7DBB5087D99}"/>
    <dgm:cxn modelId="{EC497253-B0A9-492D-9868-53E7E48F38AE}" type="presOf" srcId="{35B60A0E-02F5-4CDE-B36E-8EF0D2D1F51C}" destId="{A4A67561-A9EA-430C-A2D7-55ECD0DFA69F}" srcOrd="0" destOrd="2" presId="urn:microsoft.com/office/officeart/2005/8/layout/vList2"/>
    <dgm:cxn modelId="{BCE35954-FBDE-4865-8791-CD5DC324A23A}" type="presOf" srcId="{AC5A9457-F4B9-4F13-9F15-8EC48DA2F4DA}" destId="{A4A67561-A9EA-430C-A2D7-55ECD0DFA69F}" srcOrd="0" destOrd="4" presId="urn:microsoft.com/office/officeart/2005/8/layout/vList2"/>
    <dgm:cxn modelId="{AB8CBC21-286E-4C70-B589-963D728D539C}" type="presParOf" srcId="{B97B131F-13D8-467C-A8CD-F0AEA4D40216}" destId="{F946DCC4-7523-427B-8866-984B27091772}" srcOrd="0" destOrd="0" presId="urn:microsoft.com/office/officeart/2005/8/layout/vList2"/>
    <dgm:cxn modelId="{855D2B4F-C3F1-45FD-B3C9-183F49F9545E}" type="presParOf" srcId="{B97B131F-13D8-467C-A8CD-F0AEA4D40216}" destId="{A4A67561-A9EA-430C-A2D7-55ECD0DFA69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DFB9531-3014-48DA-8C22-778C97C60B91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E24C4A-5AE8-4BB3-AE3D-503D6246F68E}">
      <dgm:prSet/>
      <dgm:spPr/>
      <dgm:t>
        <a:bodyPr/>
        <a:lstStyle/>
        <a:p>
          <a:r>
            <a:rPr lang="en-US" b="1"/>
            <a:t>iii. Feed-back controls</a:t>
          </a:r>
          <a:endParaRPr lang="en-US"/>
        </a:p>
      </dgm:t>
    </dgm:pt>
    <dgm:pt modelId="{E2EBC2D3-C850-4758-8B14-6A83346FA3EE}" type="parTrans" cxnId="{E09EA711-4BD5-4086-BAE4-143FBF74FE28}">
      <dgm:prSet/>
      <dgm:spPr/>
      <dgm:t>
        <a:bodyPr/>
        <a:lstStyle/>
        <a:p>
          <a:endParaRPr lang="en-US"/>
        </a:p>
      </dgm:t>
    </dgm:pt>
    <dgm:pt modelId="{041A56EC-9CD4-44A2-8708-7A4604FAABBF}" type="sibTrans" cxnId="{E09EA711-4BD5-4086-BAE4-143FBF74FE28}">
      <dgm:prSet/>
      <dgm:spPr/>
      <dgm:t>
        <a:bodyPr/>
        <a:lstStyle/>
        <a:p>
          <a:endParaRPr lang="en-US"/>
        </a:p>
      </dgm:t>
    </dgm:pt>
    <dgm:pt modelId="{38CDD609-FDE0-41A6-94FF-23CFE7CE0301}">
      <dgm:prSet/>
      <dgm:spPr/>
      <dgm:t>
        <a:bodyPr/>
        <a:lstStyle/>
        <a:p>
          <a:pPr algn="just"/>
          <a:r>
            <a:rPr lang="en-US" dirty="0"/>
            <a:t>involve </a:t>
          </a:r>
          <a:r>
            <a:rPr lang="en-US" b="1" u="sng" dirty="0"/>
            <a:t>reviewing information to determine whether performance meets established standards</a:t>
          </a:r>
          <a:r>
            <a:rPr lang="en-US" dirty="0"/>
            <a:t>.</a:t>
          </a:r>
        </a:p>
      </dgm:t>
    </dgm:pt>
    <dgm:pt modelId="{5474117E-B2FC-46CA-A4C6-B89D5A7D01B7}" type="parTrans" cxnId="{3B9730AF-785E-4540-BAE1-F7E7E997D0B1}">
      <dgm:prSet/>
      <dgm:spPr/>
      <dgm:t>
        <a:bodyPr/>
        <a:lstStyle/>
        <a:p>
          <a:endParaRPr lang="en-US"/>
        </a:p>
      </dgm:t>
    </dgm:pt>
    <dgm:pt modelId="{0FE4B8A4-6201-42A4-9500-EDDBCB65DC1B}" type="sibTrans" cxnId="{3B9730AF-785E-4540-BAE1-F7E7E997D0B1}">
      <dgm:prSet/>
      <dgm:spPr/>
      <dgm:t>
        <a:bodyPr/>
        <a:lstStyle/>
        <a:p>
          <a:endParaRPr lang="en-US"/>
        </a:p>
      </dgm:t>
    </dgm:pt>
    <dgm:pt modelId="{A9DD6ED5-ACBD-4240-B6C8-7767E47E131B}">
      <dgm:prSet/>
      <dgm:spPr/>
      <dgm:t>
        <a:bodyPr/>
        <a:lstStyle/>
        <a:p>
          <a:pPr algn="just"/>
          <a:r>
            <a:rPr lang="en-US" dirty="0"/>
            <a:t>For example, </a:t>
          </a:r>
          <a:r>
            <a:rPr lang="en-US" b="1" u="sng" dirty="0"/>
            <a:t>suppose that an organization establishes a goal of increasing its profit by 12 percent next year. </a:t>
          </a:r>
          <a:endParaRPr lang="en-US" dirty="0"/>
        </a:p>
      </dgm:t>
    </dgm:pt>
    <dgm:pt modelId="{EF111291-833F-4778-9EF3-EBC26A905F81}" type="parTrans" cxnId="{6EBB65BB-A6D8-4795-A696-A1A370790CAE}">
      <dgm:prSet/>
      <dgm:spPr/>
      <dgm:t>
        <a:bodyPr/>
        <a:lstStyle/>
        <a:p>
          <a:endParaRPr lang="en-US"/>
        </a:p>
      </dgm:t>
    </dgm:pt>
    <dgm:pt modelId="{41E2C362-2F50-4A8E-A559-F1ED7ACA396E}" type="sibTrans" cxnId="{6EBB65BB-A6D8-4795-A696-A1A370790CAE}">
      <dgm:prSet/>
      <dgm:spPr/>
      <dgm:t>
        <a:bodyPr/>
        <a:lstStyle/>
        <a:p>
          <a:endParaRPr lang="en-US"/>
        </a:p>
      </dgm:t>
    </dgm:pt>
    <dgm:pt modelId="{1353DC22-B20C-4326-9B93-F5F5A61D81B3}">
      <dgm:prSet/>
      <dgm:spPr/>
      <dgm:t>
        <a:bodyPr/>
        <a:lstStyle/>
        <a:p>
          <a:pPr algn="just"/>
          <a:r>
            <a:rPr lang="en-US" b="1" u="sng" dirty="0"/>
            <a:t>To ensure that this goal is reached</a:t>
          </a:r>
          <a:r>
            <a:rPr lang="en-US" dirty="0"/>
            <a:t>, the </a:t>
          </a:r>
          <a:r>
            <a:rPr lang="en-US" b="1" u="sng" dirty="0"/>
            <a:t>organization must monitor its profit on a monthly basis. </a:t>
          </a:r>
          <a:endParaRPr lang="en-US" dirty="0"/>
        </a:p>
      </dgm:t>
    </dgm:pt>
    <dgm:pt modelId="{F1C0AB03-6D84-45B4-805C-D4ABC204BD27}" type="parTrans" cxnId="{1489A814-2495-4750-915C-48BA84482829}">
      <dgm:prSet/>
      <dgm:spPr/>
      <dgm:t>
        <a:bodyPr/>
        <a:lstStyle/>
        <a:p>
          <a:endParaRPr lang="en-US"/>
        </a:p>
      </dgm:t>
    </dgm:pt>
    <dgm:pt modelId="{A56989F9-1551-4A6E-A4B3-C2BBC9537E7D}" type="sibTrans" cxnId="{1489A814-2495-4750-915C-48BA84482829}">
      <dgm:prSet/>
      <dgm:spPr/>
      <dgm:t>
        <a:bodyPr/>
        <a:lstStyle/>
        <a:p>
          <a:endParaRPr lang="en-US"/>
        </a:p>
      </dgm:t>
    </dgm:pt>
    <dgm:pt modelId="{764EAD1F-B4BC-4520-A411-52D7A9F8FB8A}">
      <dgm:prSet/>
      <dgm:spPr/>
      <dgm:t>
        <a:bodyPr/>
        <a:lstStyle/>
        <a:p>
          <a:pPr algn="just"/>
          <a:r>
            <a:rPr lang="en-US" b="1" u="sng" dirty="0"/>
            <a:t>After three months</a:t>
          </a:r>
          <a:r>
            <a:rPr lang="en-US" dirty="0"/>
            <a:t>, if </a:t>
          </a:r>
          <a:r>
            <a:rPr lang="en-US" b="1" u="sng" dirty="0"/>
            <a:t>profit has increased by 3 percent</a:t>
          </a:r>
          <a:r>
            <a:rPr lang="en-US" dirty="0"/>
            <a:t>, management </a:t>
          </a:r>
          <a:r>
            <a:rPr lang="en-US" b="1" u="sng" dirty="0"/>
            <a:t>might assume that plans are going according to schedule.</a:t>
          </a:r>
          <a:endParaRPr lang="en-US" dirty="0"/>
        </a:p>
      </dgm:t>
    </dgm:pt>
    <dgm:pt modelId="{C740527C-5ACC-48AC-B24F-064783666C67}" type="parTrans" cxnId="{FE2A00BB-A17A-43D9-A91C-9EAC0A3170DE}">
      <dgm:prSet/>
      <dgm:spPr/>
      <dgm:t>
        <a:bodyPr/>
        <a:lstStyle/>
        <a:p>
          <a:endParaRPr lang="en-US"/>
        </a:p>
      </dgm:t>
    </dgm:pt>
    <dgm:pt modelId="{3DB77905-2F80-4793-9F38-D2CEF61B1B28}" type="sibTrans" cxnId="{FE2A00BB-A17A-43D9-A91C-9EAC0A3170DE}">
      <dgm:prSet/>
      <dgm:spPr/>
      <dgm:t>
        <a:bodyPr/>
        <a:lstStyle/>
        <a:p>
          <a:endParaRPr lang="en-US"/>
        </a:p>
      </dgm:t>
    </dgm:pt>
    <dgm:pt modelId="{4F56DFB7-9294-4C76-B9D7-89CD068B1A04}" type="pres">
      <dgm:prSet presAssocID="{6DFB9531-3014-48DA-8C22-778C97C60B9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BD684F-8541-4807-AC89-9095980E1FFD}" type="pres">
      <dgm:prSet presAssocID="{0FE24C4A-5AE8-4BB3-AE3D-503D6246F68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983AC4-C5E9-4A6D-AA04-529709C3E92C}" type="pres">
      <dgm:prSet presAssocID="{0FE24C4A-5AE8-4BB3-AE3D-503D6246F68E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E95560-3680-4513-B51B-5B0EAE5D4BA1}" type="presOf" srcId="{764EAD1F-B4BC-4520-A411-52D7A9F8FB8A}" destId="{09983AC4-C5E9-4A6D-AA04-529709C3E92C}" srcOrd="0" destOrd="3" presId="urn:microsoft.com/office/officeart/2005/8/layout/vList2"/>
    <dgm:cxn modelId="{10D75D6D-35BE-4186-B5F8-4F68DDCB52FB}" type="presOf" srcId="{0FE24C4A-5AE8-4BB3-AE3D-503D6246F68E}" destId="{94BD684F-8541-4807-AC89-9095980E1FFD}" srcOrd="0" destOrd="0" presId="urn:microsoft.com/office/officeart/2005/8/layout/vList2"/>
    <dgm:cxn modelId="{6EBB65BB-A6D8-4795-A696-A1A370790CAE}" srcId="{0FE24C4A-5AE8-4BB3-AE3D-503D6246F68E}" destId="{A9DD6ED5-ACBD-4240-B6C8-7767E47E131B}" srcOrd="1" destOrd="0" parTransId="{EF111291-833F-4778-9EF3-EBC26A905F81}" sibTransId="{41E2C362-2F50-4A8E-A559-F1ED7ACA396E}"/>
    <dgm:cxn modelId="{F6E9DF5E-50D5-4C0F-A15D-1A5A1D14AC7C}" type="presOf" srcId="{1353DC22-B20C-4326-9B93-F5F5A61D81B3}" destId="{09983AC4-C5E9-4A6D-AA04-529709C3E92C}" srcOrd="0" destOrd="2" presId="urn:microsoft.com/office/officeart/2005/8/layout/vList2"/>
    <dgm:cxn modelId="{E09EA711-4BD5-4086-BAE4-143FBF74FE28}" srcId="{6DFB9531-3014-48DA-8C22-778C97C60B91}" destId="{0FE24C4A-5AE8-4BB3-AE3D-503D6246F68E}" srcOrd="0" destOrd="0" parTransId="{E2EBC2D3-C850-4758-8B14-6A83346FA3EE}" sibTransId="{041A56EC-9CD4-44A2-8708-7A4604FAABBF}"/>
    <dgm:cxn modelId="{3B9730AF-785E-4540-BAE1-F7E7E997D0B1}" srcId="{0FE24C4A-5AE8-4BB3-AE3D-503D6246F68E}" destId="{38CDD609-FDE0-41A6-94FF-23CFE7CE0301}" srcOrd="0" destOrd="0" parTransId="{5474117E-B2FC-46CA-A4C6-B89D5A7D01B7}" sibTransId="{0FE4B8A4-6201-42A4-9500-EDDBCB65DC1B}"/>
    <dgm:cxn modelId="{1489A814-2495-4750-915C-48BA84482829}" srcId="{0FE24C4A-5AE8-4BB3-AE3D-503D6246F68E}" destId="{1353DC22-B20C-4326-9B93-F5F5A61D81B3}" srcOrd="2" destOrd="0" parTransId="{F1C0AB03-6D84-45B4-805C-D4ABC204BD27}" sibTransId="{A56989F9-1551-4A6E-A4B3-C2BBC9537E7D}"/>
    <dgm:cxn modelId="{23CE1876-F045-418E-AF23-45B20AFA7CCC}" type="presOf" srcId="{A9DD6ED5-ACBD-4240-B6C8-7767E47E131B}" destId="{09983AC4-C5E9-4A6D-AA04-529709C3E92C}" srcOrd="0" destOrd="1" presId="urn:microsoft.com/office/officeart/2005/8/layout/vList2"/>
    <dgm:cxn modelId="{404445C7-EF14-44B8-B166-BE7220DBC269}" type="presOf" srcId="{6DFB9531-3014-48DA-8C22-778C97C60B91}" destId="{4F56DFB7-9294-4C76-B9D7-89CD068B1A04}" srcOrd="0" destOrd="0" presId="urn:microsoft.com/office/officeart/2005/8/layout/vList2"/>
    <dgm:cxn modelId="{FE2A00BB-A17A-43D9-A91C-9EAC0A3170DE}" srcId="{0FE24C4A-5AE8-4BB3-AE3D-503D6246F68E}" destId="{764EAD1F-B4BC-4520-A411-52D7A9F8FB8A}" srcOrd="3" destOrd="0" parTransId="{C740527C-5ACC-48AC-B24F-064783666C67}" sibTransId="{3DB77905-2F80-4793-9F38-D2CEF61B1B28}"/>
    <dgm:cxn modelId="{81E0D97D-A31E-437E-B0E6-B61BA57D8BAC}" type="presOf" srcId="{38CDD609-FDE0-41A6-94FF-23CFE7CE0301}" destId="{09983AC4-C5E9-4A6D-AA04-529709C3E92C}" srcOrd="0" destOrd="0" presId="urn:microsoft.com/office/officeart/2005/8/layout/vList2"/>
    <dgm:cxn modelId="{39EFFF68-1D47-4593-9B53-CFF456360C27}" type="presParOf" srcId="{4F56DFB7-9294-4C76-B9D7-89CD068B1A04}" destId="{94BD684F-8541-4807-AC89-9095980E1FFD}" srcOrd="0" destOrd="0" presId="urn:microsoft.com/office/officeart/2005/8/layout/vList2"/>
    <dgm:cxn modelId="{F72F6500-D260-42AB-876B-878523EF3F85}" type="presParOf" srcId="{4F56DFB7-9294-4C76-B9D7-89CD068B1A04}" destId="{09983AC4-C5E9-4A6D-AA04-529709C3E92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621151D-F8E5-43E1-B304-26C16153EEC2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E73A82AA-4810-4782-A352-DE9D13A23ED4}">
      <dgm:prSet/>
      <dgm:spPr/>
      <dgm:t>
        <a:bodyPr/>
        <a:lstStyle/>
        <a:p>
          <a:r>
            <a:rPr lang="en-US" b="1"/>
            <a:t>a. A focus on critical points</a:t>
          </a:r>
          <a:r>
            <a:rPr lang="en-US"/>
            <a:t>.</a:t>
          </a:r>
        </a:p>
      </dgm:t>
    </dgm:pt>
    <dgm:pt modelId="{2B668C6A-048E-4F4D-87B9-CF228D0E4A01}" type="parTrans" cxnId="{18835527-D7FD-4875-9D1A-F13076E24FD3}">
      <dgm:prSet/>
      <dgm:spPr/>
      <dgm:t>
        <a:bodyPr/>
        <a:lstStyle/>
        <a:p>
          <a:endParaRPr lang="en-US"/>
        </a:p>
      </dgm:t>
    </dgm:pt>
    <dgm:pt modelId="{E2D7C0A1-6F49-45DF-BD66-C6F58CABA9FA}" type="sibTrans" cxnId="{18835527-D7FD-4875-9D1A-F13076E24FD3}">
      <dgm:prSet/>
      <dgm:spPr/>
      <dgm:t>
        <a:bodyPr/>
        <a:lstStyle/>
        <a:p>
          <a:endParaRPr lang="en-US"/>
        </a:p>
      </dgm:t>
    </dgm:pt>
    <dgm:pt modelId="{3EFB8E23-7704-470C-AF74-6FB0BFF59278}">
      <dgm:prSet/>
      <dgm:spPr/>
      <dgm:t>
        <a:bodyPr/>
        <a:lstStyle/>
        <a:p>
          <a:r>
            <a:rPr lang="en-US"/>
            <a:t>For example, </a:t>
          </a:r>
          <a:r>
            <a:rPr lang="en-US" b="1" u="sng"/>
            <a:t>controls are applied where failure cannot be tolerated or where costs cannot exceed a certain amount. </a:t>
          </a:r>
          <a:endParaRPr lang="en-US"/>
        </a:p>
      </dgm:t>
    </dgm:pt>
    <dgm:pt modelId="{856242B5-804E-46C8-9541-4F37C058DF8D}" type="parTrans" cxnId="{5D5F5652-43C0-4340-9C77-F20627A0BE82}">
      <dgm:prSet/>
      <dgm:spPr/>
      <dgm:t>
        <a:bodyPr/>
        <a:lstStyle/>
        <a:p>
          <a:endParaRPr lang="en-US"/>
        </a:p>
      </dgm:t>
    </dgm:pt>
    <dgm:pt modelId="{5A6D8EA6-7D06-465D-9444-593708EA219E}" type="sibTrans" cxnId="{5D5F5652-43C0-4340-9C77-F20627A0BE82}">
      <dgm:prSet/>
      <dgm:spPr/>
      <dgm:t>
        <a:bodyPr/>
        <a:lstStyle/>
        <a:p>
          <a:endParaRPr lang="en-US"/>
        </a:p>
      </dgm:t>
    </dgm:pt>
    <dgm:pt modelId="{A71F82A6-E694-4617-AE35-BE021DC66AE7}">
      <dgm:prSet/>
      <dgm:spPr/>
      <dgm:t>
        <a:bodyPr/>
        <a:lstStyle/>
        <a:p>
          <a:r>
            <a:rPr lang="en-US"/>
            <a:t>The critical points </a:t>
          </a:r>
          <a:r>
            <a:rPr lang="en-US" b="1" u="sng"/>
            <a:t>include all the areas of an organization’s operations that directly affect the success </a:t>
          </a:r>
          <a:r>
            <a:rPr lang="en-US"/>
            <a:t>of its key operations. </a:t>
          </a:r>
        </a:p>
      </dgm:t>
    </dgm:pt>
    <dgm:pt modelId="{9F87B75F-C166-42BE-BDB6-ED33B364CFAD}" type="parTrans" cxnId="{A21C9F42-639B-4E55-BD51-53342AF8749B}">
      <dgm:prSet/>
      <dgm:spPr/>
      <dgm:t>
        <a:bodyPr/>
        <a:lstStyle/>
        <a:p>
          <a:endParaRPr lang="en-US"/>
        </a:p>
      </dgm:t>
    </dgm:pt>
    <dgm:pt modelId="{4643EFE6-2B58-4E8F-9F50-B6E31A3DE0B2}" type="sibTrans" cxnId="{A21C9F42-639B-4E55-BD51-53342AF8749B}">
      <dgm:prSet/>
      <dgm:spPr/>
      <dgm:t>
        <a:bodyPr/>
        <a:lstStyle/>
        <a:p>
          <a:endParaRPr lang="en-US"/>
        </a:p>
      </dgm:t>
    </dgm:pt>
    <dgm:pt modelId="{6A343F5C-7314-4DB8-8E12-E9732527A8DF}">
      <dgm:prSet/>
      <dgm:spPr/>
      <dgm:t>
        <a:bodyPr/>
        <a:lstStyle/>
        <a:p>
          <a:r>
            <a:rPr lang="en-US" b="1"/>
            <a:t>b. Integration into established processes</a:t>
          </a:r>
          <a:r>
            <a:rPr lang="en-US"/>
            <a:t>. </a:t>
          </a:r>
        </a:p>
      </dgm:t>
    </dgm:pt>
    <dgm:pt modelId="{F6B85114-09C8-40E6-B339-49476BE25DFD}" type="parTrans" cxnId="{2C9E606F-B2AB-4F3B-89DD-2BF447707816}">
      <dgm:prSet/>
      <dgm:spPr/>
      <dgm:t>
        <a:bodyPr/>
        <a:lstStyle/>
        <a:p>
          <a:endParaRPr lang="en-US"/>
        </a:p>
      </dgm:t>
    </dgm:pt>
    <dgm:pt modelId="{7EA51AE1-7248-4C71-9FB6-9EDD51569AA1}" type="sibTrans" cxnId="{2C9E606F-B2AB-4F3B-89DD-2BF447707816}">
      <dgm:prSet/>
      <dgm:spPr/>
      <dgm:t>
        <a:bodyPr/>
        <a:lstStyle/>
        <a:p>
          <a:endParaRPr lang="en-US"/>
        </a:p>
      </dgm:t>
    </dgm:pt>
    <dgm:pt modelId="{7C5ECA28-8CBD-4BB0-9A20-B5CF59DA066D}">
      <dgm:prSet/>
      <dgm:spPr/>
      <dgm:t>
        <a:bodyPr/>
        <a:lstStyle/>
        <a:p>
          <a:r>
            <a:rPr lang="en-US"/>
            <a:t>Controls </a:t>
          </a:r>
          <a:r>
            <a:rPr lang="en-US" b="1" u="sng"/>
            <a:t>must function harmoniously within these processes and should not bottleneck operations.</a:t>
          </a:r>
          <a:endParaRPr lang="en-US"/>
        </a:p>
      </dgm:t>
    </dgm:pt>
    <dgm:pt modelId="{8007617A-0A83-42C2-8D4D-F81581555EF6}" type="parTrans" cxnId="{300D31D7-E6E7-4A75-A2F7-4C0EC830F230}">
      <dgm:prSet/>
      <dgm:spPr/>
      <dgm:t>
        <a:bodyPr/>
        <a:lstStyle/>
        <a:p>
          <a:endParaRPr lang="en-US"/>
        </a:p>
      </dgm:t>
    </dgm:pt>
    <dgm:pt modelId="{37984970-3D34-43FE-84F0-0B3AC4512F01}" type="sibTrans" cxnId="{300D31D7-E6E7-4A75-A2F7-4C0EC830F230}">
      <dgm:prSet/>
      <dgm:spPr/>
      <dgm:t>
        <a:bodyPr/>
        <a:lstStyle/>
        <a:p>
          <a:endParaRPr lang="en-US"/>
        </a:p>
      </dgm:t>
    </dgm:pt>
    <dgm:pt modelId="{5D259377-46B0-42EF-9372-5852FE2940B4}" type="pres">
      <dgm:prSet presAssocID="{E621151D-F8E5-43E1-B304-26C16153EEC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0920C28-3788-4EEC-BFD7-3980EBF4B878}" type="pres">
      <dgm:prSet presAssocID="{E73A82AA-4810-4782-A352-DE9D13A23ED4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B1B32-C962-4DB7-9E68-7A2E1E1FFEB7}" type="pres">
      <dgm:prSet presAssocID="{E73A82AA-4810-4782-A352-DE9D13A23ED4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7BA0F7-8757-406A-B07A-621A759351C4}" type="pres">
      <dgm:prSet presAssocID="{6A343F5C-7314-4DB8-8E12-E9732527A8D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7DB3B1-3F86-486B-9250-FF5B00DEC214}" type="pres">
      <dgm:prSet presAssocID="{6A343F5C-7314-4DB8-8E12-E9732527A8DF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5F5652-43C0-4340-9C77-F20627A0BE82}" srcId="{E73A82AA-4810-4782-A352-DE9D13A23ED4}" destId="{3EFB8E23-7704-470C-AF74-6FB0BFF59278}" srcOrd="0" destOrd="0" parTransId="{856242B5-804E-46C8-9541-4F37C058DF8D}" sibTransId="{5A6D8EA6-7D06-465D-9444-593708EA219E}"/>
    <dgm:cxn modelId="{1BE83BA5-7F35-4C61-9982-D99C2F439454}" type="presOf" srcId="{6A343F5C-7314-4DB8-8E12-E9732527A8DF}" destId="{317BA0F7-8757-406A-B07A-621A759351C4}" srcOrd="0" destOrd="0" presId="urn:microsoft.com/office/officeart/2005/8/layout/vList2"/>
    <dgm:cxn modelId="{2BB187ED-6D7C-4005-A319-9F1FFF489B71}" type="presOf" srcId="{E621151D-F8E5-43E1-B304-26C16153EEC2}" destId="{5D259377-46B0-42EF-9372-5852FE2940B4}" srcOrd="0" destOrd="0" presId="urn:microsoft.com/office/officeart/2005/8/layout/vList2"/>
    <dgm:cxn modelId="{18835527-D7FD-4875-9D1A-F13076E24FD3}" srcId="{E621151D-F8E5-43E1-B304-26C16153EEC2}" destId="{E73A82AA-4810-4782-A352-DE9D13A23ED4}" srcOrd="0" destOrd="0" parTransId="{2B668C6A-048E-4F4D-87B9-CF228D0E4A01}" sibTransId="{E2D7C0A1-6F49-45DF-BD66-C6F58CABA9FA}"/>
    <dgm:cxn modelId="{300D31D7-E6E7-4A75-A2F7-4C0EC830F230}" srcId="{6A343F5C-7314-4DB8-8E12-E9732527A8DF}" destId="{7C5ECA28-8CBD-4BB0-9A20-B5CF59DA066D}" srcOrd="0" destOrd="0" parTransId="{8007617A-0A83-42C2-8D4D-F81581555EF6}" sibTransId="{37984970-3D34-43FE-84F0-0B3AC4512F01}"/>
    <dgm:cxn modelId="{ED4BD96D-5EAD-40E7-B4CD-DA3F6417FA9A}" type="presOf" srcId="{3EFB8E23-7704-470C-AF74-6FB0BFF59278}" destId="{804B1B32-C962-4DB7-9E68-7A2E1E1FFEB7}" srcOrd="0" destOrd="0" presId="urn:microsoft.com/office/officeart/2005/8/layout/vList2"/>
    <dgm:cxn modelId="{C7A92B03-4388-4130-BC45-3B9DDDDF0BA1}" type="presOf" srcId="{E73A82AA-4810-4782-A352-DE9D13A23ED4}" destId="{E0920C28-3788-4EEC-BFD7-3980EBF4B878}" srcOrd="0" destOrd="0" presId="urn:microsoft.com/office/officeart/2005/8/layout/vList2"/>
    <dgm:cxn modelId="{F60BD4EB-6B94-431F-87C8-D544DF774F96}" type="presOf" srcId="{A71F82A6-E694-4617-AE35-BE021DC66AE7}" destId="{804B1B32-C962-4DB7-9E68-7A2E1E1FFEB7}" srcOrd="0" destOrd="1" presId="urn:microsoft.com/office/officeart/2005/8/layout/vList2"/>
    <dgm:cxn modelId="{A21C9F42-639B-4E55-BD51-53342AF8749B}" srcId="{E73A82AA-4810-4782-A352-DE9D13A23ED4}" destId="{A71F82A6-E694-4617-AE35-BE021DC66AE7}" srcOrd="1" destOrd="0" parTransId="{9F87B75F-C166-42BE-BDB6-ED33B364CFAD}" sibTransId="{4643EFE6-2B58-4E8F-9F50-B6E31A3DE0B2}"/>
    <dgm:cxn modelId="{B9347321-A8A6-4F14-9689-7874E12116AA}" type="presOf" srcId="{7C5ECA28-8CBD-4BB0-9A20-B5CF59DA066D}" destId="{2C7DB3B1-3F86-486B-9250-FF5B00DEC214}" srcOrd="0" destOrd="0" presId="urn:microsoft.com/office/officeart/2005/8/layout/vList2"/>
    <dgm:cxn modelId="{2C9E606F-B2AB-4F3B-89DD-2BF447707816}" srcId="{E621151D-F8E5-43E1-B304-26C16153EEC2}" destId="{6A343F5C-7314-4DB8-8E12-E9732527A8DF}" srcOrd="1" destOrd="0" parTransId="{F6B85114-09C8-40E6-B339-49476BE25DFD}" sibTransId="{7EA51AE1-7248-4C71-9FB6-9EDD51569AA1}"/>
    <dgm:cxn modelId="{0DC79D2F-2A9C-44F1-A692-98112F873B87}" type="presParOf" srcId="{5D259377-46B0-42EF-9372-5852FE2940B4}" destId="{E0920C28-3788-4EEC-BFD7-3980EBF4B878}" srcOrd="0" destOrd="0" presId="urn:microsoft.com/office/officeart/2005/8/layout/vList2"/>
    <dgm:cxn modelId="{85695302-A0D3-435F-93D2-1454CF93EC9E}" type="presParOf" srcId="{5D259377-46B0-42EF-9372-5852FE2940B4}" destId="{804B1B32-C962-4DB7-9E68-7A2E1E1FFEB7}" srcOrd="1" destOrd="0" presId="urn:microsoft.com/office/officeart/2005/8/layout/vList2"/>
    <dgm:cxn modelId="{76205B13-1CB3-4839-BA3F-98AFCF942343}" type="presParOf" srcId="{5D259377-46B0-42EF-9372-5852FE2940B4}" destId="{317BA0F7-8757-406A-B07A-621A759351C4}" srcOrd="2" destOrd="0" presId="urn:microsoft.com/office/officeart/2005/8/layout/vList2"/>
    <dgm:cxn modelId="{53F900D3-822A-44EC-AA54-710E9B28806C}" type="presParOf" srcId="{5D259377-46B0-42EF-9372-5852FE2940B4}" destId="{2C7DB3B1-3F86-486B-9250-FF5B00DEC21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8D55093-57E4-4B5D-87A8-3D95200A858F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2836700E-8B45-45A4-8037-DA1EB7FF1C5B}">
      <dgm:prSet/>
      <dgm:spPr/>
      <dgm:t>
        <a:bodyPr/>
        <a:lstStyle/>
        <a:p>
          <a:r>
            <a:rPr lang="en-US" b="1"/>
            <a:t>c.	Acceptance by employees. </a:t>
          </a:r>
          <a:endParaRPr lang="en-US"/>
        </a:p>
      </dgm:t>
    </dgm:pt>
    <dgm:pt modelId="{6A5DABAE-0E38-44A1-A213-03B456E0C247}" type="parTrans" cxnId="{FA81F760-F29C-4216-A996-44D90CB8FA74}">
      <dgm:prSet/>
      <dgm:spPr/>
      <dgm:t>
        <a:bodyPr/>
        <a:lstStyle/>
        <a:p>
          <a:endParaRPr lang="en-US"/>
        </a:p>
      </dgm:t>
    </dgm:pt>
    <dgm:pt modelId="{844A184B-599F-428A-8A02-363F4A21C40A}" type="sibTrans" cxnId="{FA81F760-F29C-4216-A996-44D90CB8FA74}">
      <dgm:prSet/>
      <dgm:spPr/>
      <dgm:t>
        <a:bodyPr/>
        <a:lstStyle/>
        <a:p>
          <a:endParaRPr lang="en-US"/>
        </a:p>
      </dgm:t>
    </dgm:pt>
    <dgm:pt modelId="{CF7EF197-4524-47FC-9C0E-DC4D91A97BEA}">
      <dgm:prSet/>
      <dgm:spPr/>
      <dgm:t>
        <a:bodyPr/>
        <a:lstStyle/>
        <a:p>
          <a:r>
            <a:rPr lang="en-US"/>
            <a:t>Employee involvement in the design of controls can increase acceptance. </a:t>
          </a:r>
        </a:p>
      </dgm:t>
    </dgm:pt>
    <dgm:pt modelId="{CD5614A7-28C9-4741-947E-191426148340}" type="parTrans" cxnId="{7F23305C-F642-426E-AA44-5B455DE61A47}">
      <dgm:prSet/>
      <dgm:spPr/>
      <dgm:t>
        <a:bodyPr/>
        <a:lstStyle/>
        <a:p>
          <a:endParaRPr lang="en-US"/>
        </a:p>
      </dgm:t>
    </dgm:pt>
    <dgm:pt modelId="{36D746AD-5A4B-4D9A-878A-EAE092B7970E}" type="sibTrans" cxnId="{7F23305C-F642-426E-AA44-5B455DE61A47}">
      <dgm:prSet/>
      <dgm:spPr/>
      <dgm:t>
        <a:bodyPr/>
        <a:lstStyle/>
        <a:p>
          <a:endParaRPr lang="en-US"/>
        </a:p>
      </dgm:t>
    </dgm:pt>
    <dgm:pt modelId="{7BAEE4FD-182F-404B-8B30-677AEBE35840}">
      <dgm:prSet/>
      <dgm:spPr/>
      <dgm:t>
        <a:bodyPr/>
        <a:lstStyle/>
        <a:p>
          <a:r>
            <a:rPr lang="en-US" b="1"/>
            <a:t>d.	Availability of information when needed. </a:t>
          </a:r>
          <a:endParaRPr lang="en-US"/>
        </a:p>
      </dgm:t>
    </dgm:pt>
    <dgm:pt modelId="{579162CA-828D-417E-8670-0B2B5F5ABFBD}" type="parTrans" cxnId="{A039CA93-2647-4703-86EE-6FFC2C4394CB}">
      <dgm:prSet/>
      <dgm:spPr/>
      <dgm:t>
        <a:bodyPr/>
        <a:lstStyle/>
        <a:p>
          <a:endParaRPr lang="en-US"/>
        </a:p>
      </dgm:t>
    </dgm:pt>
    <dgm:pt modelId="{FE99A285-648E-47D5-93BF-09653BE2FD9D}" type="sibTrans" cxnId="{A039CA93-2647-4703-86EE-6FFC2C4394CB}">
      <dgm:prSet/>
      <dgm:spPr/>
      <dgm:t>
        <a:bodyPr/>
        <a:lstStyle/>
        <a:p>
          <a:endParaRPr lang="en-US"/>
        </a:p>
      </dgm:t>
    </dgm:pt>
    <dgm:pt modelId="{2C7C0966-8BAD-411E-B099-13B9B352FE75}">
      <dgm:prSet/>
      <dgm:spPr/>
      <dgm:t>
        <a:bodyPr/>
        <a:lstStyle/>
        <a:p>
          <a:pPr algn="just"/>
          <a:r>
            <a:rPr lang="en-US" dirty="0"/>
            <a:t>Deadlines, time needed to complete the project, costs associated with the project, and priority needs are apparent in these criteria. </a:t>
          </a:r>
        </a:p>
      </dgm:t>
    </dgm:pt>
    <dgm:pt modelId="{5BF40854-B6BA-420A-B9B7-3A9ACCB053CE}" type="parTrans" cxnId="{DAE664E7-26A5-417A-B335-7A5C76527623}">
      <dgm:prSet/>
      <dgm:spPr/>
      <dgm:t>
        <a:bodyPr/>
        <a:lstStyle/>
        <a:p>
          <a:endParaRPr lang="en-US"/>
        </a:p>
      </dgm:t>
    </dgm:pt>
    <dgm:pt modelId="{11C21E84-23A4-4E5F-8F19-A58A1FAE08D5}" type="sibTrans" cxnId="{DAE664E7-26A5-417A-B335-7A5C76527623}">
      <dgm:prSet/>
      <dgm:spPr/>
      <dgm:t>
        <a:bodyPr/>
        <a:lstStyle/>
        <a:p>
          <a:endParaRPr lang="en-US"/>
        </a:p>
      </dgm:t>
    </dgm:pt>
    <dgm:pt modelId="{CDD57D92-AE1F-4AFE-AF0B-26596B876951}">
      <dgm:prSet/>
      <dgm:spPr/>
      <dgm:t>
        <a:bodyPr/>
        <a:lstStyle/>
        <a:p>
          <a:pPr algn="l"/>
          <a:r>
            <a:rPr lang="en-US"/>
            <a:t>Costs are frequently attributed to time shortcomings or failures.</a:t>
          </a:r>
        </a:p>
      </dgm:t>
    </dgm:pt>
    <dgm:pt modelId="{3E1C0752-39B1-4620-B88B-87E9F7E87F0B}" type="parTrans" cxnId="{629CC0B5-712D-4B6A-A7CB-DDA0782CF117}">
      <dgm:prSet/>
      <dgm:spPr/>
      <dgm:t>
        <a:bodyPr/>
        <a:lstStyle/>
        <a:p>
          <a:endParaRPr lang="en-US"/>
        </a:p>
      </dgm:t>
    </dgm:pt>
    <dgm:pt modelId="{D3B98DBF-D9A3-490B-8FC7-15648B005817}" type="sibTrans" cxnId="{629CC0B5-712D-4B6A-A7CB-DDA0782CF117}">
      <dgm:prSet/>
      <dgm:spPr/>
      <dgm:t>
        <a:bodyPr/>
        <a:lstStyle/>
        <a:p>
          <a:endParaRPr lang="en-US"/>
        </a:p>
      </dgm:t>
    </dgm:pt>
    <dgm:pt modelId="{905DCF7C-9489-4157-935D-45AA2EAAB3DF}" type="pres">
      <dgm:prSet presAssocID="{08D55093-57E4-4B5D-87A8-3D95200A858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2EA5CF-34A8-4D73-A7A8-82DE64221D53}" type="pres">
      <dgm:prSet presAssocID="{2836700E-8B45-45A4-8037-DA1EB7FF1C5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A2EE18-D169-465E-A508-AF57359B6C93}" type="pres">
      <dgm:prSet presAssocID="{2836700E-8B45-45A4-8037-DA1EB7FF1C5B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163F3E-3A99-49A7-810C-85396D2B28FD}" type="pres">
      <dgm:prSet presAssocID="{7BAEE4FD-182F-404B-8B30-677AEBE3584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7C25E2-E641-47E6-9304-81845D6AA2CC}" type="pres">
      <dgm:prSet presAssocID="{7BAEE4FD-182F-404B-8B30-677AEBE35840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9CC0B5-712D-4B6A-A7CB-DDA0782CF117}" srcId="{7BAEE4FD-182F-404B-8B30-677AEBE35840}" destId="{CDD57D92-AE1F-4AFE-AF0B-26596B876951}" srcOrd="1" destOrd="0" parTransId="{3E1C0752-39B1-4620-B88B-87E9F7E87F0B}" sibTransId="{D3B98DBF-D9A3-490B-8FC7-15648B005817}"/>
    <dgm:cxn modelId="{A32A63DF-1E1D-49E7-A207-E2186BCA51C7}" type="presOf" srcId="{CF7EF197-4524-47FC-9C0E-DC4D91A97BEA}" destId="{7AA2EE18-D169-465E-A508-AF57359B6C93}" srcOrd="0" destOrd="0" presId="urn:microsoft.com/office/officeart/2005/8/layout/vList2"/>
    <dgm:cxn modelId="{63BE81F6-1B79-40D4-B565-6FE9470C490B}" type="presOf" srcId="{7BAEE4FD-182F-404B-8B30-677AEBE35840}" destId="{B3163F3E-3A99-49A7-810C-85396D2B28FD}" srcOrd="0" destOrd="0" presId="urn:microsoft.com/office/officeart/2005/8/layout/vList2"/>
    <dgm:cxn modelId="{DAE664E7-26A5-417A-B335-7A5C76527623}" srcId="{7BAEE4FD-182F-404B-8B30-677AEBE35840}" destId="{2C7C0966-8BAD-411E-B099-13B9B352FE75}" srcOrd="0" destOrd="0" parTransId="{5BF40854-B6BA-420A-B9B7-3A9ACCB053CE}" sibTransId="{11C21E84-23A4-4E5F-8F19-A58A1FAE08D5}"/>
    <dgm:cxn modelId="{FA81F760-F29C-4216-A996-44D90CB8FA74}" srcId="{08D55093-57E4-4B5D-87A8-3D95200A858F}" destId="{2836700E-8B45-45A4-8037-DA1EB7FF1C5B}" srcOrd="0" destOrd="0" parTransId="{6A5DABAE-0E38-44A1-A213-03B456E0C247}" sibTransId="{844A184B-599F-428A-8A02-363F4A21C40A}"/>
    <dgm:cxn modelId="{41292510-2E76-4AF7-ACF4-2C2EC58C5814}" type="presOf" srcId="{2C7C0966-8BAD-411E-B099-13B9B352FE75}" destId="{9D7C25E2-E641-47E6-9304-81845D6AA2CC}" srcOrd="0" destOrd="0" presId="urn:microsoft.com/office/officeart/2005/8/layout/vList2"/>
    <dgm:cxn modelId="{FCBE8690-6CF0-4B4D-89FF-A68D2AC754A2}" type="presOf" srcId="{CDD57D92-AE1F-4AFE-AF0B-26596B876951}" destId="{9D7C25E2-E641-47E6-9304-81845D6AA2CC}" srcOrd="0" destOrd="1" presId="urn:microsoft.com/office/officeart/2005/8/layout/vList2"/>
    <dgm:cxn modelId="{ECE2DC8F-F102-4B42-951D-23B14E0564C7}" type="presOf" srcId="{2836700E-8B45-45A4-8037-DA1EB7FF1C5B}" destId="{372EA5CF-34A8-4D73-A7A8-82DE64221D53}" srcOrd="0" destOrd="0" presId="urn:microsoft.com/office/officeart/2005/8/layout/vList2"/>
    <dgm:cxn modelId="{7F23305C-F642-426E-AA44-5B455DE61A47}" srcId="{2836700E-8B45-45A4-8037-DA1EB7FF1C5B}" destId="{CF7EF197-4524-47FC-9C0E-DC4D91A97BEA}" srcOrd="0" destOrd="0" parTransId="{CD5614A7-28C9-4741-947E-191426148340}" sibTransId="{36D746AD-5A4B-4D9A-878A-EAE092B7970E}"/>
    <dgm:cxn modelId="{A039CA93-2647-4703-86EE-6FFC2C4394CB}" srcId="{08D55093-57E4-4B5D-87A8-3D95200A858F}" destId="{7BAEE4FD-182F-404B-8B30-677AEBE35840}" srcOrd="1" destOrd="0" parTransId="{579162CA-828D-417E-8670-0B2B5F5ABFBD}" sibTransId="{FE99A285-648E-47D5-93BF-09653BE2FD9D}"/>
    <dgm:cxn modelId="{69B854B6-802B-44BD-9D32-681AE157C0ED}" type="presOf" srcId="{08D55093-57E4-4B5D-87A8-3D95200A858F}" destId="{905DCF7C-9489-4157-935D-45AA2EAAB3DF}" srcOrd="0" destOrd="0" presId="urn:microsoft.com/office/officeart/2005/8/layout/vList2"/>
    <dgm:cxn modelId="{79573069-D83C-4197-B36B-C335956847AD}" type="presParOf" srcId="{905DCF7C-9489-4157-935D-45AA2EAAB3DF}" destId="{372EA5CF-34A8-4D73-A7A8-82DE64221D53}" srcOrd="0" destOrd="0" presId="urn:microsoft.com/office/officeart/2005/8/layout/vList2"/>
    <dgm:cxn modelId="{1C7DC116-5703-4926-B1F9-2C6FB59EB5DE}" type="presParOf" srcId="{905DCF7C-9489-4157-935D-45AA2EAAB3DF}" destId="{7AA2EE18-D169-465E-A508-AF57359B6C93}" srcOrd="1" destOrd="0" presId="urn:microsoft.com/office/officeart/2005/8/layout/vList2"/>
    <dgm:cxn modelId="{774BEDF3-15F3-489B-974C-A57AEB1E8E59}" type="presParOf" srcId="{905DCF7C-9489-4157-935D-45AA2EAAB3DF}" destId="{B3163F3E-3A99-49A7-810C-85396D2B28FD}" srcOrd="2" destOrd="0" presId="urn:microsoft.com/office/officeart/2005/8/layout/vList2"/>
    <dgm:cxn modelId="{A65CCCBC-BDBB-4DC8-AAE9-8741FD800A78}" type="presParOf" srcId="{905DCF7C-9489-4157-935D-45AA2EAAB3DF}" destId="{9D7C25E2-E641-47E6-9304-81845D6AA2C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6AADDE0-2E63-4E27-BDD9-A45528BBA4C3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8A28B69D-568F-442D-B959-83C2EC354AA9}">
      <dgm:prSet/>
      <dgm:spPr/>
      <dgm:t>
        <a:bodyPr/>
        <a:lstStyle/>
        <a:p>
          <a:r>
            <a:rPr lang="en-US" b="1"/>
            <a:t>e.	Economic feasibility</a:t>
          </a:r>
          <a:endParaRPr lang="en-US"/>
        </a:p>
      </dgm:t>
    </dgm:pt>
    <dgm:pt modelId="{7A59514A-C372-4695-B0E5-B7153F8FF9FA}" type="parTrans" cxnId="{2B3F0772-8DE0-46BD-A4F6-F0FE0456F97D}">
      <dgm:prSet/>
      <dgm:spPr/>
      <dgm:t>
        <a:bodyPr/>
        <a:lstStyle/>
        <a:p>
          <a:endParaRPr lang="en-US"/>
        </a:p>
      </dgm:t>
    </dgm:pt>
    <dgm:pt modelId="{46575628-9EF6-4194-A55E-C7DAE4BFD69E}" type="sibTrans" cxnId="{2B3F0772-8DE0-46BD-A4F6-F0FE0456F97D}">
      <dgm:prSet/>
      <dgm:spPr/>
      <dgm:t>
        <a:bodyPr/>
        <a:lstStyle/>
        <a:p>
          <a:endParaRPr lang="en-US"/>
        </a:p>
      </dgm:t>
    </dgm:pt>
    <dgm:pt modelId="{0FE5B230-611F-4DFC-BF25-103C83CBADB1}">
      <dgm:prSet/>
      <dgm:spPr/>
      <dgm:t>
        <a:bodyPr/>
        <a:lstStyle/>
        <a:p>
          <a:r>
            <a:rPr lang="en-US"/>
            <a:t>Effective control systems </a:t>
          </a:r>
          <a:r>
            <a:rPr lang="en-US" b="1" u="sng"/>
            <a:t>answer questions such as</a:t>
          </a:r>
          <a:r>
            <a:rPr lang="en-US"/>
            <a:t>, </a:t>
          </a:r>
        </a:p>
      </dgm:t>
    </dgm:pt>
    <dgm:pt modelId="{DA3D1B8C-5363-4801-B8CE-A4B90877E4C7}" type="parTrans" cxnId="{DC8E5868-F841-4E3A-8A9E-442BD15FD2E0}">
      <dgm:prSet/>
      <dgm:spPr/>
      <dgm:t>
        <a:bodyPr/>
        <a:lstStyle/>
        <a:p>
          <a:endParaRPr lang="en-US"/>
        </a:p>
      </dgm:t>
    </dgm:pt>
    <dgm:pt modelId="{4C479215-B5E7-4A3E-98F6-3FB7F9C1D735}" type="sibTrans" cxnId="{DC8E5868-F841-4E3A-8A9E-442BD15FD2E0}">
      <dgm:prSet/>
      <dgm:spPr/>
      <dgm:t>
        <a:bodyPr/>
        <a:lstStyle/>
        <a:p>
          <a:endParaRPr lang="en-US"/>
        </a:p>
      </dgm:t>
    </dgm:pt>
    <dgm:pt modelId="{39214D30-99A7-43CF-A5F4-318CFE47BE68}">
      <dgm:prSet/>
      <dgm:spPr/>
      <dgm:t>
        <a:bodyPr/>
        <a:lstStyle/>
        <a:p>
          <a:r>
            <a:rPr lang="en-US" b="1"/>
            <a:t>“How much does it cost?”</a:t>
          </a:r>
          <a:endParaRPr lang="en-US"/>
        </a:p>
      </dgm:t>
    </dgm:pt>
    <dgm:pt modelId="{323F6F0B-09F2-4281-A17F-1BAEA5194763}" type="parTrans" cxnId="{CD9DA3D6-4DD6-4349-AFE2-274B13CD47F8}">
      <dgm:prSet/>
      <dgm:spPr/>
      <dgm:t>
        <a:bodyPr/>
        <a:lstStyle/>
        <a:p>
          <a:endParaRPr lang="en-US"/>
        </a:p>
      </dgm:t>
    </dgm:pt>
    <dgm:pt modelId="{BE5B7D21-20A6-4CA7-8ED2-2BFEFB1FA740}" type="sibTrans" cxnId="{CD9DA3D6-4DD6-4349-AFE2-274B13CD47F8}">
      <dgm:prSet/>
      <dgm:spPr/>
      <dgm:t>
        <a:bodyPr/>
        <a:lstStyle/>
        <a:p>
          <a:endParaRPr lang="en-US"/>
        </a:p>
      </dgm:t>
    </dgm:pt>
    <dgm:pt modelId="{51153427-23E5-4328-B519-EC96ED60FE10}">
      <dgm:prSet/>
      <dgm:spPr/>
      <dgm:t>
        <a:bodyPr/>
        <a:lstStyle/>
        <a:p>
          <a:r>
            <a:rPr lang="en-US" b="1"/>
            <a:t>“What will it save?” or</a:t>
          </a:r>
          <a:endParaRPr lang="en-US"/>
        </a:p>
      </dgm:t>
    </dgm:pt>
    <dgm:pt modelId="{5371C10C-3C3F-4379-B7AD-04B2B1D367F6}" type="parTrans" cxnId="{CEEAC802-7967-410F-966B-5F0BC5C253C1}">
      <dgm:prSet/>
      <dgm:spPr/>
      <dgm:t>
        <a:bodyPr/>
        <a:lstStyle/>
        <a:p>
          <a:endParaRPr lang="en-US"/>
        </a:p>
      </dgm:t>
    </dgm:pt>
    <dgm:pt modelId="{717BA352-87F8-45BC-9D23-110D3493D522}" type="sibTrans" cxnId="{CEEAC802-7967-410F-966B-5F0BC5C253C1}">
      <dgm:prSet/>
      <dgm:spPr/>
      <dgm:t>
        <a:bodyPr/>
        <a:lstStyle/>
        <a:p>
          <a:endParaRPr lang="en-US"/>
        </a:p>
      </dgm:t>
    </dgm:pt>
    <dgm:pt modelId="{23FCF0E2-7EE2-4133-8FDD-91C8281F28DA}">
      <dgm:prSet/>
      <dgm:spPr/>
      <dgm:t>
        <a:bodyPr/>
        <a:lstStyle/>
        <a:p>
          <a:r>
            <a:rPr lang="en-US" b="1"/>
            <a:t>“What are the returns on the investment?”</a:t>
          </a:r>
          <a:endParaRPr lang="en-US"/>
        </a:p>
      </dgm:t>
    </dgm:pt>
    <dgm:pt modelId="{383CE690-1727-446D-81EC-EB4AF089509B}" type="parTrans" cxnId="{E32C259E-AA3C-4C65-A91F-6711123DB30C}">
      <dgm:prSet/>
      <dgm:spPr/>
      <dgm:t>
        <a:bodyPr/>
        <a:lstStyle/>
        <a:p>
          <a:endParaRPr lang="en-US"/>
        </a:p>
      </dgm:t>
    </dgm:pt>
    <dgm:pt modelId="{B96BB106-AABF-46BD-AC5A-20F8BEFC74FE}" type="sibTrans" cxnId="{E32C259E-AA3C-4C65-A91F-6711123DB30C}">
      <dgm:prSet/>
      <dgm:spPr/>
      <dgm:t>
        <a:bodyPr/>
        <a:lstStyle/>
        <a:p>
          <a:endParaRPr lang="en-US"/>
        </a:p>
      </dgm:t>
    </dgm:pt>
    <dgm:pt modelId="{EFE0804F-E987-474E-8EB5-D9ED86171432}">
      <dgm:prSet/>
      <dgm:spPr/>
      <dgm:t>
        <a:bodyPr/>
        <a:lstStyle/>
        <a:p>
          <a:r>
            <a:rPr lang="en-US"/>
            <a:t>In short, </a:t>
          </a:r>
          <a:r>
            <a:rPr lang="en-US" b="1" u="sng"/>
            <a:t>comparison of the costs to the benefits ensures that the benefits of controls outweigh </a:t>
          </a:r>
          <a:r>
            <a:rPr lang="en-US"/>
            <a:t>the costs. </a:t>
          </a:r>
        </a:p>
      </dgm:t>
    </dgm:pt>
    <dgm:pt modelId="{BE44BBB4-9F1D-46CC-89E3-286714871B5D}" type="parTrans" cxnId="{E930E901-37C3-4DEA-B0FF-441C31052B5D}">
      <dgm:prSet/>
      <dgm:spPr/>
      <dgm:t>
        <a:bodyPr/>
        <a:lstStyle/>
        <a:p>
          <a:endParaRPr lang="en-US"/>
        </a:p>
      </dgm:t>
    </dgm:pt>
    <dgm:pt modelId="{A5F96055-4978-48B3-824C-69C82D39930F}" type="sibTrans" cxnId="{E930E901-37C3-4DEA-B0FF-441C31052B5D}">
      <dgm:prSet/>
      <dgm:spPr/>
      <dgm:t>
        <a:bodyPr/>
        <a:lstStyle/>
        <a:p>
          <a:endParaRPr lang="en-US"/>
        </a:p>
      </dgm:t>
    </dgm:pt>
    <dgm:pt modelId="{5548F8F7-A07A-4947-88F8-D2E53C71381A}" type="pres">
      <dgm:prSet presAssocID="{06AADDE0-2E63-4E27-BDD9-A45528BBA4C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B23D6CE-53DD-4DEC-84D3-553C50E2266B}" type="pres">
      <dgm:prSet presAssocID="{8A28B69D-568F-442D-B959-83C2EC354A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0F532F-EE45-4A0E-9780-FBE67678D036}" type="pres">
      <dgm:prSet presAssocID="{8A28B69D-568F-442D-B959-83C2EC354AA9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9DA3D6-4DD6-4349-AFE2-274B13CD47F8}" srcId="{8A28B69D-568F-442D-B959-83C2EC354AA9}" destId="{39214D30-99A7-43CF-A5F4-318CFE47BE68}" srcOrd="1" destOrd="0" parTransId="{323F6F0B-09F2-4281-A17F-1BAEA5194763}" sibTransId="{BE5B7D21-20A6-4CA7-8ED2-2BFEFB1FA740}"/>
    <dgm:cxn modelId="{869A2B12-BEE9-4239-AAC5-523176D9CA0C}" type="presOf" srcId="{8A28B69D-568F-442D-B959-83C2EC354AA9}" destId="{6B23D6CE-53DD-4DEC-84D3-553C50E2266B}" srcOrd="0" destOrd="0" presId="urn:microsoft.com/office/officeart/2005/8/layout/vList2"/>
    <dgm:cxn modelId="{CEEAC802-7967-410F-966B-5F0BC5C253C1}" srcId="{8A28B69D-568F-442D-B959-83C2EC354AA9}" destId="{51153427-23E5-4328-B519-EC96ED60FE10}" srcOrd="2" destOrd="0" parTransId="{5371C10C-3C3F-4379-B7AD-04B2B1D367F6}" sibTransId="{717BA352-87F8-45BC-9D23-110D3493D522}"/>
    <dgm:cxn modelId="{3759114E-7643-4501-B6B7-2084AAA5EA53}" type="presOf" srcId="{39214D30-99A7-43CF-A5F4-318CFE47BE68}" destId="{9E0F532F-EE45-4A0E-9780-FBE67678D036}" srcOrd="0" destOrd="1" presId="urn:microsoft.com/office/officeart/2005/8/layout/vList2"/>
    <dgm:cxn modelId="{424F38F7-881B-4D1B-A3E0-D84165D4CD05}" type="presOf" srcId="{06AADDE0-2E63-4E27-BDD9-A45528BBA4C3}" destId="{5548F8F7-A07A-4947-88F8-D2E53C71381A}" srcOrd="0" destOrd="0" presId="urn:microsoft.com/office/officeart/2005/8/layout/vList2"/>
    <dgm:cxn modelId="{DC8E5868-F841-4E3A-8A9E-442BD15FD2E0}" srcId="{8A28B69D-568F-442D-B959-83C2EC354AA9}" destId="{0FE5B230-611F-4DFC-BF25-103C83CBADB1}" srcOrd="0" destOrd="0" parTransId="{DA3D1B8C-5363-4801-B8CE-A4B90877E4C7}" sibTransId="{4C479215-B5E7-4A3E-98F6-3FB7F9C1D735}"/>
    <dgm:cxn modelId="{8D3A441E-EF79-4056-9F84-C167FBF9AF08}" type="presOf" srcId="{23FCF0E2-7EE2-4133-8FDD-91C8281F28DA}" destId="{9E0F532F-EE45-4A0E-9780-FBE67678D036}" srcOrd="0" destOrd="3" presId="urn:microsoft.com/office/officeart/2005/8/layout/vList2"/>
    <dgm:cxn modelId="{E32C259E-AA3C-4C65-A91F-6711123DB30C}" srcId="{8A28B69D-568F-442D-B959-83C2EC354AA9}" destId="{23FCF0E2-7EE2-4133-8FDD-91C8281F28DA}" srcOrd="3" destOrd="0" parTransId="{383CE690-1727-446D-81EC-EB4AF089509B}" sibTransId="{B96BB106-AABF-46BD-AC5A-20F8BEFC74FE}"/>
    <dgm:cxn modelId="{2B3F0772-8DE0-46BD-A4F6-F0FE0456F97D}" srcId="{06AADDE0-2E63-4E27-BDD9-A45528BBA4C3}" destId="{8A28B69D-568F-442D-B959-83C2EC354AA9}" srcOrd="0" destOrd="0" parTransId="{7A59514A-C372-4695-B0E5-B7153F8FF9FA}" sibTransId="{46575628-9EF6-4194-A55E-C7DAE4BFD69E}"/>
    <dgm:cxn modelId="{A4D6EC17-E208-4AC6-A9B6-F191D6D6B32C}" type="presOf" srcId="{51153427-23E5-4328-B519-EC96ED60FE10}" destId="{9E0F532F-EE45-4A0E-9780-FBE67678D036}" srcOrd="0" destOrd="2" presId="urn:microsoft.com/office/officeart/2005/8/layout/vList2"/>
    <dgm:cxn modelId="{27AE672D-42FF-4BDF-8373-2FDB8AF939B6}" type="presOf" srcId="{0FE5B230-611F-4DFC-BF25-103C83CBADB1}" destId="{9E0F532F-EE45-4A0E-9780-FBE67678D036}" srcOrd="0" destOrd="0" presId="urn:microsoft.com/office/officeart/2005/8/layout/vList2"/>
    <dgm:cxn modelId="{EF9F2F93-DBFF-4F83-9D91-2886D897CF98}" type="presOf" srcId="{EFE0804F-E987-474E-8EB5-D9ED86171432}" destId="{9E0F532F-EE45-4A0E-9780-FBE67678D036}" srcOrd="0" destOrd="4" presId="urn:microsoft.com/office/officeart/2005/8/layout/vList2"/>
    <dgm:cxn modelId="{E930E901-37C3-4DEA-B0FF-441C31052B5D}" srcId="{8A28B69D-568F-442D-B959-83C2EC354AA9}" destId="{EFE0804F-E987-474E-8EB5-D9ED86171432}" srcOrd="4" destOrd="0" parTransId="{BE44BBB4-9F1D-46CC-89E3-286714871B5D}" sibTransId="{A5F96055-4978-48B3-824C-69C82D39930F}"/>
    <dgm:cxn modelId="{4D2ED55E-0829-4C25-AB3D-57BEBC1FECB6}" type="presParOf" srcId="{5548F8F7-A07A-4947-88F8-D2E53C71381A}" destId="{6B23D6CE-53DD-4DEC-84D3-553C50E2266B}" srcOrd="0" destOrd="0" presId="urn:microsoft.com/office/officeart/2005/8/layout/vList2"/>
    <dgm:cxn modelId="{55BAD8FC-B34C-4E72-AC02-93A6CCA112DB}" type="presParOf" srcId="{5548F8F7-A07A-4947-88F8-D2E53C71381A}" destId="{9E0F532F-EE45-4A0E-9780-FBE67678D0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F201B02-703F-4D4D-9937-26EE485D6370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E7813CC7-DFC8-44CE-B0FA-C137DBEDC0A1}">
      <dgm:prSet/>
      <dgm:spPr/>
      <dgm:t>
        <a:bodyPr/>
        <a:lstStyle/>
        <a:p>
          <a:r>
            <a:rPr lang="en-US" b="1"/>
            <a:t>f.  Accuracy</a:t>
          </a:r>
          <a:r>
            <a:rPr lang="en-US"/>
            <a:t>. Effective control systems provide factual information that’s useful, reliable, valid, and consistent.</a:t>
          </a:r>
        </a:p>
      </dgm:t>
    </dgm:pt>
    <dgm:pt modelId="{FDB9D94A-33A6-4056-889C-D674DE61EA6B}" type="parTrans" cxnId="{102732ED-7884-49CE-94CE-C48A233235EA}">
      <dgm:prSet/>
      <dgm:spPr/>
      <dgm:t>
        <a:bodyPr/>
        <a:lstStyle/>
        <a:p>
          <a:endParaRPr lang="en-US"/>
        </a:p>
      </dgm:t>
    </dgm:pt>
    <dgm:pt modelId="{5BAFCB2C-5DBF-4D2C-9769-2C7EE5163EDC}" type="sibTrans" cxnId="{102732ED-7884-49CE-94CE-C48A233235EA}">
      <dgm:prSet/>
      <dgm:spPr/>
      <dgm:t>
        <a:bodyPr/>
        <a:lstStyle/>
        <a:p>
          <a:endParaRPr lang="en-US"/>
        </a:p>
      </dgm:t>
    </dgm:pt>
    <dgm:pt modelId="{E8D2E005-7E67-45FF-9994-BFDFAFB714EF}">
      <dgm:prSet/>
      <dgm:spPr/>
      <dgm:t>
        <a:bodyPr/>
        <a:lstStyle/>
        <a:p>
          <a:r>
            <a:rPr lang="en-US" b="1"/>
            <a:t>g.  Comprehensibility.</a:t>
          </a:r>
          <a:r>
            <a:rPr lang="en-US"/>
            <a:t> Controls must be simple and easy to understand. </a:t>
          </a:r>
        </a:p>
      </dgm:t>
    </dgm:pt>
    <dgm:pt modelId="{47B82311-C7F3-46EB-B836-4B08DC22FA7A}" type="parTrans" cxnId="{50E18EE4-3A6E-46E3-A6B6-D0B65167CB84}">
      <dgm:prSet/>
      <dgm:spPr/>
      <dgm:t>
        <a:bodyPr/>
        <a:lstStyle/>
        <a:p>
          <a:endParaRPr lang="en-US"/>
        </a:p>
      </dgm:t>
    </dgm:pt>
    <dgm:pt modelId="{6CC127AF-8EB5-444D-8272-E45CA54FA73F}" type="sibTrans" cxnId="{50E18EE4-3A6E-46E3-A6B6-D0B65167CB84}">
      <dgm:prSet/>
      <dgm:spPr/>
      <dgm:t>
        <a:bodyPr/>
        <a:lstStyle/>
        <a:p>
          <a:endParaRPr lang="en-US"/>
        </a:p>
      </dgm:t>
    </dgm:pt>
    <dgm:pt modelId="{24442F33-F419-4641-AF03-521C9283A1FD}" type="pres">
      <dgm:prSet presAssocID="{5F201B02-703F-4D4D-9937-26EE485D637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73B6F2-7741-4E21-ACBC-5FFA696455DC}" type="pres">
      <dgm:prSet presAssocID="{E7813CC7-DFC8-44CE-B0FA-C137DBEDC0A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832F5E-47B2-4559-82ED-BE39AE4249C7}" type="pres">
      <dgm:prSet presAssocID="{5BAFCB2C-5DBF-4D2C-9769-2C7EE5163EDC}" presName="spacer" presStyleCnt="0"/>
      <dgm:spPr/>
    </dgm:pt>
    <dgm:pt modelId="{154C054E-DA61-4B07-960A-A6E50F31007D}" type="pres">
      <dgm:prSet presAssocID="{E8D2E005-7E67-45FF-9994-BFDFAFB714E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571D2F-9F6A-43B4-A428-DF9DDD789B83}" type="presOf" srcId="{E7813CC7-DFC8-44CE-B0FA-C137DBEDC0A1}" destId="{B373B6F2-7741-4E21-ACBC-5FFA696455DC}" srcOrd="0" destOrd="0" presId="urn:microsoft.com/office/officeart/2005/8/layout/vList2"/>
    <dgm:cxn modelId="{50E18EE4-3A6E-46E3-A6B6-D0B65167CB84}" srcId="{5F201B02-703F-4D4D-9937-26EE485D6370}" destId="{E8D2E005-7E67-45FF-9994-BFDFAFB714EF}" srcOrd="1" destOrd="0" parTransId="{47B82311-C7F3-46EB-B836-4B08DC22FA7A}" sibTransId="{6CC127AF-8EB5-444D-8272-E45CA54FA73F}"/>
    <dgm:cxn modelId="{7261571C-434D-44FF-AFE2-2D14E83CD328}" type="presOf" srcId="{5F201B02-703F-4D4D-9937-26EE485D6370}" destId="{24442F33-F419-4641-AF03-521C9283A1FD}" srcOrd="0" destOrd="0" presId="urn:microsoft.com/office/officeart/2005/8/layout/vList2"/>
    <dgm:cxn modelId="{F83DDF9D-55C1-46A1-8BF0-A2967A16D8DC}" type="presOf" srcId="{E8D2E005-7E67-45FF-9994-BFDFAFB714EF}" destId="{154C054E-DA61-4B07-960A-A6E50F31007D}" srcOrd="0" destOrd="0" presId="urn:microsoft.com/office/officeart/2005/8/layout/vList2"/>
    <dgm:cxn modelId="{102732ED-7884-49CE-94CE-C48A233235EA}" srcId="{5F201B02-703F-4D4D-9937-26EE485D6370}" destId="{E7813CC7-DFC8-44CE-B0FA-C137DBEDC0A1}" srcOrd="0" destOrd="0" parTransId="{FDB9D94A-33A6-4056-889C-D674DE61EA6B}" sibTransId="{5BAFCB2C-5DBF-4D2C-9769-2C7EE5163EDC}"/>
    <dgm:cxn modelId="{92BC7F39-DF99-45C6-9434-03D4480F077E}" type="presParOf" srcId="{24442F33-F419-4641-AF03-521C9283A1FD}" destId="{B373B6F2-7741-4E21-ACBC-5FFA696455DC}" srcOrd="0" destOrd="0" presId="urn:microsoft.com/office/officeart/2005/8/layout/vList2"/>
    <dgm:cxn modelId="{57AF0400-A7E3-4A94-A0D9-F3689314586A}" type="presParOf" srcId="{24442F33-F419-4641-AF03-521C9283A1FD}" destId="{A8832F5E-47B2-4559-82ED-BE39AE4249C7}" srcOrd="1" destOrd="0" presId="urn:microsoft.com/office/officeart/2005/8/layout/vList2"/>
    <dgm:cxn modelId="{E12F4D8E-90EA-4931-BFE4-0D1C05C720C4}" type="presParOf" srcId="{24442F33-F419-4641-AF03-521C9283A1FD}" destId="{154C054E-DA61-4B07-960A-A6E50F31007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896AF64-5B2E-4F61-ADF0-FD1EA5C5039F}" type="doc">
      <dgm:prSet loTypeId="urn:microsoft.com/office/officeart/2005/8/layout/vList2" loCatId="list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E48A789-8517-48EB-A4B6-343DA41FE041}">
      <dgm:prSet/>
      <dgm:spPr/>
      <dgm:t>
        <a:bodyPr/>
        <a:lstStyle/>
        <a:p>
          <a:pPr algn="just"/>
          <a:r>
            <a:rPr lang="en-US" dirty="0"/>
            <a:t>Control techniques </a:t>
          </a:r>
          <a:r>
            <a:rPr lang="en-US" b="1" u="sng" dirty="0"/>
            <a:t>provide managers with the type and amount of information they need to measure and monitor performance. </a:t>
          </a:r>
          <a:endParaRPr lang="en-US" dirty="0"/>
        </a:p>
      </dgm:t>
    </dgm:pt>
    <dgm:pt modelId="{F295CDAA-B452-4E1D-A37A-D9F21805E8D2}" type="parTrans" cxnId="{73000E4B-F38B-46E5-B378-85FFC3C8DBB1}">
      <dgm:prSet/>
      <dgm:spPr/>
      <dgm:t>
        <a:bodyPr/>
        <a:lstStyle/>
        <a:p>
          <a:endParaRPr lang="en-US"/>
        </a:p>
      </dgm:t>
    </dgm:pt>
    <dgm:pt modelId="{F6C61147-B7E3-4727-8C6B-BE5AB91993BC}" type="sibTrans" cxnId="{73000E4B-F38B-46E5-B378-85FFC3C8DBB1}">
      <dgm:prSet/>
      <dgm:spPr/>
      <dgm:t>
        <a:bodyPr/>
        <a:lstStyle/>
        <a:p>
          <a:endParaRPr lang="en-US"/>
        </a:p>
      </dgm:t>
    </dgm:pt>
    <dgm:pt modelId="{987E779E-9D60-438D-A489-05F95BF45466}">
      <dgm:prSet/>
      <dgm:spPr/>
      <dgm:t>
        <a:bodyPr/>
        <a:lstStyle/>
        <a:p>
          <a:pPr algn="just"/>
          <a:r>
            <a:rPr lang="en-US" dirty="0"/>
            <a:t>The </a:t>
          </a:r>
          <a:r>
            <a:rPr lang="en-US" b="1" u="sng" dirty="0"/>
            <a:t>information from various controls must be tailored to a specific management level, department, unit, or operation. </a:t>
          </a:r>
          <a:endParaRPr lang="en-US" dirty="0"/>
        </a:p>
      </dgm:t>
    </dgm:pt>
    <dgm:pt modelId="{54AA63CF-4498-47EC-980E-C408CEF0F0C6}" type="parTrans" cxnId="{E3802CE4-404E-42B9-A1B7-C054A78E6BC9}">
      <dgm:prSet/>
      <dgm:spPr/>
      <dgm:t>
        <a:bodyPr/>
        <a:lstStyle/>
        <a:p>
          <a:endParaRPr lang="en-US"/>
        </a:p>
      </dgm:t>
    </dgm:pt>
    <dgm:pt modelId="{6B1B1B87-ED36-40C6-8ED2-143739BEBA72}" type="sibTrans" cxnId="{E3802CE4-404E-42B9-A1B7-C054A78E6BC9}">
      <dgm:prSet/>
      <dgm:spPr/>
      <dgm:t>
        <a:bodyPr/>
        <a:lstStyle/>
        <a:p>
          <a:endParaRPr lang="en-US"/>
        </a:p>
      </dgm:t>
    </dgm:pt>
    <dgm:pt modelId="{4CB02D2A-D4B4-484D-83F5-2FDE389383AA}">
      <dgm:prSet/>
      <dgm:spPr/>
      <dgm:t>
        <a:bodyPr/>
        <a:lstStyle/>
        <a:p>
          <a:pPr algn="just"/>
          <a:r>
            <a:rPr lang="en-US" dirty="0"/>
            <a:t>To </a:t>
          </a:r>
          <a:r>
            <a:rPr lang="en-US" b="1" u="sng" dirty="0"/>
            <a:t>ensure complete and consistent information, organizations often use standardized documents such as financial, status, and project reports. </a:t>
          </a:r>
          <a:endParaRPr lang="en-US" dirty="0"/>
        </a:p>
      </dgm:t>
    </dgm:pt>
    <dgm:pt modelId="{C7BF7C13-7EB2-4429-A690-14F794AC2114}" type="parTrans" cxnId="{B75BE594-D8C7-4C3D-A437-22EDACD85ED5}">
      <dgm:prSet/>
      <dgm:spPr/>
      <dgm:t>
        <a:bodyPr/>
        <a:lstStyle/>
        <a:p>
          <a:endParaRPr lang="en-US"/>
        </a:p>
      </dgm:t>
    </dgm:pt>
    <dgm:pt modelId="{4D879524-BD9F-4074-8351-4BE1F32662CF}" type="sibTrans" cxnId="{B75BE594-D8C7-4C3D-A437-22EDACD85ED5}">
      <dgm:prSet/>
      <dgm:spPr/>
      <dgm:t>
        <a:bodyPr/>
        <a:lstStyle/>
        <a:p>
          <a:endParaRPr lang="en-US"/>
        </a:p>
      </dgm:t>
    </dgm:pt>
    <dgm:pt modelId="{02309259-FF38-41EF-82EE-F3D1F0CB550B}">
      <dgm:prSet/>
      <dgm:spPr/>
      <dgm:t>
        <a:bodyPr/>
        <a:lstStyle/>
        <a:p>
          <a:pPr algn="just"/>
          <a:r>
            <a:rPr lang="en-US" dirty="0"/>
            <a:t>Each </a:t>
          </a:r>
          <a:r>
            <a:rPr lang="en-US" b="1" u="sng" dirty="0"/>
            <a:t>area within an organization, however, uses its own specific control techniques, described in the following sections.</a:t>
          </a:r>
          <a:endParaRPr lang="en-US" dirty="0"/>
        </a:p>
      </dgm:t>
    </dgm:pt>
    <dgm:pt modelId="{F2740528-6EC9-4965-B175-A0CC35264DCA}" type="parTrans" cxnId="{0B61698F-D8CE-47C4-B651-62A6F8EBABE7}">
      <dgm:prSet/>
      <dgm:spPr/>
      <dgm:t>
        <a:bodyPr/>
        <a:lstStyle/>
        <a:p>
          <a:endParaRPr lang="en-US"/>
        </a:p>
      </dgm:t>
    </dgm:pt>
    <dgm:pt modelId="{90EEF59A-3544-4A45-8AFD-D61DF4291256}" type="sibTrans" cxnId="{0B61698F-D8CE-47C4-B651-62A6F8EBABE7}">
      <dgm:prSet/>
      <dgm:spPr/>
      <dgm:t>
        <a:bodyPr/>
        <a:lstStyle/>
        <a:p>
          <a:endParaRPr lang="en-US"/>
        </a:p>
      </dgm:t>
    </dgm:pt>
    <dgm:pt modelId="{99C3FD9B-2DF1-4EE4-B9E3-43A56B7C1360}" type="pres">
      <dgm:prSet presAssocID="{B896AF64-5B2E-4F61-ADF0-FD1EA5C503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2AE1B70-9D77-4F04-AF77-5DD52D847B5C}" type="pres">
      <dgm:prSet presAssocID="{2E48A789-8517-48EB-A4B6-343DA41FE04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57E6AB-AE0E-4464-86C6-2BF583CA1D9F}" type="pres">
      <dgm:prSet presAssocID="{F6C61147-B7E3-4727-8C6B-BE5AB91993BC}" presName="spacer" presStyleCnt="0"/>
      <dgm:spPr/>
    </dgm:pt>
    <dgm:pt modelId="{BBF16171-1C3B-42FC-B20F-D727AA5A4D86}" type="pres">
      <dgm:prSet presAssocID="{987E779E-9D60-438D-A489-05F95BF45466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7CA701-6389-4BA0-910E-2B51F40C2C7F}" type="pres">
      <dgm:prSet presAssocID="{6B1B1B87-ED36-40C6-8ED2-143739BEBA72}" presName="spacer" presStyleCnt="0"/>
      <dgm:spPr/>
    </dgm:pt>
    <dgm:pt modelId="{374DD449-5D73-44EA-912F-7F13D057D201}" type="pres">
      <dgm:prSet presAssocID="{4CB02D2A-D4B4-484D-83F5-2FDE389383A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7DAA39-5E27-43EC-A0A7-1378F52100EC}" type="pres">
      <dgm:prSet presAssocID="{4D879524-BD9F-4074-8351-4BE1F32662CF}" presName="spacer" presStyleCnt="0"/>
      <dgm:spPr/>
    </dgm:pt>
    <dgm:pt modelId="{AA96D77E-C2B6-408C-8C8C-3DA5074E38BC}" type="pres">
      <dgm:prSet presAssocID="{02309259-FF38-41EF-82EE-F3D1F0CB550B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61698F-D8CE-47C4-B651-62A6F8EBABE7}" srcId="{B896AF64-5B2E-4F61-ADF0-FD1EA5C5039F}" destId="{02309259-FF38-41EF-82EE-F3D1F0CB550B}" srcOrd="3" destOrd="0" parTransId="{F2740528-6EC9-4965-B175-A0CC35264DCA}" sibTransId="{90EEF59A-3544-4A45-8AFD-D61DF4291256}"/>
    <dgm:cxn modelId="{2D091B8F-F70F-4948-A80D-2CAC351C61F0}" type="presOf" srcId="{4CB02D2A-D4B4-484D-83F5-2FDE389383AA}" destId="{374DD449-5D73-44EA-912F-7F13D057D201}" srcOrd="0" destOrd="0" presId="urn:microsoft.com/office/officeart/2005/8/layout/vList2"/>
    <dgm:cxn modelId="{E3802CE4-404E-42B9-A1B7-C054A78E6BC9}" srcId="{B896AF64-5B2E-4F61-ADF0-FD1EA5C5039F}" destId="{987E779E-9D60-438D-A489-05F95BF45466}" srcOrd="1" destOrd="0" parTransId="{54AA63CF-4498-47EC-980E-C408CEF0F0C6}" sibTransId="{6B1B1B87-ED36-40C6-8ED2-143739BEBA72}"/>
    <dgm:cxn modelId="{B75BE594-D8C7-4C3D-A437-22EDACD85ED5}" srcId="{B896AF64-5B2E-4F61-ADF0-FD1EA5C5039F}" destId="{4CB02D2A-D4B4-484D-83F5-2FDE389383AA}" srcOrd="2" destOrd="0" parTransId="{C7BF7C13-7EB2-4429-A690-14F794AC2114}" sibTransId="{4D879524-BD9F-4074-8351-4BE1F32662CF}"/>
    <dgm:cxn modelId="{1FCD13FA-0351-4381-985C-331D13034D22}" type="presOf" srcId="{2E48A789-8517-48EB-A4B6-343DA41FE041}" destId="{E2AE1B70-9D77-4F04-AF77-5DD52D847B5C}" srcOrd="0" destOrd="0" presId="urn:microsoft.com/office/officeart/2005/8/layout/vList2"/>
    <dgm:cxn modelId="{73000E4B-F38B-46E5-B378-85FFC3C8DBB1}" srcId="{B896AF64-5B2E-4F61-ADF0-FD1EA5C5039F}" destId="{2E48A789-8517-48EB-A4B6-343DA41FE041}" srcOrd="0" destOrd="0" parTransId="{F295CDAA-B452-4E1D-A37A-D9F21805E8D2}" sibTransId="{F6C61147-B7E3-4727-8C6B-BE5AB91993BC}"/>
    <dgm:cxn modelId="{C2940029-6F8A-438A-B324-0D56F5A488E2}" type="presOf" srcId="{B896AF64-5B2E-4F61-ADF0-FD1EA5C5039F}" destId="{99C3FD9B-2DF1-4EE4-B9E3-43A56B7C1360}" srcOrd="0" destOrd="0" presId="urn:microsoft.com/office/officeart/2005/8/layout/vList2"/>
    <dgm:cxn modelId="{6FF84067-4626-43EE-89E9-0216EB77BB61}" type="presOf" srcId="{02309259-FF38-41EF-82EE-F3D1F0CB550B}" destId="{AA96D77E-C2B6-408C-8C8C-3DA5074E38BC}" srcOrd="0" destOrd="0" presId="urn:microsoft.com/office/officeart/2005/8/layout/vList2"/>
    <dgm:cxn modelId="{317B020C-5F02-494F-AF61-1E0178B513AD}" type="presOf" srcId="{987E779E-9D60-438D-A489-05F95BF45466}" destId="{BBF16171-1C3B-42FC-B20F-D727AA5A4D86}" srcOrd="0" destOrd="0" presId="urn:microsoft.com/office/officeart/2005/8/layout/vList2"/>
    <dgm:cxn modelId="{990D13F0-8C14-44A5-9E33-45389302E746}" type="presParOf" srcId="{99C3FD9B-2DF1-4EE4-B9E3-43A56B7C1360}" destId="{E2AE1B70-9D77-4F04-AF77-5DD52D847B5C}" srcOrd="0" destOrd="0" presId="urn:microsoft.com/office/officeart/2005/8/layout/vList2"/>
    <dgm:cxn modelId="{C1B08B4A-9B41-465E-BF8D-369AAB2CA8F3}" type="presParOf" srcId="{99C3FD9B-2DF1-4EE4-B9E3-43A56B7C1360}" destId="{0A57E6AB-AE0E-4464-86C6-2BF583CA1D9F}" srcOrd="1" destOrd="0" presId="urn:microsoft.com/office/officeart/2005/8/layout/vList2"/>
    <dgm:cxn modelId="{DE6BCB11-5FFD-408F-9DAE-09A2BFFA6177}" type="presParOf" srcId="{99C3FD9B-2DF1-4EE4-B9E3-43A56B7C1360}" destId="{BBF16171-1C3B-42FC-B20F-D727AA5A4D86}" srcOrd="2" destOrd="0" presId="urn:microsoft.com/office/officeart/2005/8/layout/vList2"/>
    <dgm:cxn modelId="{6CB97418-EA47-4E89-8B53-8926D2EA8F3A}" type="presParOf" srcId="{99C3FD9B-2DF1-4EE4-B9E3-43A56B7C1360}" destId="{7B7CA701-6389-4BA0-910E-2B51F40C2C7F}" srcOrd="3" destOrd="0" presId="urn:microsoft.com/office/officeart/2005/8/layout/vList2"/>
    <dgm:cxn modelId="{F4F76741-87B6-4781-A846-351DFFE4B8C3}" type="presParOf" srcId="{99C3FD9B-2DF1-4EE4-B9E3-43A56B7C1360}" destId="{374DD449-5D73-44EA-912F-7F13D057D201}" srcOrd="4" destOrd="0" presId="urn:microsoft.com/office/officeart/2005/8/layout/vList2"/>
    <dgm:cxn modelId="{E1101739-EB22-4ACA-A4A1-CD70A14E5798}" type="presParOf" srcId="{99C3FD9B-2DF1-4EE4-B9E3-43A56B7C1360}" destId="{EF7DAA39-5E27-43EC-A0A7-1378F52100EC}" srcOrd="5" destOrd="0" presId="urn:microsoft.com/office/officeart/2005/8/layout/vList2"/>
    <dgm:cxn modelId="{90A4710A-DADB-4B1D-9736-122E207389C3}" type="presParOf" srcId="{99C3FD9B-2DF1-4EE4-B9E3-43A56B7C1360}" destId="{AA96D77E-C2B6-408C-8C8C-3DA5074E38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6A0BA4B-879E-4A81-8C5B-029EAF0F5E40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6EDDD81-D4EA-48A4-9973-C240568A9224}">
      <dgm:prSet/>
      <dgm:spPr/>
      <dgm:t>
        <a:bodyPr/>
        <a:lstStyle/>
        <a:p>
          <a:r>
            <a:rPr lang="en-US" b="1"/>
            <a:t>Financial controls:  </a:t>
          </a:r>
          <a:endParaRPr lang="en-US"/>
        </a:p>
      </dgm:t>
    </dgm:pt>
    <dgm:pt modelId="{8D91F95A-BD4A-4445-8013-5D3DEEE14663}" type="parTrans" cxnId="{CD70FB96-4F0B-4E7F-B48C-901CA8308B75}">
      <dgm:prSet/>
      <dgm:spPr/>
      <dgm:t>
        <a:bodyPr/>
        <a:lstStyle/>
        <a:p>
          <a:endParaRPr lang="en-US"/>
        </a:p>
      </dgm:t>
    </dgm:pt>
    <dgm:pt modelId="{BAD1BD8E-639D-4BD7-8DA5-3D5A2E844ED0}" type="sibTrans" cxnId="{CD70FB96-4F0B-4E7F-B48C-901CA8308B75}">
      <dgm:prSet/>
      <dgm:spPr/>
      <dgm:t>
        <a:bodyPr/>
        <a:lstStyle/>
        <a:p>
          <a:endParaRPr lang="en-US"/>
        </a:p>
      </dgm:t>
    </dgm:pt>
    <dgm:pt modelId="{E1BFEF99-BEFA-4DEE-B346-109764C97B55}">
      <dgm:prSet/>
      <dgm:spPr/>
      <dgm:t>
        <a:bodyPr/>
        <a:lstStyle/>
        <a:p>
          <a:r>
            <a:rPr lang="en-US"/>
            <a:t>After the organization has strategies in place to reach its goals, funds are set aside for the necessary resources and labor. </a:t>
          </a:r>
        </a:p>
      </dgm:t>
    </dgm:pt>
    <dgm:pt modelId="{0B831E70-1119-4637-AFD6-6298E7FD4DA5}" type="parTrans" cxnId="{68FE1E1C-11E5-4EB1-9241-5C2A362F26A2}">
      <dgm:prSet/>
      <dgm:spPr/>
      <dgm:t>
        <a:bodyPr/>
        <a:lstStyle/>
        <a:p>
          <a:endParaRPr lang="en-US"/>
        </a:p>
      </dgm:t>
    </dgm:pt>
    <dgm:pt modelId="{19950431-76EB-49B5-B870-C300261C254D}" type="sibTrans" cxnId="{68FE1E1C-11E5-4EB1-9241-5C2A362F26A2}">
      <dgm:prSet/>
      <dgm:spPr/>
      <dgm:t>
        <a:bodyPr/>
        <a:lstStyle/>
        <a:p>
          <a:endParaRPr lang="en-US"/>
        </a:p>
      </dgm:t>
    </dgm:pt>
    <dgm:pt modelId="{799E58F6-7D8D-40D4-980D-845B22A6B0A6}">
      <dgm:prSet/>
      <dgm:spPr/>
      <dgm:t>
        <a:bodyPr/>
        <a:lstStyle/>
        <a:p>
          <a:r>
            <a:rPr lang="en-US"/>
            <a:t>As money is spent, statements are updated to reflect how much was spent, how it was spent, and what it obtained. </a:t>
          </a:r>
        </a:p>
      </dgm:t>
    </dgm:pt>
    <dgm:pt modelId="{BE7DEA95-2E45-4017-852E-00A70180FFD6}" type="parTrans" cxnId="{DE3678F0-8EAC-4630-AC99-B53EE7648650}">
      <dgm:prSet/>
      <dgm:spPr/>
      <dgm:t>
        <a:bodyPr/>
        <a:lstStyle/>
        <a:p>
          <a:endParaRPr lang="en-US"/>
        </a:p>
      </dgm:t>
    </dgm:pt>
    <dgm:pt modelId="{4218AE41-49F3-4ADA-85AD-76B3E2E46DB6}" type="sibTrans" cxnId="{DE3678F0-8EAC-4630-AC99-B53EE7648650}">
      <dgm:prSet/>
      <dgm:spPr/>
      <dgm:t>
        <a:bodyPr/>
        <a:lstStyle/>
        <a:p>
          <a:endParaRPr lang="en-US"/>
        </a:p>
      </dgm:t>
    </dgm:pt>
    <dgm:pt modelId="{D5023A7E-799D-425C-8E69-A9FEF17D70C7}">
      <dgm:prSet/>
      <dgm:spPr/>
      <dgm:t>
        <a:bodyPr/>
        <a:lstStyle/>
        <a:p>
          <a:r>
            <a:rPr lang="en-US"/>
            <a:t>Managers </a:t>
          </a:r>
          <a:r>
            <a:rPr lang="en-US" b="1" u="sng"/>
            <a:t>use these financial statements, such as an income statement or balance sheet, to monitor the progress of programs and plans. </a:t>
          </a:r>
          <a:r>
            <a:rPr lang="en-US"/>
            <a:t>Financial statements </a:t>
          </a:r>
          <a:r>
            <a:rPr lang="en-US" b="1" u="sng"/>
            <a:t>provide management with information to monitor financial resources and activities. </a:t>
          </a:r>
          <a:endParaRPr lang="en-US"/>
        </a:p>
      </dgm:t>
    </dgm:pt>
    <dgm:pt modelId="{880A7565-BC91-40C5-B613-809B4C9E5AAD}" type="parTrans" cxnId="{7E390785-F84A-4F1C-BB4A-8CD0E35D5EB1}">
      <dgm:prSet/>
      <dgm:spPr/>
      <dgm:t>
        <a:bodyPr/>
        <a:lstStyle/>
        <a:p>
          <a:endParaRPr lang="en-US"/>
        </a:p>
      </dgm:t>
    </dgm:pt>
    <dgm:pt modelId="{C60C6233-3C31-484B-A122-F1531D66ECA7}" type="sibTrans" cxnId="{7E390785-F84A-4F1C-BB4A-8CD0E35D5EB1}">
      <dgm:prSet/>
      <dgm:spPr/>
      <dgm:t>
        <a:bodyPr/>
        <a:lstStyle/>
        <a:p>
          <a:endParaRPr lang="en-US"/>
        </a:p>
      </dgm:t>
    </dgm:pt>
    <dgm:pt modelId="{ADD05F75-E778-44E1-AA8E-29FB28BD2B2B}">
      <dgm:prSet/>
      <dgm:spPr/>
      <dgm:t>
        <a:bodyPr/>
        <a:lstStyle/>
        <a:p>
          <a:r>
            <a:rPr lang="en-US"/>
            <a:t>The </a:t>
          </a:r>
          <a:r>
            <a:rPr lang="en-US" b="1" u="sng"/>
            <a:t>income statement shows the results of the organization’s operations over a period of time, such as revenues, expenses, and profit or loss. </a:t>
          </a:r>
          <a:endParaRPr lang="en-US"/>
        </a:p>
      </dgm:t>
    </dgm:pt>
    <dgm:pt modelId="{6B02AFA9-030D-4D24-BED2-2293F705F66C}" type="parTrans" cxnId="{D416CE15-C924-452A-A772-EA8ED17AE32F}">
      <dgm:prSet/>
      <dgm:spPr/>
      <dgm:t>
        <a:bodyPr/>
        <a:lstStyle/>
        <a:p>
          <a:endParaRPr lang="en-US"/>
        </a:p>
      </dgm:t>
    </dgm:pt>
    <dgm:pt modelId="{3D37047E-E1E3-4868-9860-BC8D0F4BE5EF}" type="sibTrans" cxnId="{D416CE15-C924-452A-A772-EA8ED17AE32F}">
      <dgm:prSet/>
      <dgm:spPr/>
      <dgm:t>
        <a:bodyPr/>
        <a:lstStyle/>
        <a:p>
          <a:endParaRPr lang="en-US"/>
        </a:p>
      </dgm:t>
    </dgm:pt>
    <dgm:pt modelId="{043852B5-BF6E-4BB6-9A43-3ABB2EBA3D67}">
      <dgm:prSet/>
      <dgm:spPr/>
      <dgm:t>
        <a:bodyPr/>
        <a:lstStyle/>
        <a:p>
          <a:r>
            <a:rPr lang="en-US"/>
            <a:t>The </a:t>
          </a:r>
          <a:r>
            <a:rPr lang="en-US" b="1" u="sng"/>
            <a:t>balance sheet shows what the organization is worth (assets) at a single point in time,</a:t>
          </a:r>
          <a:r>
            <a:rPr lang="en-US"/>
            <a:t> and </a:t>
          </a:r>
          <a:r>
            <a:rPr lang="en-US" b="1" u="sng"/>
            <a:t>the extent to which those assets were financed through debt (liabilities) or owner’s investment (equity).</a:t>
          </a:r>
          <a:endParaRPr lang="en-US"/>
        </a:p>
      </dgm:t>
    </dgm:pt>
    <dgm:pt modelId="{3ED84D0D-BD34-491D-B2A8-9B8905A05276}" type="parTrans" cxnId="{D69A4B9C-75E8-4DA4-BDE6-C84ED74659CE}">
      <dgm:prSet/>
      <dgm:spPr/>
      <dgm:t>
        <a:bodyPr/>
        <a:lstStyle/>
        <a:p>
          <a:endParaRPr lang="en-US"/>
        </a:p>
      </dgm:t>
    </dgm:pt>
    <dgm:pt modelId="{CB9181BD-387D-482D-AB6A-B5F55EE9C153}" type="sibTrans" cxnId="{D69A4B9C-75E8-4DA4-BDE6-C84ED74659CE}">
      <dgm:prSet/>
      <dgm:spPr/>
      <dgm:t>
        <a:bodyPr/>
        <a:lstStyle/>
        <a:p>
          <a:endParaRPr lang="en-US"/>
        </a:p>
      </dgm:t>
    </dgm:pt>
    <dgm:pt modelId="{243007EC-134E-4183-9F77-95BA8C0FF5BA}" type="pres">
      <dgm:prSet presAssocID="{F6A0BA4B-879E-4A81-8C5B-029EAF0F5E4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A03F25-45BB-4B1C-8CB7-F7AAB4150700}" type="pres">
      <dgm:prSet presAssocID="{76EDDD81-D4EA-48A4-9973-C240568A922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C4B28E-471B-4EA4-B914-A506C0C2425B}" type="pres">
      <dgm:prSet presAssocID="{76EDDD81-D4EA-48A4-9973-C240568A922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A36A17-7FBE-4A3D-B93B-B7CC13360EDF}" type="presOf" srcId="{043852B5-BF6E-4BB6-9A43-3ABB2EBA3D67}" destId="{CDC4B28E-471B-4EA4-B914-A506C0C2425B}" srcOrd="0" destOrd="4" presId="urn:microsoft.com/office/officeart/2005/8/layout/vList2"/>
    <dgm:cxn modelId="{6D869745-8582-4593-9BBE-F8907DF683B9}" type="presOf" srcId="{E1BFEF99-BEFA-4DEE-B346-109764C97B55}" destId="{CDC4B28E-471B-4EA4-B914-A506C0C2425B}" srcOrd="0" destOrd="0" presId="urn:microsoft.com/office/officeart/2005/8/layout/vList2"/>
    <dgm:cxn modelId="{E65109D3-667A-4564-BBCC-5D0E99249977}" type="presOf" srcId="{76EDDD81-D4EA-48A4-9973-C240568A9224}" destId="{32A03F25-45BB-4B1C-8CB7-F7AAB4150700}" srcOrd="0" destOrd="0" presId="urn:microsoft.com/office/officeart/2005/8/layout/vList2"/>
    <dgm:cxn modelId="{DE3678F0-8EAC-4630-AC99-B53EE7648650}" srcId="{76EDDD81-D4EA-48A4-9973-C240568A9224}" destId="{799E58F6-7D8D-40D4-980D-845B22A6B0A6}" srcOrd="1" destOrd="0" parTransId="{BE7DEA95-2E45-4017-852E-00A70180FFD6}" sibTransId="{4218AE41-49F3-4ADA-85AD-76B3E2E46DB6}"/>
    <dgm:cxn modelId="{985075E0-6F67-486D-9BD4-42EA991D9511}" type="presOf" srcId="{ADD05F75-E778-44E1-AA8E-29FB28BD2B2B}" destId="{CDC4B28E-471B-4EA4-B914-A506C0C2425B}" srcOrd="0" destOrd="3" presId="urn:microsoft.com/office/officeart/2005/8/layout/vList2"/>
    <dgm:cxn modelId="{D416CE15-C924-452A-A772-EA8ED17AE32F}" srcId="{76EDDD81-D4EA-48A4-9973-C240568A9224}" destId="{ADD05F75-E778-44E1-AA8E-29FB28BD2B2B}" srcOrd="3" destOrd="0" parTransId="{6B02AFA9-030D-4D24-BED2-2293F705F66C}" sibTransId="{3D37047E-E1E3-4868-9860-BC8D0F4BE5EF}"/>
    <dgm:cxn modelId="{7E390785-F84A-4F1C-BB4A-8CD0E35D5EB1}" srcId="{76EDDD81-D4EA-48A4-9973-C240568A9224}" destId="{D5023A7E-799D-425C-8E69-A9FEF17D70C7}" srcOrd="2" destOrd="0" parTransId="{880A7565-BC91-40C5-B613-809B4C9E5AAD}" sibTransId="{C60C6233-3C31-484B-A122-F1531D66ECA7}"/>
    <dgm:cxn modelId="{68FE1E1C-11E5-4EB1-9241-5C2A362F26A2}" srcId="{76EDDD81-D4EA-48A4-9973-C240568A9224}" destId="{E1BFEF99-BEFA-4DEE-B346-109764C97B55}" srcOrd="0" destOrd="0" parTransId="{0B831E70-1119-4637-AFD6-6298E7FD4DA5}" sibTransId="{19950431-76EB-49B5-B870-C300261C254D}"/>
    <dgm:cxn modelId="{D0336898-AA80-4824-BCF3-632E4B38FD83}" type="presOf" srcId="{F6A0BA4B-879E-4A81-8C5B-029EAF0F5E40}" destId="{243007EC-134E-4183-9F77-95BA8C0FF5BA}" srcOrd="0" destOrd="0" presId="urn:microsoft.com/office/officeart/2005/8/layout/vList2"/>
    <dgm:cxn modelId="{8008ACB5-40A4-4BC7-AED2-0C13FB1DEEBC}" type="presOf" srcId="{799E58F6-7D8D-40D4-980D-845B22A6B0A6}" destId="{CDC4B28E-471B-4EA4-B914-A506C0C2425B}" srcOrd="0" destOrd="1" presId="urn:microsoft.com/office/officeart/2005/8/layout/vList2"/>
    <dgm:cxn modelId="{D69A4B9C-75E8-4DA4-BDE6-C84ED74659CE}" srcId="{76EDDD81-D4EA-48A4-9973-C240568A9224}" destId="{043852B5-BF6E-4BB6-9A43-3ABB2EBA3D67}" srcOrd="4" destOrd="0" parTransId="{3ED84D0D-BD34-491D-B2A8-9B8905A05276}" sibTransId="{CB9181BD-387D-482D-AB6A-B5F55EE9C153}"/>
    <dgm:cxn modelId="{CD70FB96-4F0B-4E7F-B48C-901CA8308B75}" srcId="{F6A0BA4B-879E-4A81-8C5B-029EAF0F5E40}" destId="{76EDDD81-D4EA-48A4-9973-C240568A9224}" srcOrd="0" destOrd="0" parTransId="{8D91F95A-BD4A-4445-8013-5D3DEEE14663}" sibTransId="{BAD1BD8E-639D-4BD7-8DA5-3D5A2E844ED0}"/>
    <dgm:cxn modelId="{E794FB60-CD05-49F1-B928-4CD38BBE2285}" type="presOf" srcId="{D5023A7E-799D-425C-8E69-A9FEF17D70C7}" destId="{CDC4B28E-471B-4EA4-B914-A506C0C2425B}" srcOrd="0" destOrd="2" presId="urn:microsoft.com/office/officeart/2005/8/layout/vList2"/>
    <dgm:cxn modelId="{59DB0774-69EE-4274-A356-68588ED7F522}" type="presParOf" srcId="{243007EC-134E-4183-9F77-95BA8C0FF5BA}" destId="{32A03F25-45BB-4B1C-8CB7-F7AAB4150700}" srcOrd="0" destOrd="0" presId="urn:microsoft.com/office/officeart/2005/8/layout/vList2"/>
    <dgm:cxn modelId="{4573E8DA-6B9A-4B78-AF30-C19860760500}" type="presParOf" srcId="{243007EC-134E-4183-9F77-95BA8C0FF5BA}" destId="{CDC4B28E-471B-4EA4-B914-A506C0C2425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52D116F-CDDD-4C8C-BFEF-E0FFE9907347}" type="doc">
      <dgm:prSet loTypeId="urn:microsoft.com/office/officeart/2005/8/layout/vList2" loCatId="list" qsTypeId="urn:microsoft.com/office/officeart/2005/8/quickstyle/3d1" qsCatId="3D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E2B3718D-B164-471A-9E12-A489801215A5}">
      <dgm:prSet/>
      <dgm:spPr/>
      <dgm:t>
        <a:bodyPr/>
        <a:lstStyle/>
        <a:p>
          <a:r>
            <a:rPr lang="en-US" b="1" u="sng"/>
            <a:t>Financial audits, or formal investigations</a:t>
          </a:r>
          <a:r>
            <a:rPr lang="en-US"/>
            <a:t>, are regularly conducted </a:t>
          </a:r>
          <a:r>
            <a:rPr lang="en-US" b="1" u="sng"/>
            <a:t>to ensure that financial management practices follow generally accepted procedures, policies, laws, and ethical guidelines</a:t>
          </a:r>
          <a:r>
            <a:rPr lang="en-US"/>
            <a:t>. </a:t>
          </a:r>
        </a:p>
      </dgm:t>
    </dgm:pt>
    <dgm:pt modelId="{E14A30A1-DBA0-4FFE-B43A-17BA2570B172}" type="parTrans" cxnId="{6FB0FABE-1114-4FA3-9559-C2B5D9A7066D}">
      <dgm:prSet/>
      <dgm:spPr/>
      <dgm:t>
        <a:bodyPr/>
        <a:lstStyle/>
        <a:p>
          <a:endParaRPr lang="en-US"/>
        </a:p>
      </dgm:t>
    </dgm:pt>
    <dgm:pt modelId="{B141E13D-A25B-41CE-879E-7791E9856583}" type="sibTrans" cxnId="{6FB0FABE-1114-4FA3-9559-C2B5D9A7066D}">
      <dgm:prSet/>
      <dgm:spPr/>
      <dgm:t>
        <a:bodyPr/>
        <a:lstStyle/>
        <a:p>
          <a:endParaRPr lang="en-US"/>
        </a:p>
      </dgm:t>
    </dgm:pt>
    <dgm:pt modelId="{49A7CF1B-3059-48EF-8460-CAA8A0584951}">
      <dgm:prSet/>
      <dgm:spPr/>
      <dgm:t>
        <a:bodyPr/>
        <a:lstStyle/>
        <a:p>
          <a:r>
            <a:rPr lang="en-US"/>
            <a:t>Audits may be conducted internally or externally. </a:t>
          </a:r>
        </a:p>
      </dgm:t>
    </dgm:pt>
    <dgm:pt modelId="{22FC55E3-CB3E-47A5-834C-8837915F56D4}" type="parTrans" cxnId="{80623DF3-88F1-40A7-AB12-04F7A2D30059}">
      <dgm:prSet/>
      <dgm:spPr/>
      <dgm:t>
        <a:bodyPr/>
        <a:lstStyle/>
        <a:p>
          <a:endParaRPr lang="en-US"/>
        </a:p>
      </dgm:t>
    </dgm:pt>
    <dgm:pt modelId="{A2F80873-1E5F-4BD5-A96D-48624929C8F3}" type="sibTrans" cxnId="{80623DF3-88F1-40A7-AB12-04F7A2D30059}">
      <dgm:prSet/>
      <dgm:spPr/>
      <dgm:t>
        <a:bodyPr/>
        <a:lstStyle/>
        <a:p>
          <a:endParaRPr lang="en-US"/>
        </a:p>
      </dgm:t>
    </dgm:pt>
    <dgm:pt modelId="{9D4A1BA0-ACE2-48E3-B3E8-6CE145B52939}">
      <dgm:prSet/>
      <dgm:spPr/>
      <dgm:t>
        <a:bodyPr/>
        <a:lstStyle/>
        <a:p>
          <a:r>
            <a:rPr lang="en-US" b="1" u="sng" dirty="0"/>
            <a:t>Financial ratio analysis examines the relationship between specific figures on the financial statements </a:t>
          </a:r>
          <a:r>
            <a:rPr lang="en-US" dirty="0"/>
            <a:t>and </a:t>
          </a:r>
          <a:r>
            <a:rPr lang="en-US" b="1" dirty="0"/>
            <a:t>helps explain the significance of those figures: </a:t>
          </a:r>
          <a:endParaRPr lang="en-US" dirty="0"/>
        </a:p>
      </dgm:t>
    </dgm:pt>
    <dgm:pt modelId="{41452F08-B909-4534-A21C-9FCE933335A9}" type="parTrans" cxnId="{931EB3E4-B40B-497E-AFC5-EB4AA1BB07DA}">
      <dgm:prSet/>
      <dgm:spPr/>
      <dgm:t>
        <a:bodyPr/>
        <a:lstStyle/>
        <a:p>
          <a:endParaRPr lang="en-US"/>
        </a:p>
      </dgm:t>
    </dgm:pt>
    <dgm:pt modelId="{B9628845-C6F0-4C04-A11A-5BDA11FE3C82}" type="sibTrans" cxnId="{931EB3E4-B40B-497E-AFC5-EB4AA1BB07DA}">
      <dgm:prSet/>
      <dgm:spPr/>
      <dgm:t>
        <a:bodyPr/>
        <a:lstStyle/>
        <a:p>
          <a:endParaRPr lang="en-US"/>
        </a:p>
      </dgm:t>
    </dgm:pt>
    <dgm:pt modelId="{449C52E4-CAE2-42A9-9850-28716CC1137B}">
      <dgm:prSet/>
      <dgm:spPr/>
      <dgm:t>
        <a:bodyPr/>
        <a:lstStyle/>
        <a:p>
          <a:r>
            <a:rPr lang="en-US" b="1"/>
            <a:t>Liquidity ratios measure an organization’s ability to generate cash. </a:t>
          </a:r>
          <a:endParaRPr lang="en-US"/>
        </a:p>
      </dgm:t>
    </dgm:pt>
    <dgm:pt modelId="{96ADE9CE-F029-495A-B643-0DD6EBFAD31D}" type="parTrans" cxnId="{73EFEE76-EE3D-4ECF-93D6-9EC9862E1403}">
      <dgm:prSet/>
      <dgm:spPr/>
      <dgm:t>
        <a:bodyPr/>
        <a:lstStyle/>
        <a:p>
          <a:endParaRPr lang="en-US"/>
        </a:p>
      </dgm:t>
    </dgm:pt>
    <dgm:pt modelId="{AE4FC84A-374C-4446-B21C-95C7E97DF46E}" type="sibTrans" cxnId="{73EFEE76-EE3D-4ECF-93D6-9EC9862E1403}">
      <dgm:prSet/>
      <dgm:spPr/>
      <dgm:t>
        <a:bodyPr/>
        <a:lstStyle/>
        <a:p>
          <a:endParaRPr lang="en-US"/>
        </a:p>
      </dgm:t>
    </dgm:pt>
    <dgm:pt modelId="{395F9369-25C7-4748-8FDF-D3290F641D85}">
      <dgm:prSet/>
      <dgm:spPr/>
      <dgm:t>
        <a:bodyPr/>
        <a:lstStyle/>
        <a:p>
          <a:r>
            <a:rPr lang="en-US" b="1"/>
            <a:t>Profitability ratios measure an organization’s ability to generate profits. </a:t>
          </a:r>
          <a:endParaRPr lang="en-US"/>
        </a:p>
      </dgm:t>
    </dgm:pt>
    <dgm:pt modelId="{0BB09806-0EE0-45CB-99AD-8D0817CE95D0}" type="parTrans" cxnId="{410DEF24-A1E4-4708-A4AE-C6B6E7E40889}">
      <dgm:prSet/>
      <dgm:spPr/>
      <dgm:t>
        <a:bodyPr/>
        <a:lstStyle/>
        <a:p>
          <a:endParaRPr lang="en-US"/>
        </a:p>
      </dgm:t>
    </dgm:pt>
    <dgm:pt modelId="{9DECA985-970E-4429-AAB3-3667C55DA5F1}" type="sibTrans" cxnId="{410DEF24-A1E4-4708-A4AE-C6B6E7E40889}">
      <dgm:prSet/>
      <dgm:spPr/>
      <dgm:t>
        <a:bodyPr/>
        <a:lstStyle/>
        <a:p>
          <a:endParaRPr lang="en-US"/>
        </a:p>
      </dgm:t>
    </dgm:pt>
    <dgm:pt modelId="{D906ECE5-A324-4737-8561-E2999B16C285}">
      <dgm:prSet/>
      <dgm:spPr/>
      <dgm:t>
        <a:bodyPr/>
        <a:lstStyle/>
        <a:p>
          <a:r>
            <a:rPr lang="en-US" b="1"/>
            <a:t>Debt ratios measure an organization’s ability to pay its debts. </a:t>
          </a:r>
          <a:endParaRPr lang="en-US"/>
        </a:p>
      </dgm:t>
    </dgm:pt>
    <dgm:pt modelId="{3720C458-F9AB-4D69-B6CD-2FAE7F5B327F}" type="parTrans" cxnId="{0088A190-E80F-49C8-8B92-83EADC42AB70}">
      <dgm:prSet/>
      <dgm:spPr/>
      <dgm:t>
        <a:bodyPr/>
        <a:lstStyle/>
        <a:p>
          <a:endParaRPr lang="en-US"/>
        </a:p>
      </dgm:t>
    </dgm:pt>
    <dgm:pt modelId="{3CA21FF5-23D7-4B4C-B223-DCA57C24E513}" type="sibTrans" cxnId="{0088A190-E80F-49C8-8B92-83EADC42AB70}">
      <dgm:prSet/>
      <dgm:spPr/>
      <dgm:t>
        <a:bodyPr/>
        <a:lstStyle/>
        <a:p>
          <a:endParaRPr lang="en-US"/>
        </a:p>
      </dgm:t>
    </dgm:pt>
    <dgm:pt modelId="{F4CCCD8D-D4D9-4E19-8AC3-A9761AD2081E}">
      <dgm:prSet/>
      <dgm:spPr/>
      <dgm:t>
        <a:bodyPr/>
        <a:lstStyle/>
        <a:p>
          <a:r>
            <a:rPr lang="en-US" b="1"/>
            <a:t>Activity ratios measure an organization’s efficiency in operations and use of assets. </a:t>
          </a:r>
          <a:endParaRPr lang="en-US"/>
        </a:p>
      </dgm:t>
    </dgm:pt>
    <dgm:pt modelId="{AAFDB686-DE82-481B-92E2-68B45EAB1721}" type="parTrans" cxnId="{EBBE4A5C-6EDE-4574-BEF8-F31C08982A88}">
      <dgm:prSet/>
      <dgm:spPr/>
      <dgm:t>
        <a:bodyPr/>
        <a:lstStyle/>
        <a:p>
          <a:endParaRPr lang="en-US"/>
        </a:p>
      </dgm:t>
    </dgm:pt>
    <dgm:pt modelId="{A1DD9BF4-3CD3-4249-B5FE-A70354AF0C98}" type="sibTrans" cxnId="{EBBE4A5C-6EDE-4574-BEF8-F31C08982A88}">
      <dgm:prSet/>
      <dgm:spPr/>
      <dgm:t>
        <a:bodyPr/>
        <a:lstStyle/>
        <a:p>
          <a:endParaRPr lang="en-US"/>
        </a:p>
      </dgm:t>
    </dgm:pt>
    <dgm:pt modelId="{2F95ABC8-1F2C-4BFA-87A4-271E2E827A1B}" type="pres">
      <dgm:prSet presAssocID="{A52D116F-CDDD-4C8C-BFEF-E0FFE990734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90ADDC-D7B5-4BAF-B50F-0283008F799C}" type="pres">
      <dgm:prSet presAssocID="{E2B3718D-B164-471A-9E12-A489801215A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60F25F-185A-495D-B987-8AAF32183B37}" type="pres">
      <dgm:prSet presAssocID="{B141E13D-A25B-41CE-879E-7791E9856583}" presName="spacer" presStyleCnt="0"/>
      <dgm:spPr/>
    </dgm:pt>
    <dgm:pt modelId="{78AB2BB4-821A-42AF-A275-E4B1C9327123}" type="pres">
      <dgm:prSet presAssocID="{49A7CF1B-3059-48EF-8460-CAA8A0584951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8B9B40-97BC-4718-B07E-2F065E828386}" type="pres">
      <dgm:prSet presAssocID="{A2F80873-1E5F-4BD5-A96D-48624929C8F3}" presName="spacer" presStyleCnt="0"/>
      <dgm:spPr/>
    </dgm:pt>
    <dgm:pt modelId="{A4CA197C-F8E6-417C-96BD-574C4AF46846}" type="pres">
      <dgm:prSet presAssocID="{9D4A1BA0-ACE2-48E3-B3E8-6CE145B52939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65928A-043E-4ED7-A263-8C6D3F377E11}" type="pres">
      <dgm:prSet presAssocID="{B9628845-C6F0-4C04-A11A-5BDA11FE3C82}" presName="spacer" presStyleCnt="0"/>
      <dgm:spPr/>
    </dgm:pt>
    <dgm:pt modelId="{E49172EE-E1D8-49A4-B418-9F7502D59895}" type="pres">
      <dgm:prSet presAssocID="{449C52E4-CAE2-42A9-9850-28716CC1137B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967E9F-5852-41C5-AE89-47CB8FB079BE}" type="pres">
      <dgm:prSet presAssocID="{AE4FC84A-374C-4446-B21C-95C7E97DF46E}" presName="spacer" presStyleCnt="0"/>
      <dgm:spPr/>
    </dgm:pt>
    <dgm:pt modelId="{2B3B1330-13DC-4196-B91A-F3EDB6ABBE6B}" type="pres">
      <dgm:prSet presAssocID="{395F9369-25C7-4748-8FDF-D3290F641D85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55988A-C671-4878-ADCD-1694E5C62A71}" type="pres">
      <dgm:prSet presAssocID="{9DECA985-970E-4429-AAB3-3667C55DA5F1}" presName="spacer" presStyleCnt="0"/>
      <dgm:spPr/>
    </dgm:pt>
    <dgm:pt modelId="{58CC9927-0515-40FC-946D-6A7C0C767F61}" type="pres">
      <dgm:prSet presAssocID="{D906ECE5-A324-4737-8561-E2999B16C285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119051-37FF-48A6-8487-ADDA69AFDB96}" type="pres">
      <dgm:prSet presAssocID="{3CA21FF5-23D7-4B4C-B223-DCA57C24E513}" presName="spacer" presStyleCnt="0"/>
      <dgm:spPr/>
    </dgm:pt>
    <dgm:pt modelId="{F5A623D4-78E5-417E-B5B2-3A907B112D8E}" type="pres">
      <dgm:prSet presAssocID="{F4CCCD8D-D4D9-4E19-8AC3-A9761AD2081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FB170A-6537-49CB-AC30-89382AF36779}" type="presOf" srcId="{E2B3718D-B164-471A-9E12-A489801215A5}" destId="{6490ADDC-D7B5-4BAF-B50F-0283008F799C}" srcOrd="0" destOrd="0" presId="urn:microsoft.com/office/officeart/2005/8/layout/vList2"/>
    <dgm:cxn modelId="{86FA7539-D463-45CC-B7CB-0D66056021FE}" type="presOf" srcId="{F4CCCD8D-D4D9-4E19-8AC3-A9761AD2081E}" destId="{F5A623D4-78E5-417E-B5B2-3A907B112D8E}" srcOrd="0" destOrd="0" presId="urn:microsoft.com/office/officeart/2005/8/layout/vList2"/>
    <dgm:cxn modelId="{B3CD0246-67AC-49D8-BB69-B7EEFCE6B895}" type="presOf" srcId="{A52D116F-CDDD-4C8C-BFEF-E0FFE9907347}" destId="{2F95ABC8-1F2C-4BFA-87A4-271E2E827A1B}" srcOrd="0" destOrd="0" presId="urn:microsoft.com/office/officeart/2005/8/layout/vList2"/>
    <dgm:cxn modelId="{EBBE4A5C-6EDE-4574-BEF8-F31C08982A88}" srcId="{A52D116F-CDDD-4C8C-BFEF-E0FFE9907347}" destId="{F4CCCD8D-D4D9-4E19-8AC3-A9761AD2081E}" srcOrd="6" destOrd="0" parTransId="{AAFDB686-DE82-481B-92E2-68B45EAB1721}" sibTransId="{A1DD9BF4-3CD3-4249-B5FE-A70354AF0C98}"/>
    <dgm:cxn modelId="{0088A190-E80F-49C8-8B92-83EADC42AB70}" srcId="{A52D116F-CDDD-4C8C-BFEF-E0FFE9907347}" destId="{D906ECE5-A324-4737-8561-E2999B16C285}" srcOrd="5" destOrd="0" parTransId="{3720C458-F9AB-4D69-B6CD-2FAE7F5B327F}" sibTransId="{3CA21FF5-23D7-4B4C-B223-DCA57C24E513}"/>
    <dgm:cxn modelId="{73EFEE76-EE3D-4ECF-93D6-9EC9862E1403}" srcId="{A52D116F-CDDD-4C8C-BFEF-E0FFE9907347}" destId="{449C52E4-CAE2-42A9-9850-28716CC1137B}" srcOrd="3" destOrd="0" parTransId="{96ADE9CE-F029-495A-B643-0DD6EBFAD31D}" sibTransId="{AE4FC84A-374C-4446-B21C-95C7E97DF46E}"/>
    <dgm:cxn modelId="{6FB0FABE-1114-4FA3-9559-C2B5D9A7066D}" srcId="{A52D116F-CDDD-4C8C-BFEF-E0FFE9907347}" destId="{E2B3718D-B164-471A-9E12-A489801215A5}" srcOrd="0" destOrd="0" parTransId="{E14A30A1-DBA0-4FFE-B43A-17BA2570B172}" sibTransId="{B141E13D-A25B-41CE-879E-7791E9856583}"/>
    <dgm:cxn modelId="{B1BA03DE-4E9B-43EB-84CF-D2AC2C87835E}" type="presOf" srcId="{9D4A1BA0-ACE2-48E3-B3E8-6CE145B52939}" destId="{A4CA197C-F8E6-417C-96BD-574C4AF46846}" srcOrd="0" destOrd="0" presId="urn:microsoft.com/office/officeart/2005/8/layout/vList2"/>
    <dgm:cxn modelId="{80623DF3-88F1-40A7-AB12-04F7A2D30059}" srcId="{A52D116F-CDDD-4C8C-BFEF-E0FFE9907347}" destId="{49A7CF1B-3059-48EF-8460-CAA8A0584951}" srcOrd="1" destOrd="0" parTransId="{22FC55E3-CB3E-47A5-834C-8837915F56D4}" sibTransId="{A2F80873-1E5F-4BD5-A96D-48624929C8F3}"/>
    <dgm:cxn modelId="{5378F8D2-085E-47B5-8B24-D561EB9E52C8}" type="presOf" srcId="{395F9369-25C7-4748-8FDF-D3290F641D85}" destId="{2B3B1330-13DC-4196-B91A-F3EDB6ABBE6B}" srcOrd="0" destOrd="0" presId="urn:microsoft.com/office/officeart/2005/8/layout/vList2"/>
    <dgm:cxn modelId="{0F4000A7-238D-4446-B672-258826A7F15A}" type="presOf" srcId="{D906ECE5-A324-4737-8561-E2999B16C285}" destId="{58CC9927-0515-40FC-946D-6A7C0C767F61}" srcOrd="0" destOrd="0" presId="urn:microsoft.com/office/officeart/2005/8/layout/vList2"/>
    <dgm:cxn modelId="{1F3907DA-701A-430B-A85E-D68C5BD9F9FD}" type="presOf" srcId="{49A7CF1B-3059-48EF-8460-CAA8A0584951}" destId="{78AB2BB4-821A-42AF-A275-E4B1C9327123}" srcOrd="0" destOrd="0" presId="urn:microsoft.com/office/officeart/2005/8/layout/vList2"/>
    <dgm:cxn modelId="{A7CC9188-2CAC-4A49-85CD-739C4D489016}" type="presOf" srcId="{449C52E4-CAE2-42A9-9850-28716CC1137B}" destId="{E49172EE-E1D8-49A4-B418-9F7502D59895}" srcOrd="0" destOrd="0" presId="urn:microsoft.com/office/officeart/2005/8/layout/vList2"/>
    <dgm:cxn modelId="{931EB3E4-B40B-497E-AFC5-EB4AA1BB07DA}" srcId="{A52D116F-CDDD-4C8C-BFEF-E0FFE9907347}" destId="{9D4A1BA0-ACE2-48E3-B3E8-6CE145B52939}" srcOrd="2" destOrd="0" parTransId="{41452F08-B909-4534-A21C-9FCE933335A9}" sibTransId="{B9628845-C6F0-4C04-A11A-5BDA11FE3C82}"/>
    <dgm:cxn modelId="{410DEF24-A1E4-4708-A4AE-C6B6E7E40889}" srcId="{A52D116F-CDDD-4C8C-BFEF-E0FFE9907347}" destId="{395F9369-25C7-4748-8FDF-D3290F641D85}" srcOrd="4" destOrd="0" parTransId="{0BB09806-0EE0-45CB-99AD-8D0817CE95D0}" sibTransId="{9DECA985-970E-4429-AAB3-3667C55DA5F1}"/>
    <dgm:cxn modelId="{EC19D173-7926-4494-9F24-04F07E52B68C}" type="presParOf" srcId="{2F95ABC8-1F2C-4BFA-87A4-271E2E827A1B}" destId="{6490ADDC-D7B5-4BAF-B50F-0283008F799C}" srcOrd="0" destOrd="0" presId="urn:microsoft.com/office/officeart/2005/8/layout/vList2"/>
    <dgm:cxn modelId="{F8764230-2B7B-4D2E-A02B-F8B73E9919EF}" type="presParOf" srcId="{2F95ABC8-1F2C-4BFA-87A4-271E2E827A1B}" destId="{1160F25F-185A-495D-B987-8AAF32183B37}" srcOrd="1" destOrd="0" presId="urn:microsoft.com/office/officeart/2005/8/layout/vList2"/>
    <dgm:cxn modelId="{D79238B1-D22D-44B8-984C-A6B82B31DE8B}" type="presParOf" srcId="{2F95ABC8-1F2C-4BFA-87A4-271E2E827A1B}" destId="{78AB2BB4-821A-42AF-A275-E4B1C9327123}" srcOrd="2" destOrd="0" presId="urn:microsoft.com/office/officeart/2005/8/layout/vList2"/>
    <dgm:cxn modelId="{2D233BA1-F8E1-4B7A-B54D-EFF75D3193A7}" type="presParOf" srcId="{2F95ABC8-1F2C-4BFA-87A4-271E2E827A1B}" destId="{A08B9B40-97BC-4718-B07E-2F065E828386}" srcOrd="3" destOrd="0" presId="urn:microsoft.com/office/officeart/2005/8/layout/vList2"/>
    <dgm:cxn modelId="{89A3F81B-B8A6-431C-9BAF-57B35168FD60}" type="presParOf" srcId="{2F95ABC8-1F2C-4BFA-87A4-271E2E827A1B}" destId="{A4CA197C-F8E6-417C-96BD-574C4AF46846}" srcOrd="4" destOrd="0" presId="urn:microsoft.com/office/officeart/2005/8/layout/vList2"/>
    <dgm:cxn modelId="{76659BDC-6EC2-42C6-AFC0-AF4704D8A2F4}" type="presParOf" srcId="{2F95ABC8-1F2C-4BFA-87A4-271E2E827A1B}" destId="{0F65928A-043E-4ED7-A263-8C6D3F377E11}" srcOrd="5" destOrd="0" presId="urn:microsoft.com/office/officeart/2005/8/layout/vList2"/>
    <dgm:cxn modelId="{8D73A304-9CCE-4413-9DD1-5739FEB129D0}" type="presParOf" srcId="{2F95ABC8-1F2C-4BFA-87A4-271E2E827A1B}" destId="{E49172EE-E1D8-49A4-B418-9F7502D59895}" srcOrd="6" destOrd="0" presId="urn:microsoft.com/office/officeart/2005/8/layout/vList2"/>
    <dgm:cxn modelId="{EAD56E9A-EB6B-40AC-B872-0FC13E2F7A2C}" type="presParOf" srcId="{2F95ABC8-1F2C-4BFA-87A4-271E2E827A1B}" destId="{C4967E9F-5852-41C5-AE89-47CB8FB079BE}" srcOrd="7" destOrd="0" presId="urn:microsoft.com/office/officeart/2005/8/layout/vList2"/>
    <dgm:cxn modelId="{54F81C74-5115-4612-A5CE-291610A0EB86}" type="presParOf" srcId="{2F95ABC8-1F2C-4BFA-87A4-271E2E827A1B}" destId="{2B3B1330-13DC-4196-B91A-F3EDB6ABBE6B}" srcOrd="8" destOrd="0" presId="urn:microsoft.com/office/officeart/2005/8/layout/vList2"/>
    <dgm:cxn modelId="{36754262-46AA-4DE7-BFCC-9E04CDD862BD}" type="presParOf" srcId="{2F95ABC8-1F2C-4BFA-87A4-271E2E827A1B}" destId="{5855988A-C671-4878-ADCD-1694E5C62A71}" srcOrd="9" destOrd="0" presId="urn:microsoft.com/office/officeart/2005/8/layout/vList2"/>
    <dgm:cxn modelId="{3114FA9F-4419-4E13-A181-DC114E158AD2}" type="presParOf" srcId="{2F95ABC8-1F2C-4BFA-87A4-271E2E827A1B}" destId="{58CC9927-0515-40FC-946D-6A7C0C767F61}" srcOrd="10" destOrd="0" presId="urn:microsoft.com/office/officeart/2005/8/layout/vList2"/>
    <dgm:cxn modelId="{86A5E8A7-E362-4A50-82BF-B03AA69F8402}" type="presParOf" srcId="{2F95ABC8-1F2C-4BFA-87A4-271E2E827A1B}" destId="{10119051-37FF-48A6-8487-ADDA69AFDB96}" srcOrd="11" destOrd="0" presId="urn:microsoft.com/office/officeart/2005/8/layout/vList2"/>
    <dgm:cxn modelId="{064B1717-1213-4139-9FE6-E403AB47B57E}" type="presParOf" srcId="{2F95ABC8-1F2C-4BFA-87A4-271E2E827A1B}" destId="{F5A623D4-78E5-417E-B5B2-3A907B112D8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6E42899-23F9-4434-879C-4AC4A2D6B1EB}" type="doc">
      <dgm:prSet loTypeId="urn:microsoft.com/office/officeart/2005/8/layout/vList2" loCatId="list" qsTypeId="urn:microsoft.com/office/officeart/2005/8/quickstyle/3d1" qsCatId="3D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AD885620-CD54-4053-9CD3-D1661317B449}">
      <dgm:prSet/>
      <dgm:spPr/>
      <dgm:t>
        <a:bodyPr/>
        <a:lstStyle/>
        <a:p>
          <a:r>
            <a:rPr lang="en-US"/>
            <a:t>In addition, </a:t>
          </a:r>
          <a:r>
            <a:rPr lang="en-US" b="1" u="sng"/>
            <a:t>financial responsibility centers require managers to account for a unit’s progress toward financial goals </a:t>
          </a:r>
          <a:r>
            <a:rPr lang="en-US"/>
            <a:t>within the scope of their influences. </a:t>
          </a:r>
        </a:p>
      </dgm:t>
    </dgm:pt>
    <dgm:pt modelId="{F89AE64E-C367-457D-9B16-9348CF315799}" type="parTrans" cxnId="{CA90D36A-0EBD-4FA9-ABAC-63D1A5547156}">
      <dgm:prSet/>
      <dgm:spPr/>
      <dgm:t>
        <a:bodyPr/>
        <a:lstStyle/>
        <a:p>
          <a:endParaRPr lang="en-US"/>
        </a:p>
      </dgm:t>
    </dgm:pt>
    <dgm:pt modelId="{B2E4FC27-DE8C-4513-8A9C-CD35A298DF00}" type="sibTrans" cxnId="{CA90D36A-0EBD-4FA9-ABAC-63D1A5547156}">
      <dgm:prSet/>
      <dgm:spPr/>
      <dgm:t>
        <a:bodyPr/>
        <a:lstStyle/>
        <a:p>
          <a:endParaRPr lang="en-US"/>
        </a:p>
      </dgm:t>
    </dgm:pt>
    <dgm:pt modelId="{8F96B0DF-C261-42D5-8314-2DE764AD89AF}">
      <dgm:prSet/>
      <dgm:spPr/>
      <dgm:t>
        <a:bodyPr/>
        <a:lstStyle/>
        <a:p>
          <a:r>
            <a:rPr lang="en-US"/>
            <a:t>A manager’s goals and responsibilities </a:t>
          </a:r>
          <a:r>
            <a:rPr lang="en-US" b="1"/>
            <a:t>may focus on unit profits, costs, revenues, or investments.</a:t>
          </a:r>
          <a:endParaRPr lang="en-US"/>
        </a:p>
      </dgm:t>
    </dgm:pt>
    <dgm:pt modelId="{503025CF-C3A4-4C98-87B0-1CF29A0E70C0}" type="parTrans" cxnId="{57A93095-8FE5-4E03-8A2C-941A93AFF273}">
      <dgm:prSet/>
      <dgm:spPr/>
      <dgm:t>
        <a:bodyPr/>
        <a:lstStyle/>
        <a:p>
          <a:endParaRPr lang="en-US"/>
        </a:p>
      </dgm:t>
    </dgm:pt>
    <dgm:pt modelId="{FC872D6C-BB6F-4BB2-B7AD-9998D5A82909}" type="sibTrans" cxnId="{57A93095-8FE5-4E03-8A2C-941A93AFF273}">
      <dgm:prSet/>
      <dgm:spPr/>
      <dgm:t>
        <a:bodyPr/>
        <a:lstStyle/>
        <a:p>
          <a:endParaRPr lang="en-US"/>
        </a:p>
      </dgm:t>
    </dgm:pt>
    <dgm:pt modelId="{180C4F67-640D-4CB3-A06E-11F1351238B5}" type="pres">
      <dgm:prSet presAssocID="{A6E42899-23F9-4434-879C-4AC4A2D6B1E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F19A5B6-7A6A-47AC-AF70-827DEA948747}" type="pres">
      <dgm:prSet presAssocID="{AD885620-CD54-4053-9CD3-D1661317B449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B6CC1E-75D8-4D3E-B2FB-47F41E862CD8}" type="pres">
      <dgm:prSet presAssocID="{B2E4FC27-DE8C-4513-8A9C-CD35A298DF00}" presName="spacer" presStyleCnt="0"/>
      <dgm:spPr/>
    </dgm:pt>
    <dgm:pt modelId="{4CEA5898-EE1C-4A73-AD84-9736D883D644}" type="pres">
      <dgm:prSet presAssocID="{8F96B0DF-C261-42D5-8314-2DE764AD89A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595FC9-7735-4FED-B5E7-B41A27C51B97}" type="presOf" srcId="{A6E42899-23F9-4434-879C-4AC4A2D6B1EB}" destId="{180C4F67-640D-4CB3-A06E-11F1351238B5}" srcOrd="0" destOrd="0" presId="urn:microsoft.com/office/officeart/2005/8/layout/vList2"/>
    <dgm:cxn modelId="{57A93095-8FE5-4E03-8A2C-941A93AFF273}" srcId="{A6E42899-23F9-4434-879C-4AC4A2D6B1EB}" destId="{8F96B0DF-C261-42D5-8314-2DE764AD89AF}" srcOrd="1" destOrd="0" parTransId="{503025CF-C3A4-4C98-87B0-1CF29A0E70C0}" sibTransId="{FC872D6C-BB6F-4BB2-B7AD-9998D5A82909}"/>
    <dgm:cxn modelId="{CA90D36A-0EBD-4FA9-ABAC-63D1A5547156}" srcId="{A6E42899-23F9-4434-879C-4AC4A2D6B1EB}" destId="{AD885620-CD54-4053-9CD3-D1661317B449}" srcOrd="0" destOrd="0" parTransId="{F89AE64E-C367-457D-9B16-9348CF315799}" sibTransId="{B2E4FC27-DE8C-4513-8A9C-CD35A298DF00}"/>
    <dgm:cxn modelId="{E77BAC5E-9951-41F2-BCE9-5B6921BAA62C}" type="presOf" srcId="{AD885620-CD54-4053-9CD3-D1661317B449}" destId="{6F19A5B6-7A6A-47AC-AF70-827DEA948747}" srcOrd="0" destOrd="0" presId="urn:microsoft.com/office/officeart/2005/8/layout/vList2"/>
    <dgm:cxn modelId="{D3D08C9C-CBA3-4DFE-A8A6-C9580B2C11B6}" type="presOf" srcId="{8F96B0DF-C261-42D5-8314-2DE764AD89AF}" destId="{4CEA5898-EE1C-4A73-AD84-9736D883D644}" srcOrd="0" destOrd="0" presId="urn:microsoft.com/office/officeart/2005/8/layout/vList2"/>
    <dgm:cxn modelId="{5353E38B-F9AB-4D4E-BC46-FB6FCEA0CC7B}" type="presParOf" srcId="{180C4F67-640D-4CB3-A06E-11F1351238B5}" destId="{6F19A5B6-7A6A-47AC-AF70-827DEA948747}" srcOrd="0" destOrd="0" presId="urn:microsoft.com/office/officeart/2005/8/layout/vList2"/>
    <dgm:cxn modelId="{C8087A56-9F49-484B-92B6-2742D7DCA409}" type="presParOf" srcId="{180C4F67-640D-4CB3-A06E-11F1351238B5}" destId="{9EB6CC1E-75D8-4D3E-B2FB-47F41E862CD8}" srcOrd="1" destOrd="0" presId="urn:microsoft.com/office/officeart/2005/8/layout/vList2"/>
    <dgm:cxn modelId="{8DCA1116-7208-484C-A29E-EAEE8A2CC918}" type="presParOf" srcId="{180C4F67-640D-4CB3-A06E-11F1351238B5}" destId="{4CEA5898-EE1C-4A73-AD84-9736D883D6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0C81ABE-B5E0-42D9-96C2-6035C9FF081D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FA8B9F1-8358-4158-8DF6-CDF2D394B621}">
      <dgm:prSet/>
      <dgm:spPr/>
      <dgm:t>
        <a:bodyPr/>
        <a:lstStyle/>
        <a:p>
          <a:r>
            <a:rPr lang="en-US" b="1"/>
            <a:t>Budget controls: </a:t>
          </a:r>
          <a:r>
            <a:rPr lang="en-US"/>
            <a:t>Some budget development methods are as follows: </a:t>
          </a:r>
        </a:p>
      </dgm:t>
    </dgm:pt>
    <dgm:pt modelId="{79E65284-5055-4279-BE5D-6DA97F0C250B}" type="parTrans" cxnId="{0F1479D8-C138-438B-B31F-207D35F1CB33}">
      <dgm:prSet/>
      <dgm:spPr/>
      <dgm:t>
        <a:bodyPr/>
        <a:lstStyle/>
        <a:p>
          <a:endParaRPr lang="en-US"/>
        </a:p>
      </dgm:t>
    </dgm:pt>
    <dgm:pt modelId="{71BD7AD1-6FB2-44FC-A051-7B4B8142E199}" type="sibTrans" cxnId="{0F1479D8-C138-438B-B31F-207D35F1CB33}">
      <dgm:prSet/>
      <dgm:spPr/>
      <dgm:t>
        <a:bodyPr/>
        <a:lstStyle/>
        <a:p>
          <a:endParaRPr lang="en-US"/>
        </a:p>
      </dgm:t>
    </dgm:pt>
    <dgm:pt modelId="{FB21D0AC-89FE-48FE-8A55-6ACFCB70B07C}">
      <dgm:prSet/>
      <dgm:spPr/>
      <dgm:t>
        <a:bodyPr/>
        <a:lstStyle/>
        <a:p>
          <a:pPr algn="l"/>
          <a:r>
            <a:rPr lang="en-US" b="1" u="sng"/>
            <a:t>Top-down budgeting</a:t>
          </a:r>
          <a:r>
            <a:rPr lang="en-US"/>
            <a:t>. Managers prepare the budget and send it to subordinates. </a:t>
          </a:r>
        </a:p>
      </dgm:t>
    </dgm:pt>
    <dgm:pt modelId="{1B27A680-77AD-47A9-A620-1D1148883D67}" type="parTrans" cxnId="{08BC8D32-B329-48C1-A1FC-CE682F396258}">
      <dgm:prSet/>
      <dgm:spPr/>
      <dgm:t>
        <a:bodyPr/>
        <a:lstStyle/>
        <a:p>
          <a:endParaRPr lang="en-US"/>
        </a:p>
      </dgm:t>
    </dgm:pt>
    <dgm:pt modelId="{15FB13FA-2A77-44A2-9490-3F0F28593DEA}" type="sibTrans" cxnId="{08BC8D32-B329-48C1-A1FC-CE682F396258}">
      <dgm:prSet/>
      <dgm:spPr/>
      <dgm:t>
        <a:bodyPr/>
        <a:lstStyle/>
        <a:p>
          <a:endParaRPr lang="en-US"/>
        </a:p>
      </dgm:t>
    </dgm:pt>
    <dgm:pt modelId="{00308424-D1DB-408D-B82B-A32209A5DF4A}">
      <dgm:prSet/>
      <dgm:spPr/>
      <dgm:t>
        <a:bodyPr/>
        <a:lstStyle/>
        <a:p>
          <a:pPr algn="just"/>
          <a:r>
            <a:rPr lang="en-US" b="1" u="sng" dirty="0"/>
            <a:t>Bottom-up budgeting</a:t>
          </a:r>
          <a:r>
            <a:rPr lang="en-US" dirty="0"/>
            <a:t>. Figures come from the lower levels and are adjusted and coordinated as they move up the hierarchy.</a:t>
          </a:r>
        </a:p>
      </dgm:t>
    </dgm:pt>
    <dgm:pt modelId="{2AB0F277-D1C8-4EAE-B2CF-943C74C67710}" type="parTrans" cxnId="{E98087D0-D386-4D8D-8DF2-CF3C2B26A895}">
      <dgm:prSet/>
      <dgm:spPr/>
      <dgm:t>
        <a:bodyPr/>
        <a:lstStyle/>
        <a:p>
          <a:endParaRPr lang="en-US"/>
        </a:p>
      </dgm:t>
    </dgm:pt>
    <dgm:pt modelId="{F1002C39-D548-4001-BEF7-11896A61F47C}" type="sibTrans" cxnId="{E98087D0-D386-4D8D-8DF2-CF3C2B26A895}">
      <dgm:prSet/>
      <dgm:spPr/>
      <dgm:t>
        <a:bodyPr/>
        <a:lstStyle/>
        <a:p>
          <a:endParaRPr lang="en-US"/>
        </a:p>
      </dgm:t>
    </dgm:pt>
    <dgm:pt modelId="{5AF8BF28-0826-40B1-8B5A-AE438094DB9C}">
      <dgm:prSet/>
      <dgm:spPr/>
      <dgm:t>
        <a:bodyPr/>
        <a:lstStyle/>
        <a:p>
          <a:pPr algn="just"/>
          <a:r>
            <a:rPr lang="en-US" b="1" u="sng" dirty="0"/>
            <a:t>Zero-based budgeting</a:t>
          </a:r>
          <a:r>
            <a:rPr lang="en-US" dirty="0"/>
            <a:t>. Managers develop each new budget by justifying the projected allocation against its contribution to departmental or organizational goals. </a:t>
          </a:r>
        </a:p>
      </dgm:t>
    </dgm:pt>
    <dgm:pt modelId="{B8D94D80-DEE0-432C-B4B7-9906FF091413}" type="parTrans" cxnId="{59CE81CC-9442-49E8-BACE-C4AA3A103BA3}">
      <dgm:prSet/>
      <dgm:spPr/>
      <dgm:t>
        <a:bodyPr/>
        <a:lstStyle/>
        <a:p>
          <a:endParaRPr lang="en-US"/>
        </a:p>
      </dgm:t>
    </dgm:pt>
    <dgm:pt modelId="{941C076B-612F-4304-9579-E391CA5FDDE8}" type="sibTrans" cxnId="{59CE81CC-9442-49E8-BACE-C4AA3A103BA3}">
      <dgm:prSet/>
      <dgm:spPr/>
      <dgm:t>
        <a:bodyPr/>
        <a:lstStyle/>
        <a:p>
          <a:endParaRPr lang="en-US"/>
        </a:p>
      </dgm:t>
    </dgm:pt>
    <dgm:pt modelId="{B13C6632-1A61-49F7-B6E0-98F10D1050B4}">
      <dgm:prSet/>
      <dgm:spPr/>
      <dgm:t>
        <a:bodyPr/>
        <a:lstStyle/>
        <a:p>
          <a:pPr algn="just"/>
          <a:r>
            <a:rPr lang="en-US" b="1" u="sng" dirty="0"/>
            <a:t>Flexible budgeting</a:t>
          </a:r>
          <a:r>
            <a:rPr lang="en-US" dirty="0"/>
            <a:t>. Any budget exercise can incorporate flexible budgets, which set “meet or beat” standards that can be compared to expenditures.</a:t>
          </a:r>
        </a:p>
      </dgm:t>
    </dgm:pt>
    <dgm:pt modelId="{DC8E4495-0B28-458D-9502-7FB1287FC686}" type="parTrans" cxnId="{93BB4A1C-8CF0-4737-A004-1374E3D4705E}">
      <dgm:prSet/>
      <dgm:spPr/>
      <dgm:t>
        <a:bodyPr/>
        <a:lstStyle/>
        <a:p>
          <a:endParaRPr lang="en-US"/>
        </a:p>
      </dgm:t>
    </dgm:pt>
    <dgm:pt modelId="{5183C534-3B57-4525-A01E-E6A7762E65EA}" type="sibTrans" cxnId="{93BB4A1C-8CF0-4737-A004-1374E3D4705E}">
      <dgm:prSet/>
      <dgm:spPr/>
      <dgm:t>
        <a:bodyPr/>
        <a:lstStyle/>
        <a:p>
          <a:endParaRPr lang="en-US"/>
        </a:p>
      </dgm:t>
    </dgm:pt>
    <dgm:pt modelId="{01019CA6-822E-4521-A8FA-E6B9286CC672}" type="pres">
      <dgm:prSet presAssocID="{50C81ABE-B5E0-42D9-96C2-6035C9FF081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03C631E-0AB0-49B2-AB5C-17B464B29E01}" type="pres">
      <dgm:prSet presAssocID="{3FA8B9F1-8358-4158-8DF6-CDF2D394B62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985EF5-E9B0-493D-A17B-48F054949796}" type="pres">
      <dgm:prSet presAssocID="{3FA8B9F1-8358-4158-8DF6-CDF2D394B62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BC8D32-B329-48C1-A1FC-CE682F396258}" srcId="{3FA8B9F1-8358-4158-8DF6-CDF2D394B621}" destId="{FB21D0AC-89FE-48FE-8A55-6ACFCB70B07C}" srcOrd="0" destOrd="0" parTransId="{1B27A680-77AD-47A9-A620-1D1148883D67}" sibTransId="{15FB13FA-2A77-44A2-9490-3F0F28593DEA}"/>
    <dgm:cxn modelId="{374A0E14-4A5D-48B6-B192-48C8EACBE885}" type="presOf" srcId="{5AF8BF28-0826-40B1-8B5A-AE438094DB9C}" destId="{8C985EF5-E9B0-493D-A17B-48F054949796}" srcOrd="0" destOrd="2" presId="urn:microsoft.com/office/officeart/2005/8/layout/vList2"/>
    <dgm:cxn modelId="{BDF9B5B5-F25E-42DA-B1EA-4E26F1A94A80}" type="presOf" srcId="{B13C6632-1A61-49F7-B6E0-98F10D1050B4}" destId="{8C985EF5-E9B0-493D-A17B-48F054949796}" srcOrd="0" destOrd="3" presId="urn:microsoft.com/office/officeart/2005/8/layout/vList2"/>
    <dgm:cxn modelId="{88657EE6-4F2F-488B-B6C9-346BE7E0C9C1}" type="presOf" srcId="{00308424-D1DB-408D-B82B-A32209A5DF4A}" destId="{8C985EF5-E9B0-493D-A17B-48F054949796}" srcOrd="0" destOrd="1" presId="urn:microsoft.com/office/officeart/2005/8/layout/vList2"/>
    <dgm:cxn modelId="{B7A7061C-5D16-4E90-8744-51C949B77763}" type="presOf" srcId="{50C81ABE-B5E0-42D9-96C2-6035C9FF081D}" destId="{01019CA6-822E-4521-A8FA-E6B9286CC672}" srcOrd="0" destOrd="0" presId="urn:microsoft.com/office/officeart/2005/8/layout/vList2"/>
    <dgm:cxn modelId="{9839BC10-2164-4CD7-B602-A4ACD5D4DD74}" type="presOf" srcId="{FB21D0AC-89FE-48FE-8A55-6ACFCB70B07C}" destId="{8C985EF5-E9B0-493D-A17B-48F054949796}" srcOrd="0" destOrd="0" presId="urn:microsoft.com/office/officeart/2005/8/layout/vList2"/>
    <dgm:cxn modelId="{0F1479D8-C138-438B-B31F-207D35F1CB33}" srcId="{50C81ABE-B5E0-42D9-96C2-6035C9FF081D}" destId="{3FA8B9F1-8358-4158-8DF6-CDF2D394B621}" srcOrd="0" destOrd="0" parTransId="{79E65284-5055-4279-BE5D-6DA97F0C250B}" sibTransId="{71BD7AD1-6FB2-44FC-A051-7B4B8142E199}"/>
    <dgm:cxn modelId="{59CE81CC-9442-49E8-BACE-C4AA3A103BA3}" srcId="{3FA8B9F1-8358-4158-8DF6-CDF2D394B621}" destId="{5AF8BF28-0826-40B1-8B5A-AE438094DB9C}" srcOrd="2" destOrd="0" parTransId="{B8D94D80-DEE0-432C-B4B7-9906FF091413}" sibTransId="{941C076B-612F-4304-9579-E391CA5FDDE8}"/>
    <dgm:cxn modelId="{D53E1437-DDB4-4828-848F-92915F56B74B}" type="presOf" srcId="{3FA8B9F1-8358-4158-8DF6-CDF2D394B621}" destId="{203C631E-0AB0-49B2-AB5C-17B464B29E01}" srcOrd="0" destOrd="0" presId="urn:microsoft.com/office/officeart/2005/8/layout/vList2"/>
    <dgm:cxn modelId="{93BB4A1C-8CF0-4737-A004-1374E3D4705E}" srcId="{3FA8B9F1-8358-4158-8DF6-CDF2D394B621}" destId="{B13C6632-1A61-49F7-B6E0-98F10D1050B4}" srcOrd="3" destOrd="0" parTransId="{DC8E4495-0B28-458D-9502-7FB1287FC686}" sibTransId="{5183C534-3B57-4525-A01E-E6A7762E65EA}"/>
    <dgm:cxn modelId="{E98087D0-D386-4D8D-8DF2-CF3C2B26A895}" srcId="{3FA8B9F1-8358-4158-8DF6-CDF2D394B621}" destId="{00308424-D1DB-408D-B82B-A32209A5DF4A}" srcOrd="1" destOrd="0" parTransId="{2AB0F277-D1C8-4EAE-B2CF-943C74C67710}" sibTransId="{F1002C39-D548-4001-BEF7-11896A61F47C}"/>
    <dgm:cxn modelId="{E71439B8-7723-495B-B756-E04A047DDF7E}" type="presParOf" srcId="{01019CA6-822E-4521-A8FA-E6B9286CC672}" destId="{203C631E-0AB0-49B2-AB5C-17B464B29E01}" srcOrd="0" destOrd="0" presId="urn:microsoft.com/office/officeart/2005/8/layout/vList2"/>
    <dgm:cxn modelId="{175F642B-9CF7-46BB-BD36-76ADEEADBE62}" type="presParOf" srcId="{01019CA6-822E-4521-A8FA-E6B9286CC672}" destId="{8C985EF5-E9B0-493D-A17B-48F05494979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0420E77-D2DF-46BD-8C48-BD18C0C8A16B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0895F1-44AB-4B5E-9A82-890CB6916182}">
      <dgm:prSet/>
      <dgm:spPr/>
      <dgm:t>
        <a:bodyPr/>
        <a:lstStyle/>
        <a:p>
          <a:r>
            <a:rPr lang="en-US" b="1"/>
            <a:t>Marketing controls:</a:t>
          </a:r>
          <a:r>
            <a:rPr lang="en-US"/>
            <a:t>  </a:t>
          </a:r>
        </a:p>
      </dgm:t>
    </dgm:pt>
    <dgm:pt modelId="{7B901107-1769-4648-B2C9-23D5A40768A0}" type="parTrans" cxnId="{D1759F8D-77C2-4309-84E4-4812A124B949}">
      <dgm:prSet/>
      <dgm:spPr/>
      <dgm:t>
        <a:bodyPr/>
        <a:lstStyle/>
        <a:p>
          <a:endParaRPr lang="en-US"/>
        </a:p>
      </dgm:t>
    </dgm:pt>
    <dgm:pt modelId="{2159538C-5D64-4B8D-B92B-0DEA80DC96B6}" type="sibTrans" cxnId="{D1759F8D-77C2-4309-84E4-4812A124B949}">
      <dgm:prSet/>
      <dgm:spPr/>
      <dgm:t>
        <a:bodyPr/>
        <a:lstStyle/>
        <a:p>
          <a:endParaRPr lang="en-US"/>
        </a:p>
      </dgm:t>
    </dgm:pt>
    <dgm:pt modelId="{13E3F2A6-465D-40AF-9B39-2D43E41A008A}">
      <dgm:prSet/>
      <dgm:spPr/>
      <dgm:t>
        <a:bodyPr/>
        <a:lstStyle/>
        <a:p>
          <a:r>
            <a:rPr lang="en-US"/>
            <a:t>Marketing controls </a:t>
          </a:r>
          <a:r>
            <a:rPr lang="en-US" b="1" u="sng"/>
            <a:t>help monitor progress toward goals for customer satisfaction with products and services, prices, and delivery.</a:t>
          </a:r>
          <a:endParaRPr lang="en-US"/>
        </a:p>
      </dgm:t>
    </dgm:pt>
    <dgm:pt modelId="{6CF8E7BF-06C9-4A6C-ACAB-33EEA1A0578E}" type="parTrans" cxnId="{9C1670F7-3705-473C-A896-B2A31C38BEB4}">
      <dgm:prSet/>
      <dgm:spPr/>
      <dgm:t>
        <a:bodyPr/>
        <a:lstStyle/>
        <a:p>
          <a:endParaRPr lang="en-US"/>
        </a:p>
      </dgm:t>
    </dgm:pt>
    <dgm:pt modelId="{C3182700-CADA-4773-8D4F-E09529B51C47}" type="sibTrans" cxnId="{9C1670F7-3705-473C-A896-B2A31C38BEB4}">
      <dgm:prSet/>
      <dgm:spPr/>
      <dgm:t>
        <a:bodyPr/>
        <a:lstStyle/>
        <a:p>
          <a:endParaRPr lang="en-US"/>
        </a:p>
      </dgm:t>
    </dgm:pt>
    <dgm:pt modelId="{6C23E18E-3975-4052-9FFB-AF9E9015128B}">
      <dgm:prSet/>
      <dgm:spPr/>
      <dgm:t>
        <a:bodyPr/>
        <a:lstStyle/>
        <a:p>
          <a:r>
            <a:rPr lang="en-US"/>
            <a:t>The following are </a:t>
          </a:r>
          <a:r>
            <a:rPr lang="en-US" b="1" u="sng"/>
            <a:t>examples of controls used to evaluate an organization’s marketing functions: </a:t>
          </a:r>
          <a:endParaRPr lang="en-US"/>
        </a:p>
      </dgm:t>
    </dgm:pt>
    <dgm:pt modelId="{4B871F2C-2472-43C5-8CB4-20BE7F562868}" type="parTrans" cxnId="{7D3FD136-1508-4F6A-8207-0ABE44909249}">
      <dgm:prSet/>
      <dgm:spPr/>
      <dgm:t>
        <a:bodyPr/>
        <a:lstStyle/>
        <a:p>
          <a:endParaRPr lang="en-US"/>
        </a:p>
      </dgm:t>
    </dgm:pt>
    <dgm:pt modelId="{EC90594E-0194-4395-A417-D3C547ED2E00}" type="sibTrans" cxnId="{7D3FD136-1508-4F6A-8207-0ABE44909249}">
      <dgm:prSet/>
      <dgm:spPr/>
      <dgm:t>
        <a:bodyPr/>
        <a:lstStyle/>
        <a:p>
          <a:endParaRPr lang="en-US"/>
        </a:p>
      </dgm:t>
    </dgm:pt>
    <dgm:pt modelId="{1A3C91E7-80B8-4380-9E33-3137A4C3F799}">
      <dgm:prSet/>
      <dgm:spPr/>
      <dgm:t>
        <a:bodyPr/>
        <a:lstStyle/>
        <a:p>
          <a:r>
            <a:rPr lang="en-US" b="1"/>
            <a:t>Market research</a:t>
          </a:r>
          <a:r>
            <a:rPr lang="en-US"/>
            <a:t> gathers data to assess customer needs, information critical to an organization’s success. </a:t>
          </a:r>
        </a:p>
      </dgm:t>
    </dgm:pt>
    <dgm:pt modelId="{C30588AA-9B90-4D96-9007-54BA714F870D}" type="parTrans" cxnId="{E401F902-5D89-47D0-871E-F412478AB41E}">
      <dgm:prSet/>
      <dgm:spPr/>
      <dgm:t>
        <a:bodyPr/>
        <a:lstStyle/>
        <a:p>
          <a:endParaRPr lang="en-US"/>
        </a:p>
      </dgm:t>
    </dgm:pt>
    <dgm:pt modelId="{95E4A0F9-8C83-4E14-AE78-79535676D83D}" type="sibTrans" cxnId="{E401F902-5D89-47D0-871E-F412478AB41E}">
      <dgm:prSet/>
      <dgm:spPr/>
      <dgm:t>
        <a:bodyPr/>
        <a:lstStyle/>
        <a:p>
          <a:endParaRPr lang="en-US"/>
        </a:p>
      </dgm:t>
    </dgm:pt>
    <dgm:pt modelId="{DEA07137-6A85-4819-BB68-BEFC36BDD9FA}">
      <dgm:prSet/>
      <dgm:spPr/>
      <dgm:t>
        <a:bodyPr/>
        <a:lstStyle/>
        <a:p>
          <a:r>
            <a:rPr lang="en-US"/>
            <a:t>Ongoing market research </a:t>
          </a:r>
          <a:r>
            <a:rPr lang="en-US" b="1" u="sng"/>
            <a:t>reflects how well an organization is meeting customers’ expectations and helps anticipate customer needs</a:t>
          </a:r>
          <a:r>
            <a:rPr lang="en-US"/>
            <a:t>. </a:t>
          </a:r>
        </a:p>
      </dgm:t>
    </dgm:pt>
    <dgm:pt modelId="{F47203CF-FAB8-4471-9EA2-DC187DB55BAA}" type="parTrans" cxnId="{C5D88F38-C3D7-4746-A9CB-1E62852A7C76}">
      <dgm:prSet/>
      <dgm:spPr/>
      <dgm:t>
        <a:bodyPr/>
        <a:lstStyle/>
        <a:p>
          <a:endParaRPr lang="en-US"/>
        </a:p>
      </dgm:t>
    </dgm:pt>
    <dgm:pt modelId="{44B42247-C8C3-4586-A6DA-73400D0F3D9E}" type="sibTrans" cxnId="{C5D88F38-C3D7-4746-A9CB-1E62852A7C76}">
      <dgm:prSet/>
      <dgm:spPr/>
      <dgm:t>
        <a:bodyPr/>
        <a:lstStyle/>
        <a:p>
          <a:endParaRPr lang="en-US"/>
        </a:p>
      </dgm:t>
    </dgm:pt>
    <dgm:pt modelId="{0B7077B8-68B7-42B5-9E6F-4870684F35CE}">
      <dgm:prSet/>
      <dgm:spPr/>
      <dgm:t>
        <a:bodyPr/>
        <a:lstStyle/>
        <a:p>
          <a:r>
            <a:rPr lang="en-US"/>
            <a:t>It also helps identify competitors.</a:t>
          </a:r>
        </a:p>
      </dgm:t>
    </dgm:pt>
    <dgm:pt modelId="{C111A291-BC67-4B55-A3AC-618927C29D2E}" type="parTrans" cxnId="{0F7B5597-8FE6-41EE-A57C-2671494B30E2}">
      <dgm:prSet/>
      <dgm:spPr/>
      <dgm:t>
        <a:bodyPr/>
        <a:lstStyle/>
        <a:p>
          <a:endParaRPr lang="en-US"/>
        </a:p>
      </dgm:t>
    </dgm:pt>
    <dgm:pt modelId="{9EA7B740-B2E3-4543-BB92-25BF0AFB1004}" type="sibTrans" cxnId="{0F7B5597-8FE6-41EE-A57C-2671494B30E2}">
      <dgm:prSet/>
      <dgm:spPr/>
      <dgm:t>
        <a:bodyPr/>
        <a:lstStyle/>
        <a:p>
          <a:endParaRPr lang="en-US"/>
        </a:p>
      </dgm:t>
    </dgm:pt>
    <dgm:pt modelId="{D8EC0B58-1C7F-4388-821F-EC33997332D4}" type="pres">
      <dgm:prSet presAssocID="{70420E77-D2DF-46BD-8C48-BD18C0C8A16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08BF6F-97B9-40D8-AFA0-14CD8530A29C}" type="pres">
      <dgm:prSet presAssocID="{3C0895F1-44AB-4B5E-9A82-890CB6916182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BCFA49-7EE0-4134-AFDF-C9FFB61B432A}" type="pres">
      <dgm:prSet presAssocID="{2159538C-5D64-4B8D-B92B-0DEA80DC96B6}" presName="spacer" presStyleCnt="0"/>
      <dgm:spPr/>
    </dgm:pt>
    <dgm:pt modelId="{C5B145CD-45F9-4CDE-B505-A618EC6085F0}" type="pres">
      <dgm:prSet presAssocID="{13E3F2A6-465D-40AF-9B39-2D43E41A008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65892-937C-41CA-B98C-791A819D601D}" type="pres">
      <dgm:prSet presAssocID="{C3182700-CADA-4773-8D4F-E09529B51C47}" presName="spacer" presStyleCnt="0"/>
      <dgm:spPr/>
    </dgm:pt>
    <dgm:pt modelId="{7EE1E709-4D19-42FC-895A-778A0BBFB59B}" type="pres">
      <dgm:prSet presAssocID="{6C23E18E-3975-4052-9FFB-AF9E9015128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9D76E5-9C44-42C3-BF5D-53E537407DAB}" type="pres">
      <dgm:prSet presAssocID="{6C23E18E-3975-4052-9FFB-AF9E9015128B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5D88F38-C3D7-4746-A9CB-1E62852A7C76}" srcId="{6C23E18E-3975-4052-9FFB-AF9E9015128B}" destId="{DEA07137-6A85-4819-BB68-BEFC36BDD9FA}" srcOrd="1" destOrd="0" parTransId="{F47203CF-FAB8-4471-9EA2-DC187DB55BAA}" sibTransId="{44B42247-C8C3-4586-A6DA-73400D0F3D9E}"/>
    <dgm:cxn modelId="{0D72CE16-78A1-4093-B39D-E29EBE999A00}" type="presOf" srcId="{70420E77-D2DF-46BD-8C48-BD18C0C8A16B}" destId="{D8EC0B58-1C7F-4388-821F-EC33997332D4}" srcOrd="0" destOrd="0" presId="urn:microsoft.com/office/officeart/2005/8/layout/vList2"/>
    <dgm:cxn modelId="{E401F902-5D89-47D0-871E-F412478AB41E}" srcId="{6C23E18E-3975-4052-9FFB-AF9E9015128B}" destId="{1A3C91E7-80B8-4380-9E33-3137A4C3F799}" srcOrd="0" destOrd="0" parTransId="{C30588AA-9B90-4D96-9007-54BA714F870D}" sibTransId="{95E4A0F9-8C83-4E14-AE78-79535676D83D}"/>
    <dgm:cxn modelId="{F5C9E36F-DB3F-40FD-AA63-9D51DBA9B2E4}" type="presOf" srcId="{0B7077B8-68B7-42B5-9E6F-4870684F35CE}" destId="{309D76E5-9C44-42C3-BF5D-53E537407DAB}" srcOrd="0" destOrd="2" presId="urn:microsoft.com/office/officeart/2005/8/layout/vList2"/>
    <dgm:cxn modelId="{7D3FD136-1508-4F6A-8207-0ABE44909249}" srcId="{70420E77-D2DF-46BD-8C48-BD18C0C8A16B}" destId="{6C23E18E-3975-4052-9FFB-AF9E9015128B}" srcOrd="2" destOrd="0" parTransId="{4B871F2C-2472-43C5-8CB4-20BE7F562868}" sibTransId="{EC90594E-0194-4395-A417-D3C547ED2E00}"/>
    <dgm:cxn modelId="{0F7B5597-8FE6-41EE-A57C-2671494B30E2}" srcId="{6C23E18E-3975-4052-9FFB-AF9E9015128B}" destId="{0B7077B8-68B7-42B5-9E6F-4870684F35CE}" srcOrd="2" destOrd="0" parTransId="{C111A291-BC67-4B55-A3AC-618927C29D2E}" sibTransId="{9EA7B740-B2E3-4543-BB92-25BF0AFB1004}"/>
    <dgm:cxn modelId="{FF4BEEA3-B20E-45C3-83DB-8C1E56364D39}" type="presOf" srcId="{1A3C91E7-80B8-4380-9E33-3137A4C3F799}" destId="{309D76E5-9C44-42C3-BF5D-53E537407DAB}" srcOrd="0" destOrd="0" presId="urn:microsoft.com/office/officeart/2005/8/layout/vList2"/>
    <dgm:cxn modelId="{9C1670F7-3705-473C-A896-B2A31C38BEB4}" srcId="{70420E77-D2DF-46BD-8C48-BD18C0C8A16B}" destId="{13E3F2A6-465D-40AF-9B39-2D43E41A008A}" srcOrd="1" destOrd="0" parTransId="{6CF8E7BF-06C9-4A6C-ACAB-33EEA1A0578E}" sibTransId="{C3182700-CADA-4773-8D4F-E09529B51C47}"/>
    <dgm:cxn modelId="{08472260-ECD2-4BC8-96DA-39586D95D45B}" type="presOf" srcId="{3C0895F1-44AB-4B5E-9A82-890CB6916182}" destId="{9D08BF6F-97B9-40D8-AFA0-14CD8530A29C}" srcOrd="0" destOrd="0" presId="urn:microsoft.com/office/officeart/2005/8/layout/vList2"/>
    <dgm:cxn modelId="{2F0149D2-3211-46F2-B712-99FAFF35AC66}" type="presOf" srcId="{DEA07137-6A85-4819-BB68-BEFC36BDD9FA}" destId="{309D76E5-9C44-42C3-BF5D-53E537407DAB}" srcOrd="0" destOrd="1" presId="urn:microsoft.com/office/officeart/2005/8/layout/vList2"/>
    <dgm:cxn modelId="{D1759F8D-77C2-4309-84E4-4812A124B949}" srcId="{70420E77-D2DF-46BD-8C48-BD18C0C8A16B}" destId="{3C0895F1-44AB-4B5E-9A82-890CB6916182}" srcOrd="0" destOrd="0" parTransId="{7B901107-1769-4648-B2C9-23D5A40768A0}" sibTransId="{2159538C-5D64-4B8D-B92B-0DEA80DC96B6}"/>
    <dgm:cxn modelId="{2E882619-6DA7-43DF-BFA7-689AFE2AAC49}" type="presOf" srcId="{6C23E18E-3975-4052-9FFB-AF9E9015128B}" destId="{7EE1E709-4D19-42FC-895A-778A0BBFB59B}" srcOrd="0" destOrd="0" presId="urn:microsoft.com/office/officeart/2005/8/layout/vList2"/>
    <dgm:cxn modelId="{361E028D-9F24-4E89-A03A-99E549434C1B}" type="presOf" srcId="{13E3F2A6-465D-40AF-9B39-2D43E41A008A}" destId="{C5B145CD-45F9-4CDE-B505-A618EC6085F0}" srcOrd="0" destOrd="0" presId="urn:microsoft.com/office/officeart/2005/8/layout/vList2"/>
    <dgm:cxn modelId="{D78F5341-297C-47C9-A3A4-ABB348D44DD7}" type="presParOf" srcId="{D8EC0B58-1C7F-4388-821F-EC33997332D4}" destId="{9D08BF6F-97B9-40D8-AFA0-14CD8530A29C}" srcOrd="0" destOrd="0" presId="urn:microsoft.com/office/officeart/2005/8/layout/vList2"/>
    <dgm:cxn modelId="{D5492FE1-F653-464D-82A7-96F3DFB1C4E3}" type="presParOf" srcId="{D8EC0B58-1C7F-4388-821F-EC33997332D4}" destId="{2DBCFA49-7EE0-4134-AFDF-C9FFB61B432A}" srcOrd="1" destOrd="0" presId="urn:microsoft.com/office/officeart/2005/8/layout/vList2"/>
    <dgm:cxn modelId="{06224B30-D9A2-4BF4-8A9B-1E3EC2B8209A}" type="presParOf" srcId="{D8EC0B58-1C7F-4388-821F-EC33997332D4}" destId="{C5B145CD-45F9-4CDE-B505-A618EC6085F0}" srcOrd="2" destOrd="0" presId="urn:microsoft.com/office/officeart/2005/8/layout/vList2"/>
    <dgm:cxn modelId="{78371645-D7CB-4E8C-9745-77E76D85BA3D}" type="presParOf" srcId="{D8EC0B58-1C7F-4388-821F-EC33997332D4}" destId="{8DA65892-937C-41CA-B98C-791A819D601D}" srcOrd="3" destOrd="0" presId="urn:microsoft.com/office/officeart/2005/8/layout/vList2"/>
    <dgm:cxn modelId="{94EE2BAA-FA61-4496-A0F2-5BFCFCECCFEA}" type="presParOf" srcId="{D8EC0B58-1C7F-4388-821F-EC33997332D4}" destId="{7EE1E709-4D19-42FC-895A-778A0BBFB59B}" srcOrd="4" destOrd="0" presId="urn:microsoft.com/office/officeart/2005/8/layout/vList2"/>
    <dgm:cxn modelId="{2B5DAE25-5353-430A-987A-2803C5C37B38}" type="presParOf" srcId="{D8EC0B58-1C7F-4388-821F-EC33997332D4}" destId="{309D76E5-9C44-42C3-BF5D-53E537407DA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06D4603-D823-47F9-ACEF-5D0F73EBB7FA}" type="doc">
      <dgm:prSet loTypeId="urn:microsoft.com/office/officeart/2005/8/layout/vList2" loCatId="list" qsTypeId="urn:microsoft.com/office/officeart/2005/8/quickstyle/3d1" qsCatId="3D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2C50A25A-1C6F-46B8-9FCA-751968DBA451}">
      <dgm:prSet/>
      <dgm:spPr/>
      <dgm:t>
        <a:bodyPr/>
        <a:lstStyle/>
        <a:p>
          <a:r>
            <a:rPr lang="en-US"/>
            <a:t>a)</a:t>
          </a:r>
          <a:r>
            <a:rPr lang="en-US" b="1"/>
            <a:t>	Test marketing </a:t>
          </a:r>
          <a:r>
            <a:rPr lang="en-US"/>
            <a:t>is a small-scale product marketing </a:t>
          </a:r>
          <a:r>
            <a:rPr lang="en-US" b="1" u="sng"/>
            <a:t>to assess customer acceptance. </a:t>
          </a:r>
          <a:endParaRPr lang="en-US"/>
        </a:p>
      </dgm:t>
    </dgm:pt>
    <dgm:pt modelId="{F84979B1-BB1E-4781-9FAF-206825C218F1}" type="parTrans" cxnId="{FD0F56C6-B58E-44BE-A4DA-FBB0724865CF}">
      <dgm:prSet/>
      <dgm:spPr/>
      <dgm:t>
        <a:bodyPr/>
        <a:lstStyle/>
        <a:p>
          <a:endParaRPr lang="en-US"/>
        </a:p>
      </dgm:t>
    </dgm:pt>
    <dgm:pt modelId="{B8201972-D3EA-4FCA-B655-0C51E8529A04}" type="sibTrans" cxnId="{FD0F56C6-B58E-44BE-A4DA-FBB0724865CF}">
      <dgm:prSet/>
      <dgm:spPr/>
      <dgm:t>
        <a:bodyPr/>
        <a:lstStyle/>
        <a:p>
          <a:endParaRPr lang="en-US"/>
        </a:p>
      </dgm:t>
    </dgm:pt>
    <dgm:pt modelId="{0F091018-B6DC-4169-B879-1CC299399E4A}">
      <dgm:prSet/>
      <dgm:spPr/>
      <dgm:t>
        <a:bodyPr/>
        <a:lstStyle/>
        <a:p>
          <a:r>
            <a:rPr lang="en-US" b="1" u="sng"/>
            <a:t>Using surveys and focus groups</a:t>
          </a:r>
          <a:r>
            <a:rPr lang="en-US"/>
            <a:t>, test marketing </a:t>
          </a:r>
          <a:r>
            <a:rPr lang="en-US" b="1" u="sng"/>
            <a:t>goes beyond identifying general requirements</a:t>
          </a:r>
          <a:r>
            <a:rPr lang="en-US"/>
            <a:t> and </a:t>
          </a:r>
          <a:r>
            <a:rPr lang="en-US" b="1" u="sng"/>
            <a:t>looks at what (or who) actually influences buying decisions.</a:t>
          </a:r>
          <a:endParaRPr lang="en-US"/>
        </a:p>
      </dgm:t>
    </dgm:pt>
    <dgm:pt modelId="{E349B4D6-3088-47A7-8C58-612BB575036E}" type="parTrans" cxnId="{18781128-6518-47B2-BAC9-F5AD182130DF}">
      <dgm:prSet/>
      <dgm:spPr/>
      <dgm:t>
        <a:bodyPr/>
        <a:lstStyle/>
        <a:p>
          <a:endParaRPr lang="en-US"/>
        </a:p>
      </dgm:t>
    </dgm:pt>
    <dgm:pt modelId="{617FCBBE-3789-4130-B642-5BD6F43C2DC2}" type="sibTrans" cxnId="{18781128-6518-47B2-BAC9-F5AD182130DF}">
      <dgm:prSet/>
      <dgm:spPr/>
      <dgm:t>
        <a:bodyPr/>
        <a:lstStyle/>
        <a:p>
          <a:endParaRPr lang="en-US"/>
        </a:p>
      </dgm:t>
    </dgm:pt>
    <dgm:pt modelId="{19A26563-C698-4559-A8D5-1C8A452F72A1}">
      <dgm:prSet/>
      <dgm:spPr/>
      <dgm:t>
        <a:bodyPr/>
        <a:lstStyle/>
        <a:p>
          <a:r>
            <a:rPr lang="en-US"/>
            <a:t>b)</a:t>
          </a:r>
          <a:r>
            <a:rPr lang="en-US" b="1"/>
            <a:t>	Marketing statistics </a:t>
          </a:r>
          <a:r>
            <a:rPr lang="en-US"/>
            <a:t>measure performance by compiling data and analyzing results.</a:t>
          </a:r>
        </a:p>
      </dgm:t>
    </dgm:pt>
    <dgm:pt modelId="{9E052F43-E42E-4867-8019-550654AD1422}" type="parTrans" cxnId="{7013AB22-EFC6-4D30-8C93-63835345CEF1}">
      <dgm:prSet/>
      <dgm:spPr/>
      <dgm:t>
        <a:bodyPr/>
        <a:lstStyle/>
        <a:p>
          <a:endParaRPr lang="en-US"/>
        </a:p>
      </dgm:t>
    </dgm:pt>
    <dgm:pt modelId="{CA37F20A-4E3F-4832-BB0F-1095D323F7CB}" type="sibTrans" cxnId="{7013AB22-EFC6-4D30-8C93-63835345CEF1}">
      <dgm:prSet/>
      <dgm:spPr/>
      <dgm:t>
        <a:bodyPr/>
        <a:lstStyle/>
        <a:p>
          <a:endParaRPr lang="en-US"/>
        </a:p>
      </dgm:t>
    </dgm:pt>
    <dgm:pt modelId="{A076B253-F75E-407C-A6FE-690FF1D6BE71}">
      <dgm:prSet/>
      <dgm:spPr/>
      <dgm:t>
        <a:bodyPr/>
        <a:lstStyle/>
        <a:p>
          <a:r>
            <a:rPr lang="en-US" b="1" u="sng"/>
            <a:t>In most cases, competency with a computer spreadsheet program is all a manager needs. </a:t>
          </a:r>
          <a:endParaRPr lang="en-US"/>
        </a:p>
      </dgm:t>
    </dgm:pt>
    <dgm:pt modelId="{9BB3A4D6-2605-49B7-9C63-BAB52D391AE9}" type="parTrans" cxnId="{8C5EB742-C17F-4D9D-B60E-AE0DEC400710}">
      <dgm:prSet/>
      <dgm:spPr/>
      <dgm:t>
        <a:bodyPr/>
        <a:lstStyle/>
        <a:p>
          <a:endParaRPr lang="en-US"/>
        </a:p>
      </dgm:t>
    </dgm:pt>
    <dgm:pt modelId="{69A799D1-1C94-4E5F-B6D1-95448A080593}" type="sibTrans" cxnId="{8C5EB742-C17F-4D9D-B60E-AE0DEC400710}">
      <dgm:prSet/>
      <dgm:spPr/>
      <dgm:t>
        <a:bodyPr/>
        <a:lstStyle/>
        <a:p>
          <a:endParaRPr lang="en-US"/>
        </a:p>
      </dgm:t>
    </dgm:pt>
    <dgm:pt modelId="{FFC4F04D-BBD9-48B3-B7C9-042720A3712A}">
      <dgm:prSet/>
      <dgm:spPr/>
      <dgm:t>
        <a:bodyPr/>
        <a:lstStyle/>
        <a:p>
          <a:r>
            <a:rPr lang="en-US" b="1" u="sng"/>
            <a:t>Managers look at marketing ratios</a:t>
          </a:r>
          <a:r>
            <a:rPr lang="en-US"/>
            <a:t>, which measure </a:t>
          </a:r>
          <a:r>
            <a:rPr lang="en-US" b="1"/>
            <a:t>profitability, activity, and market shares, as well as sales quotas, which measure progress toward sales goals and assist with inventory controls</a:t>
          </a:r>
          <a:r>
            <a:rPr lang="en-US"/>
            <a:t>.</a:t>
          </a:r>
        </a:p>
      </dgm:t>
    </dgm:pt>
    <dgm:pt modelId="{6298A124-44E4-4B0B-B0DB-F8E2A9241AAB}" type="parTrans" cxnId="{40D399E0-D38A-4664-9342-24C2416D8250}">
      <dgm:prSet/>
      <dgm:spPr/>
      <dgm:t>
        <a:bodyPr/>
        <a:lstStyle/>
        <a:p>
          <a:endParaRPr lang="en-US"/>
        </a:p>
      </dgm:t>
    </dgm:pt>
    <dgm:pt modelId="{4E08FA65-6C42-4209-8BB1-8CEB5A72E2E3}" type="sibTrans" cxnId="{40D399E0-D38A-4664-9342-24C2416D8250}">
      <dgm:prSet/>
      <dgm:spPr/>
      <dgm:t>
        <a:bodyPr/>
        <a:lstStyle/>
        <a:p>
          <a:endParaRPr lang="en-US"/>
        </a:p>
      </dgm:t>
    </dgm:pt>
    <dgm:pt modelId="{50C8A331-0135-4AE7-AFB5-23859CCD195E}" type="pres">
      <dgm:prSet presAssocID="{806D4603-D823-47F9-ACEF-5D0F73EBB7F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E9819B-2584-44F9-8735-CB104E1C9FA6}" type="pres">
      <dgm:prSet presAssocID="{2C50A25A-1C6F-46B8-9FCA-751968DBA451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737338-6B7B-48DD-BF0E-8600468E4267}" type="pres">
      <dgm:prSet presAssocID="{B8201972-D3EA-4FCA-B655-0C51E8529A04}" presName="spacer" presStyleCnt="0"/>
      <dgm:spPr/>
    </dgm:pt>
    <dgm:pt modelId="{3B462E47-0BE8-4B0E-ABC2-769069F08B81}" type="pres">
      <dgm:prSet presAssocID="{0F091018-B6DC-4169-B879-1CC299399E4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32AE38-2150-4985-AA32-A0E5B4D3C291}" type="pres">
      <dgm:prSet presAssocID="{617FCBBE-3789-4130-B642-5BD6F43C2DC2}" presName="spacer" presStyleCnt="0"/>
      <dgm:spPr/>
    </dgm:pt>
    <dgm:pt modelId="{B9CE7B7C-80AB-44E0-A3A0-673B618F892F}" type="pres">
      <dgm:prSet presAssocID="{19A26563-C698-4559-A8D5-1C8A452F72A1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7C9824-BAD8-4B8A-9462-E622040E35FF}" type="pres">
      <dgm:prSet presAssocID="{CA37F20A-4E3F-4832-BB0F-1095D323F7CB}" presName="spacer" presStyleCnt="0"/>
      <dgm:spPr/>
    </dgm:pt>
    <dgm:pt modelId="{40CF2F10-7935-4EB5-8862-BF5C8D950489}" type="pres">
      <dgm:prSet presAssocID="{A076B253-F75E-407C-A6FE-690FF1D6BE7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4B2B7F-F6D6-4463-B451-7753E9071EFE}" type="pres">
      <dgm:prSet presAssocID="{69A799D1-1C94-4E5F-B6D1-95448A080593}" presName="spacer" presStyleCnt="0"/>
      <dgm:spPr/>
    </dgm:pt>
    <dgm:pt modelId="{FF28291E-A913-466D-BBC9-67EFF4DDE114}" type="pres">
      <dgm:prSet presAssocID="{FFC4F04D-BBD9-48B3-B7C9-042720A3712A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13AB22-EFC6-4D30-8C93-63835345CEF1}" srcId="{806D4603-D823-47F9-ACEF-5D0F73EBB7FA}" destId="{19A26563-C698-4559-A8D5-1C8A452F72A1}" srcOrd="2" destOrd="0" parTransId="{9E052F43-E42E-4867-8019-550654AD1422}" sibTransId="{CA37F20A-4E3F-4832-BB0F-1095D323F7CB}"/>
    <dgm:cxn modelId="{8C5EB742-C17F-4D9D-B60E-AE0DEC400710}" srcId="{806D4603-D823-47F9-ACEF-5D0F73EBB7FA}" destId="{A076B253-F75E-407C-A6FE-690FF1D6BE71}" srcOrd="3" destOrd="0" parTransId="{9BB3A4D6-2605-49B7-9C63-BAB52D391AE9}" sibTransId="{69A799D1-1C94-4E5F-B6D1-95448A080593}"/>
    <dgm:cxn modelId="{52910D75-7902-415F-B342-82CC1E2F07A8}" type="presOf" srcId="{A076B253-F75E-407C-A6FE-690FF1D6BE71}" destId="{40CF2F10-7935-4EB5-8862-BF5C8D950489}" srcOrd="0" destOrd="0" presId="urn:microsoft.com/office/officeart/2005/8/layout/vList2"/>
    <dgm:cxn modelId="{F1E969B9-FDD6-4721-B806-CF701DCF07A1}" type="presOf" srcId="{806D4603-D823-47F9-ACEF-5D0F73EBB7FA}" destId="{50C8A331-0135-4AE7-AFB5-23859CCD195E}" srcOrd="0" destOrd="0" presId="urn:microsoft.com/office/officeart/2005/8/layout/vList2"/>
    <dgm:cxn modelId="{40D399E0-D38A-4664-9342-24C2416D8250}" srcId="{806D4603-D823-47F9-ACEF-5D0F73EBB7FA}" destId="{FFC4F04D-BBD9-48B3-B7C9-042720A3712A}" srcOrd="4" destOrd="0" parTransId="{6298A124-44E4-4B0B-B0DB-F8E2A9241AAB}" sibTransId="{4E08FA65-6C42-4209-8BB1-8CEB5A72E2E3}"/>
    <dgm:cxn modelId="{9534FF34-138F-4CAA-B9E8-ACDAE03E7307}" type="presOf" srcId="{19A26563-C698-4559-A8D5-1C8A452F72A1}" destId="{B9CE7B7C-80AB-44E0-A3A0-673B618F892F}" srcOrd="0" destOrd="0" presId="urn:microsoft.com/office/officeart/2005/8/layout/vList2"/>
    <dgm:cxn modelId="{FD0F56C6-B58E-44BE-A4DA-FBB0724865CF}" srcId="{806D4603-D823-47F9-ACEF-5D0F73EBB7FA}" destId="{2C50A25A-1C6F-46B8-9FCA-751968DBA451}" srcOrd="0" destOrd="0" parTransId="{F84979B1-BB1E-4781-9FAF-206825C218F1}" sibTransId="{B8201972-D3EA-4FCA-B655-0C51E8529A04}"/>
    <dgm:cxn modelId="{18781128-6518-47B2-BAC9-F5AD182130DF}" srcId="{806D4603-D823-47F9-ACEF-5D0F73EBB7FA}" destId="{0F091018-B6DC-4169-B879-1CC299399E4A}" srcOrd="1" destOrd="0" parTransId="{E349B4D6-3088-47A7-8C58-612BB575036E}" sibTransId="{617FCBBE-3789-4130-B642-5BD6F43C2DC2}"/>
    <dgm:cxn modelId="{A46EE1D6-CBC3-47F6-8480-764C835485DA}" type="presOf" srcId="{0F091018-B6DC-4169-B879-1CC299399E4A}" destId="{3B462E47-0BE8-4B0E-ABC2-769069F08B81}" srcOrd="0" destOrd="0" presId="urn:microsoft.com/office/officeart/2005/8/layout/vList2"/>
    <dgm:cxn modelId="{19F25E7A-FF67-403D-994F-B34474867B09}" type="presOf" srcId="{2C50A25A-1C6F-46B8-9FCA-751968DBA451}" destId="{11E9819B-2584-44F9-8735-CB104E1C9FA6}" srcOrd="0" destOrd="0" presId="urn:microsoft.com/office/officeart/2005/8/layout/vList2"/>
    <dgm:cxn modelId="{D668F0B0-ACB2-457F-A3A8-54DC4EB3FBBC}" type="presOf" srcId="{FFC4F04D-BBD9-48B3-B7C9-042720A3712A}" destId="{FF28291E-A913-466D-BBC9-67EFF4DDE114}" srcOrd="0" destOrd="0" presId="urn:microsoft.com/office/officeart/2005/8/layout/vList2"/>
    <dgm:cxn modelId="{07580345-6DCE-4C2A-8585-2B86090AD2CF}" type="presParOf" srcId="{50C8A331-0135-4AE7-AFB5-23859CCD195E}" destId="{11E9819B-2584-44F9-8735-CB104E1C9FA6}" srcOrd="0" destOrd="0" presId="urn:microsoft.com/office/officeart/2005/8/layout/vList2"/>
    <dgm:cxn modelId="{C424C5E6-A7A3-4459-8B93-D90955F824AE}" type="presParOf" srcId="{50C8A331-0135-4AE7-AFB5-23859CCD195E}" destId="{7E737338-6B7B-48DD-BF0E-8600468E4267}" srcOrd="1" destOrd="0" presId="urn:microsoft.com/office/officeart/2005/8/layout/vList2"/>
    <dgm:cxn modelId="{E071A165-4461-4824-B6D9-1DFD9AF48361}" type="presParOf" srcId="{50C8A331-0135-4AE7-AFB5-23859CCD195E}" destId="{3B462E47-0BE8-4B0E-ABC2-769069F08B81}" srcOrd="2" destOrd="0" presId="urn:microsoft.com/office/officeart/2005/8/layout/vList2"/>
    <dgm:cxn modelId="{BCE0FC55-3200-43F8-A7E3-7A1EB508CCFA}" type="presParOf" srcId="{50C8A331-0135-4AE7-AFB5-23859CCD195E}" destId="{FB32AE38-2150-4985-AA32-A0E5B4D3C291}" srcOrd="3" destOrd="0" presId="urn:microsoft.com/office/officeart/2005/8/layout/vList2"/>
    <dgm:cxn modelId="{CDDBCA21-B35D-4782-AFD9-1E8B467DCA67}" type="presParOf" srcId="{50C8A331-0135-4AE7-AFB5-23859CCD195E}" destId="{B9CE7B7C-80AB-44E0-A3A0-673B618F892F}" srcOrd="4" destOrd="0" presId="urn:microsoft.com/office/officeart/2005/8/layout/vList2"/>
    <dgm:cxn modelId="{2CB88D18-A1F1-4367-83CF-4C014BDD5B3E}" type="presParOf" srcId="{50C8A331-0135-4AE7-AFB5-23859CCD195E}" destId="{167C9824-BAD8-4B8A-9462-E622040E35FF}" srcOrd="5" destOrd="0" presId="urn:microsoft.com/office/officeart/2005/8/layout/vList2"/>
    <dgm:cxn modelId="{ACFF7E90-F253-4987-92C4-5E8A4B072F17}" type="presParOf" srcId="{50C8A331-0135-4AE7-AFB5-23859CCD195E}" destId="{40CF2F10-7935-4EB5-8862-BF5C8D950489}" srcOrd="6" destOrd="0" presId="urn:microsoft.com/office/officeart/2005/8/layout/vList2"/>
    <dgm:cxn modelId="{4CBD2D61-855A-439C-B35B-4904F6A7210D}" type="presParOf" srcId="{50C8A331-0135-4AE7-AFB5-23859CCD195E}" destId="{0A4B2B7F-F6D6-4463-B451-7753E9071EFE}" srcOrd="7" destOrd="0" presId="urn:microsoft.com/office/officeart/2005/8/layout/vList2"/>
    <dgm:cxn modelId="{C03DDF1F-6839-4C9E-86AA-F0CC374AF714}" type="presParOf" srcId="{50C8A331-0135-4AE7-AFB5-23859CCD195E}" destId="{FF28291E-A913-466D-BBC9-67EFF4DDE11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421258E-C86F-4EA7-A8D2-02BD1A493E69}" type="doc">
      <dgm:prSet loTypeId="urn:microsoft.com/office/officeart/2005/8/layout/vList2" loCatId="list" qsTypeId="urn:microsoft.com/office/officeart/2005/8/quickstyle/3d1" qsCatId="3D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9E3FF370-B5AE-4A03-B060-547E48282B75}">
      <dgm:prSet/>
      <dgm:spPr/>
      <dgm:t>
        <a:bodyPr/>
        <a:lstStyle/>
        <a:p>
          <a:r>
            <a:rPr lang="en-US"/>
            <a:t>Unfortunately, scheduling a regular evaluation of an organization’s marketing program is easier to recommend than to execute. </a:t>
          </a:r>
        </a:p>
      </dgm:t>
    </dgm:pt>
    <dgm:pt modelId="{71113499-0AE1-4A35-A152-495C63F2BD34}" type="parTrans" cxnId="{84E2F526-F486-4075-9977-0135D76EEB5D}">
      <dgm:prSet/>
      <dgm:spPr/>
      <dgm:t>
        <a:bodyPr/>
        <a:lstStyle/>
        <a:p>
          <a:endParaRPr lang="en-US"/>
        </a:p>
      </dgm:t>
    </dgm:pt>
    <dgm:pt modelId="{BA82A0F3-29BC-4EB7-A74A-AB0DAE8541F5}" type="sibTrans" cxnId="{84E2F526-F486-4075-9977-0135D76EEB5D}">
      <dgm:prSet/>
      <dgm:spPr/>
      <dgm:t>
        <a:bodyPr/>
        <a:lstStyle/>
        <a:p>
          <a:endParaRPr lang="en-US"/>
        </a:p>
      </dgm:t>
    </dgm:pt>
    <dgm:pt modelId="{E9999E9B-303F-4277-A6D3-E279BF5271CC}">
      <dgm:prSet/>
      <dgm:spPr/>
      <dgm:t>
        <a:bodyPr/>
        <a:lstStyle/>
        <a:p>
          <a:r>
            <a:rPr lang="en-US"/>
            <a:t>Usually, only a crisis, such as increased competition or a sales drop, forces a company to take a closer look at its marketing program. </a:t>
          </a:r>
        </a:p>
      </dgm:t>
    </dgm:pt>
    <dgm:pt modelId="{82A43702-2C09-4D37-9A54-09295B32C22C}" type="parTrans" cxnId="{A1D35D3F-1442-4FA8-852B-E968AA58A4F9}">
      <dgm:prSet/>
      <dgm:spPr/>
      <dgm:t>
        <a:bodyPr/>
        <a:lstStyle/>
        <a:p>
          <a:endParaRPr lang="en-US"/>
        </a:p>
      </dgm:t>
    </dgm:pt>
    <dgm:pt modelId="{0449CFE2-CA75-471D-B999-2A8761D5F7AA}" type="sibTrans" cxnId="{A1D35D3F-1442-4FA8-852B-E968AA58A4F9}">
      <dgm:prSet/>
      <dgm:spPr/>
      <dgm:t>
        <a:bodyPr/>
        <a:lstStyle/>
        <a:p>
          <a:endParaRPr lang="en-US"/>
        </a:p>
      </dgm:t>
    </dgm:pt>
    <dgm:pt modelId="{6386573C-E5CE-43A2-91CA-B04E1BE1D442}">
      <dgm:prSet/>
      <dgm:spPr/>
      <dgm:t>
        <a:bodyPr/>
        <a:lstStyle/>
        <a:p>
          <a:r>
            <a:rPr lang="en-US"/>
            <a:t>However, more regular evaluations help minimize the number of marketing problems.</a:t>
          </a:r>
        </a:p>
      </dgm:t>
    </dgm:pt>
    <dgm:pt modelId="{527321B3-C330-420F-80B6-28BF3D51D718}" type="parTrans" cxnId="{CBD477E0-438F-4C0C-9B38-03B6CAC31536}">
      <dgm:prSet/>
      <dgm:spPr/>
      <dgm:t>
        <a:bodyPr/>
        <a:lstStyle/>
        <a:p>
          <a:endParaRPr lang="en-US"/>
        </a:p>
      </dgm:t>
    </dgm:pt>
    <dgm:pt modelId="{B4A1BE6F-E328-4ED5-A305-86E786FB8E50}" type="sibTrans" cxnId="{CBD477E0-438F-4C0C-9B38-03B6CAC31536}">
      <dgm:prSet/>
      <dgm:spPr/>
      <dgm:t>
        <a:bodyPr/>
        <a:lstStyle/>
        <a:p>
          <a:endParaRPr lang="en-US"/>
        </a:p>
      </dgm:t>
    </dgm:pt>
    <dgm:pt modelId="{53BA6AC9-0499-4057-B553-D15AA9D0190C}" type="pres">
      <dgm:prSet presAssocID="{6421258E-C86F-4EA7-A8D2-02BD1A493E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B184BF-F99E-4022-B814-9ED6A32EBED0}" type="pres">
      <dgm:prSet presAssocID="{9E3FF370-B5AE-4A03-B060-547E48282B7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973EFE-0E3E-42BE-9D19-BE93BFB285F9}" type="pres">
      <dgm:prSet presAssocID="{BA82A0F3-29BC-4EB7-A74A-AB0DAE8541F5}" presName="spacer" presStyleCnt="0"/>
      <dgm:spPr/>
    </dgm:pt>
    <dgm:pt modelId="{4311FC9B-D17C-4A74-BBBE-901361FD7778}" type="pres">
      <dgm:prSet presAssocID="{E9999E9B-303F-4277-A6D3-E279BF5271CC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347D16-0CA5-444D-8951-AE399F4CC63C}" type="pres">
      <dgm:prSet presAssocID="{0449CFE2-CA75-471D-B999-2A8761D5F7AA}" presName="spacer" presStyleCnt="0"/>
      <dgm:spPr/>
    </dgm:pt>
    <dgm:pt modelId="{0C9C7EFE-9201-4C01-B127-DAC6E29C7210}" type="pres">
      <dgm:prSet presAssocID="{6386573C-E5CE-43A2-91CA-B04E1BE1D44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63EEA8-3005-44A7-BBC0-21358614DB8F}" type="presOf" srcId="{6386573C-E5CE-43A2-91CA-B04E1BE1D442}" destId="{0C9C7EFE-9201-4C01-B127-DAC6E29C7210}" srcOrd="0" destOrd="0" presId="urn:microsoft.com/office/officeart/2005/8/layout/vList2"/>
    <dgm:cxn modelId="{A1D35D3F-1442-4FA8-852B-E968AA58A4F9}" srcId="{6421258E-C86F-4EA7-A8D2-02BD1A493E69}" destId="{E9999E9B-303F-4277-A6D3-E279BF5271CC}" srcOrd="1" destOrd="0" parTransId="{82A43702-2C09-4D37-9A54-09295B32C22C}" sibTransId="{0449CFE2-CA75-471D-B999-2A8761D5F7AA}"/>
    <dgm:cxn modelId="{BBC8DC54-BADE-4D1A-A7EB-CF273FA889E8}" type="presOf" srcId="{9E3FF370-B5AE-4A03-B060-547E48282B75}" destId="{2CB184BF-F99E-4022-B814-9ED6A32EBED0}" srcOrd="0" destOrd="0" presId="urn:microsoft.com/office/officeart/2005/8/layout/vList2"/>
    <dgm:cxn modelId="{2D8E202D-A9FB-4416-A72B-78F9F3D899B1}" type="presOf" srcId="{6421258E-C86F-4EA7-A8D2-02BD1A493E69}" destId="{53BA6AC9-0499-4057-B553-D15AA9D0190C}" srcOrd="0" destOrd="0" presId="urn:microsoft.com/office/officeart/2005/8/layout/vList2"/>
    <dgm:cxn modelId="{D31EED28-8F1C-401C-A049-2214D1C33304}" type="presOf" srcId="{E9999E9B-303F-4277-A6D3-E279BF5271CC}" destId="{4311FC9B-D17C-4A74-BBBE-901361FD7778}" srcOrd="0" destOrd="0" presId="urn:microsoft.com/office/officeart/2005/8/layout/vList2"/>
    <dgm:cxn modelId="{84E2F526-F486-4075-9977-0135D76EEB5D}" srcId="{6421258E-C86F-4EA7-A8D2-02BD1A493E69}" destId="{9E3FF370-B5AE-4A03-B060-547E48282B75}" srcOrd="0" destOrd="0" parTransId="{71113499-0AE1-4A35-A152-495C63F2BD34}" sibTransId="{BA82A0F3-29BC-4EB7-A74A-AB0DAE8541F5}"/>
    <dgm:cxn modelId="{CBD477E0-438F-4C0C-9B38-03B6CAC31536}" srcId="{6421258E-C86F-4EA7-A8D2-02BD1A493E69}" destId="{6386573C-E5CE-43A2-91CA-B04E1BE1D442}" srcOrd="2" destOrd="0" parTransId="{527321B3-C330-420F-80B6-28BF3D51D718}" sibTransId="{B4A1BE6F-E328-4ED5-A305-86E786FB8E50}"/>
    <dgm:cxn modelId="{F0F0D733-06DF-4A58-AEE8-812621233844}" type="presParOf" srcId="{53BA6AC9-0499-4057-B553-D15AA9D0190C}" destId="{2CB184BF-F99E-4022-B814-9ED6A32EBED0}" srcOrd="0" destOrd="0" presId="urn:microsoft.com/office/officeart/2005/8/layout/vList2"/>
    <dgm:cxn modelId="{87B4E253-71F6-47CB-B4DA-E0947954D9CF}" type="presParOf" srcId="{53BA6AC9-0499-4057-B553-D15AA9D0190C}" destId="{C5973EFE-0E3E-42BE-9D19-BE93BFB285F9}" srcOrd="1" destOrd="0" presId="urn:microsoft.com/office/officeart/2005/8/layout/vList2"/>
    <dgm:cxn modelId="{A604EDCF-9D12-4F2E-A754-88882A7DE6EE}" type="presParOf" srcId="{53BA6AC9-0499-4057-B553-D15AA9D0190C}" destId="{4311FC9B-D17C-4A74-BBBE-901361FD7778}" srcOrd="2" destOrd="0" presId="urn:microsoft.com/office/officeart/2005/8/layout/vList2"/>
    <dgm:cxn modelId="{93A05122-3C13-499A-8BB7-DCC958A66E53}" type="presParOf" srcId="{53BA6AC9-0499-4057-B553-D15AA9D0190C}" destId="{E2347D16-0CA5-444D-8951-AE399F4CC63C}" srcOrd="3" destOrd="0" presId="urn:microsoft.com/office/officeart/2005/8/layout/vList2"/>
    <dgm:cxn modelId="{795DAE32-EDB3-4325-B81E-1CFFC4984EC3}" type="presParOf" srcId="{53BA6AC9-0499-4057-B553-D15AA9D0190C}" destId="{0C9C7EFE-9201-4C01-B127-DAC6E29C72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CCA322B6-9119-4334-86B7-E9ACDDDE6D5E}" type="doc">
      <dgm:prSet loTypeId="urn:microsoft.com/office/officeart/2005/8/layout/vList2" loCatId="list" qsTypeId="urn:microsoft.com/office/officeart/2005/8/quickstyle/simple5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BE58CAE6-9766-436C-8A27-C89B55EA5273}">
      <dgm:prSet/>
      <dgm:spPr/>
      <dgm:t>
        <a:bodyPr/>
        <a:lstStyle/>
        <a:p>
          <a:r>
            <a:rPr lang="en-US" b="1"/>
            <a:t>Human resource controls: </a:t>
          </a:r>
          <a:endParaRPr lang="en-US"/>
        </a:p>
      </dgm:t>
    </dgm:pt>
    <dgm:pt modelId="{F901DA1D-C5DD-4F0C-8C6E-182757673D2D}" type="parTrans" cxnId="{D1B14C41-63C4-4DBA-AD13-F7778A94483D}">
      <dgm:prSet/>
      <dgm:spPr/>
      <dgm:t>
        <a:bodyPr/>
        <a:lstStyle/>
        <a:p>
          <a:endParaRPr lang="en-US"/>
        </a:p>
      </dgm:t>
    </dgm:pt>
    <dgm:pt modelId="{4CF1EF15-E76C-4403-8465-D94027F4AF02}" type="sibTrans" cxnId="{D1B14C41-63C4-4DBA-AD13-F7778A94483D}">
      <dgm:prSet/>
      <dgm:spPr/>
      <dgm:t>
        <a:bodyPr/>
        <a:lstStyle/>
        <a:p>
          <a:endParaRPr lang="en-US"/>
        </a:p>
      </dgm:t>
    </dgm:pt>
    <dgm:pt modelId="{8CC7BED9-C239-4ABC-9E9D-6827580A4879}">
      <dgm:prSet/>
      <dgm:spPr/>
      <dgm:t>
        <a:bodyPr/>
        <a:lstStyle/>
        <a:p>
          <a:r>
            <a:rPr lang="en-US"/>
            <a:t>Human resource controls </a:t>
          </a:r>
          <a:r>
            <a:rPr lang="en-US" b="1" u="sng"/>
            <a:t>help managers regulate the quality of newly hired personnel, as well as monitor current employees’ developments</a:t>
          </a:r>
          <a:r>
            <a:rPr lang="en-US"/>
            <a:t> and </a:t>
          </a:r>
          <a:r>
            <a:rPr lang="en-US" b="1" u="sng"/>
            <a:t>daily performances</a:t>
          </a:r>
          <a:r>
            <a:rPr lang="en-US"/>
            <a:t>.</a:t>
          </a:r>
        </a:p>
      </dgm:t>
    </dgm:pt>
    <dgm:pt modelId="{86660F74-7918-4F42-9261-D8726D1CA734}" type="parTrans" cxnId="{6B6A8F7D-61CA-4EBA-958D-051A271B3EAF}">
      <dgm:prSet/>
      <dgm:spPr/>
      <dgm:t>
        <a:bodyPr/>
        <a:lstStyle/>
        <a:p>
          <a:endParaRPr lang="en-US"/>
        </a:p>
      </dgm:t>
    </dgm:pt>
    <dgm:pt modelId="{32FC6441-D6EB-413A-8249-AE31F362819E}" type="sibTrans" cxnId="{6B6A8F7D-61CA-4EBA-958D-051A271B3EAF}">
      <dgm:prSet/>
      <dgm:spPr/>
      <dgm:t>
        <a:bodyPr/>
        <a:lstStyle/>
        <a:p>
          <a:endParaRPr lang="en-US"/>
        </a:p>
      </dgm:t>
    </dgm:pt>
    <dgm:pt modelId="{BDE7773A-FB28-469C-8D1C-71D9BCCFA3EB}">
      <dgm:prSet/>
      <dgm:spPr/>
      <dgm:t>
        <a:bodyPr/>
        <a:lstStyle/>
        <a:p>
          <a:r>
            <a:rPr lang="en-US"/>
            <a:t>On a daily basis, managers can go a long way in helping to control workers’ behaviors in organizations. </a:t>
          </a:r>
          <a:r>
            <a:rPr lang="en-US" b="1" u="sng"/>
            <a:t>They can help direct workers’ performances toward goals by making sure that goals are clearly set and understood. </a:t>
          </a:r>
          <a:endParaRPr lang="en-US"/>
        </a:p>
      </dgm:t>
    </dgm:pt>
    <dgm:pt modelId="{B2CFDCDD-4376-4EC3-A445-45D14E5C83B1}" type="parTrans" cxnId="{7611A244-22C2-47F5-91E9-EAA6707E1402}">
      <dgm:prSet/>
      <dgm:spPr/>
      <dgm:t>
        <a:bodyPr/>
        <a:lstStyle/>
        <a:p>
          <a:endParaRPr lang="en-US"/>
        </a:p>
      </dgm:t>
    </dgm:pt>
    <dgm:pt modelId="{A3A27A23-8AA3-4E4B-8733-C0EC782B207F}" type="sibTrans" cxnId="{7611A244-22C2-47F5-91E9-EAA6707E1402}">
      <dgm:prSet/>
      <dgm:spPr/>
      <dgm:t>
        <a:bodyPr/>
        <a:lstStyle/>
        <a:p>
          <a:endParaRPr lang="en-US"/>
        </a:p>
      </dgm:t>
    </dgm:pt>
    <dgm:pt modelId="{3FB882C3-4E5C-477E-843C-560D810CD941}">
      <dgm:prSet/>
      <dgm:spPr/>
      <dgm:t>
        <a:bodyPr/>
        <a:lstStyle/>
        <a:p>
          <a:r>
            <a:rPr lang="en-US" b="1" u="sng" dirty="0"/>
            <a:t>Managers can also institute policies and procedures to help guide workers’ actions. </a:t>
          </a:r>
          <a:r>
            <a:rPr lang="en-US" dirty="0"/>
            <a:t>Finally, they can consider past experiences when developing future strategies, objectives, policies, and procedures.</a:t>
          </a:r>
        </a:p>
      </dgm:t>
    </dgm:pt>
    <dgm:pt modelId="{4DE041F9-BB30-4E5B-948B-0CA6735B82F0}" type="parTrans" cxnId="{23E2A8CF-4A59-4881-B890-66ED71897BD4}">
      <dgm:prSet/>
      <dgm:spPr/>
      <dgm:t>
        <a:bodyPr/>
        <a:lstStyle/>
        <a:p>
          <a:endParaRPr lang="en-US"/>
        </a:p>
      </dgm:t>
    </dgm:pt>
    <dgm:pt modelId="{D6B478DF-5C8E-4C0F-A7C1-7CB1A50A9852}" type="sibTrans" cxnId="{23E2A8CF-4A59-4881-B890-66ED71897BD4}">
      <dgm:prSet/>
      <dgm:spPr/>
      <dgm:t>
        <a:bodyPr/>
        <a:lstStyle/>
        <a:p>
          <a:endParaRPr lang="en-US"/>
        </a:p>
      </dgm:t>
    </dgm:pt>
    <dgm:pt modelId="{1D0339E4-57C8-4102-AD23-915A4E7E3575}">
      <dgm:prSet/>
      <dgm:spPr/>
      <dgm:t>
        <a:bodyPr/>
        <a:lstStyle/>
        <a:p>
          <a:r>
            <a:rPr lang="en-US" b="1" u="sng"/>
            <a:t>Common control types include </a:t>
          </a:r>
          <a:endParaRPr lang="en-US"/>
        </a:p>
      </dgm:t>
    </dgm:pt>
    <dgm:pt modelId="{D15EE1AA-BCFE-487B-B11A-BA4DF807C87E}" type="parTrans" cxnId="{4A43013F-2FD8-4E3C-A330-62D015F1A6D6}">
      <dgm:prSet/>
      <dgm:spPr/>
      <dgm:t>
        <a:bodyPr/>
        <a:lstStyle/>
        <a:p>
          <a:endParaRPr lang="en-US"/>
        </a:p>
      </dgm:t>
    </dgm:pt>
    <dgm:pt modelId="{51E45072-140E-462D-A3B1-B52B7AE67356}" type="sibTrans" cxnId="{4A43013F-2FD8-4E3C-A330-62D015F1A6D6}">
      <dgm:prSet/>
      <dgm:spPr/>
      <dgm:t>
        <a:bodyPr/>
        <a:lstStyle/>
        <a:p>
          <a:endParaRPr lang="en-US"/>
        </a:p>
      </dgm:t>
    </dgm:pt>
    <dgm:pt modelId="{102699C8-13A6-42BC-A874-62263DBB234E}">
      <dgm:prSet/>
      <dgm:spPr/>
      <dgm:t>
        <a:bodyPr/>
        <a:lstStyle/>
        <a:p>
          <a:r>
            <a:rPr lang="en-US" b="1"/>
            <a:t>performance appraisals, </a:t>
          </a:r>
          <a:endParaRPr lang="en-US"/>
        </a:p>
      </dgm:t>
    </dgm:pt>
    <dgm:pt modelId="{98E6C0E5-65EA-4C25-8591-FD29F9D6585E}" type="parTrans" cxnId="{7A3A93AF-C2F5-44BD-BBC4-23473D22A65E}">
      <dgm:prSet/>
      <dgm:spPr/>
      <dgm:t>
        <a:bodyPr/>
        <a:lstStyle/>
        <a:p>
          <a:endParaRPr lang="en-US"/>
        </a:p>
      </dgm:t>
    </dgm:pt>
    <dgm:pt modelId="{86089D26-A91C-491B-9D35-264B7C45E32E}" type="sibTrans" cxnId="{7A3A93AF-C2F5-44BD-BBC4-23473D22A65E}">
      <dgm:prSet/>
      <dgm:spPr/>
      <dgm:t>
        <a:bodyPr/>
        <a:lstStyle/>
        <a:p>
          <a:endParaRPr lang="en-US"/>
        </a:p>
      </dgm:t>
    </dgm:pt>
    <dgm:pt modelId="{D218CCB4-B9DB-4628-8061-7DEA54F5A2C9}">
      <dgm:prSet/>
      <dgm:spPr/>
      <dgm:t>
        <a:bodyPr/>
        <a:lstStyle/>
        <a:p>
          <a:r>
            <a:rPr lang="en-US" b="1"/>
            <a:t>disciplinary programs, </a:t>
          </a:r>
          <a:endParaRPr lang="en-US"/>
        </a:p>
      </dgm:t>
    </dgm:pt>
    <dgm:pt modelId="{801E20DC-B927-4EE8-868C-39654B7E1936}" type="parTrans" cxnId="{7CC4862A-063E-4675-820A-5D54267A9937}">
      <dgm:prSet/>
      <dgm:spPr/>
      <dgm:t>
        <a:bodyPr/>
        <a:lstStyle/>
        <a:p>
          <a:endParaRPr lang="en-US"/>
        </a:p>
      </dgm:t>
    </dgm:pt>
    <dgm:pt modelId="{366C3123-90D6-4432-8ED2-9985DABAEF5C}" type="sibTrans" cxnId="{7CC4862A-063E-4675-820A-5D54267A9937}">
      <dgm:prSet/>
      <dgm:spPr/>
      <dgm:t>
        <a:bodyPr/>
        <a:lstStyle/>
        <a:p>
          <a:endParaRPr lang="en-US"/>
        </a:p>
      </dgm:t>
    </dgm:pt>
    <dgm:pt modelId="{88BF83F9-7CC2-4FFF-B629-BEC18F629CC8}">
      <dgm:prSet/>
      <dgm:spPr/>
      <dgm:t>
        <a:bodyPr/>
        <a:lstStyle/>
        <a:p>
          <a:r>
            <a:rPr lang="en-US" b="1"/>
            <a:t>observations, and training and development assessments. </a:t>
          </a:r>
          <a:endParaRPr lang="en-US"/>
        </a:p>
      </dgm:t>
    </dgm:pt>
    <dgm:pt modelId="{A0D7553C-5F01-4F0C-A6F3-CA5B1A0339E4}" type="parTrans" cxnId="{921400E9-804D-4CDB-AE89-2FA73F696635}">
      <dgm:prSet/>
      <dgm:spPr/>
      <dgm:t>
        <a:bodyPr/>
        <a:lstStyle/>
        <a:p>
          <a:endParaRPr lang="en-US"/>
        </a:p>
      </dgm:t>
    </dgm:pt>
    <dgm:pt modelId="{0E649A7D-4364-42AE-B3B0-75A1BB454C7A}" type="sibTrans" cxnId="{921400E9-804D-4CDB-AE89-2FA73F696635}">
      <dgm:prSet/>
      <dgm:spPr/>
      <dgm:t>
        <a:bodyPr/>
        <a:lstStyle/>
        <a:p>
          <a:endParaRPr lang="en-US"/>
        </a:p>
      </dgm:t>
    </dgm:pt>
    <dgm:pt modelId="{18874A77-E2CA-4B24-B703-6F9B90B0D9D1}">
      <dgm:prSet/>
      <dgm:spPr/>
      <dgm:t>
        <a:bodyPr/>
        <a:lstStyle/>
        <a:p>
          <a:r>
            <a:rPr lang="en-US"/>
            <a:t>Because the quality of a firm’s personnel, to a large degree, determines the firm’s overall effectiveness, controlling this area is very crucial.</a:t>
          </a:r>
        </a:p>
      </dgm:t>
    </dgm:pt>
    <dgm:pt modelId="{55FCFF89-9D96-429B-9242-255324F50942}" type="parTrans" cxnId="{39B86F53-1D4D-47DF-B623-A80901DC872D}">
      <dgm:prSet/>
      <dgm:spPr/>
      <dgm:t>
        <a:bodyPr/>
        <a:lstStyle/>
        <a:p>
          <a:endParaRPr lang="en-US"/>
        </a:p>
      </dgm:t>
    </dgm:pt>
    <dgm:pt modelId="{9A461B3E-6BE9-46DE-9FE2-C0060376FB91}" type="sibTrans" cxnId="{39B86F53-1D4D-47DF-B623-A80901DC872D}">
      <dgm:prSet/>
      <dgm:spPr/>
      <dgm:t>
        <a:bodyPr/>
        <a:lstStyle/>
        <a:p>
          <a:endParaRPr lang="en-US"/>
        </a:p>
      </dgm:t>
    </dgm:pt>
    <dgm:pt modelId="{44CAA570-F77C-4A59-9DCC-7A1FBA7816CF}" type="pres">
      <dgm:prSet presAssocID="{CCA322B6-9119-4334-86B7-E9ACDDDE6D5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B5829B-8489-4780-8547-49CFF371B627}" type="pres">
      <dgm:prSet presAssocID="{BE58CAE6-9766-436C-8A27-C89B55EA527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92E8E6-E765-4F80-B274-876CC2C6F554}" type="pres">
      <dgm:prSet presAssocID="{BE58CAE6-9766-436C-8A27-C89B55EA5273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1400E9-804D-4CDB-AE89-2FA73F696635}" srcId="{BE58CAE6-9766-436C-8A27-C89B55EA5273}" destId="{88BF83F9-7CC2-4FFF-B629-BEC18F629CC8}" srcOrd="6" destOrd="0" parTransId="{A0D7553C-5F01-4F0C-A6F3-CA5B1A0339E4}" sibTransId="{0E649A7D-4364-42AE-B3B0-75A1BB454C7A}"/>
    <dgm:cxn modelId="{F577B632-2B73-4DEB-9746-D4D369B93460}" type="presOf" srcId="{BE58CAE6-9766-436C-8A27-C89B55EA5273}" destId="{1EB5829B-8489-4780-8547-49CFF371B627}" srcOrd="0" destOrd="0" presId="urn:microsoft.com/office/officeart/2005/8/layout/vList2"/>
    <dgm:cxn modelId="{6B6A8F7D-61CA-4EBA-958D-051A271B3EAF}" srcId="{BE58CAE6-9766-436C-8A27-C89B55EA5273}" destId="{8CC7BED9-C239-4ABC-9E9D-6827580A4879}" srcOrd="0" destOrd="0" parTransId="{86660F74-7918-4F42-9261-D8726D1CA734}" sibTransId="{32FC6441-D6EB-413A-8249-AE31F362819E}"/>
    <dgm:cxn modelId="{39B86F53-1D4D-47DF-B623-A80901DC872D}" srcId="{BE58CAE6-9766-436C-8A27-C89B55EA5273}" destId="{18874A77-E2CA-4B24-B703-6F9B90B0D9D1}" srcOrd="7" destOrd="0" parTransId="{55FCFF89-9D96-429B-9242-255324F50942}" sibTransId="{9A461B3E-6BE9-46DE-9FE2-C0060376FB91}"/>
    <dgm:cxn modelId="{AA8DE9C8-CB25-44D4-9852-0FB1BC3402BF}" type="presOf" srcId="{CCA322B6-9119-4334-86B7-E9ACDDDE6D5E}" destId="{44CAA570-F77C-4A59-9DCC-7A1FBA7816CF}" srcOrd="0" destOrd="0" presId="urn:microsoft.com/office/officeart/2005/8/layout/vList2"/>
    <dgm:cxn modelId="{17133915-F7C3-48A8-B29B-755669404ABA}" type="presOf" srcId="{3FB882C3-4E5C-477E-843C-560D810CD941}" destId="{AA92E8E6-E765-4F80-B274-876CC2C6F554}" srcOrd="0" destOrd="2" presId="urn:microsoft.com/office/officeart/2005/8/layout/vList2"/>
    <dgm:cxn modelId="{6385D897-F141-4850-ADEB-E412975BB129}" type="presOf" srcId="{BDE7773A-FB28-469C-8D1C-71D9BCCFA3EB}" destId="{AA92E8E6-E765-4F80-B274-876CC2C6F554}" srcOrd="0" destOrd="1" presId="urn:microsoft.com/office/officeart/2005/8/layout/vList2"/>
    <dgm:cxn modelId="{0DACA542-DD04-41E6-9C02-796FD8C57782}" type="presOf" srcId="{88BF83F9-7CC2-4FFF-B629-BEC18F629CC8}" destId="{AA92E8E6-E765-4F80-B274-876CC2C6F554}" srcOrd="0" destOrd="6" presId="urn:microsoft.com/office/officeart/2005/8/layout/vList2"/>
    <dgm:cxn modelId="{23E2A8CF-4A59-4881-B890-66ED71897BD4}" srcId="{BE58CAE6-9766-436C-8A27-C89B55EA5273}" destId="{3FB882C3-4E5C-477E-843C-560D810CD941}" srcOrd="2" destOrd="0" parTransId="{4DE041F9-BB30-4E5B-948B-0CA6735B82F0}" sibTransId="{D6B478DF-5C8E-4C0F-A7C1-7CB1A50A9852}"/>
    <dgm:cxn modelId="{D1B14C41-63C4-4DBA-AD13-F7778A94483D}" srcId="{CCA322B6-9119-4334-86B7-E9ACDDDE6D5E}" destId="{BE58CAE6-9766-436C-8A27-C89B55EA5273}" srcOrd="0" destOrd="0" parTransId="{F901DA1D-C5DD-4F0C-8C6E-182757673D2D}" sibTransId="{4CF1EF15-E76C-4403-8465-D94027F4AF02}"/>
    <dgm:cxn modelId="{A253124E-C14C-4F2B-8F34-AC8FF40FA3CC}" type="presOf" srcId="{1D0339E4-57C8-4102-AD23-915A4E7E3575}" destId="{AA92E8E6-E765-4F80-B274-876CC2C6F554}" srcOrd="0" destOrd="3" presId="urn:microsoft.com/office/officeart/2005/8/layout/vList2"/>
    <dgm:cxn modelId="{6857F02D-4284-41E9-8D49-D84EAF1C1D39}" type="presOf" srcId="{102699C8-13A6-42BC-A874-62263DBB234E}" destId="{AA92E8E6-E765-4F80-B274-876CC2C6F554}" srcOrd="0" destOrd="4" presId="urn:microsoft.com/office/officeart/2005/8/layout/vList2"/>
    <dgm:cxn modelId="{7611A244-22C2-47F5-91E9-EAA6707E1402}" srcId="{BE58CAE6-9766-436C-8A27-C89B55EA5273}" destId="{BDE7773A-FB28-469C-8D1C-71D9BCCFA3EB}" srcOrd="1" destOrd="0" parTransId="{B2CFDCDD-4376-4EC3-A445-45D14E5C83B1}" sibTransId="{A3A27A23-8AA3-4E4B-8733-C0EC782B207F}"/>
    <dgm:cxn modelId="{E9E0F720-A27D-4301-9256-F0E6A2613BF7}" type="presOf" srcId="{18874A77-E2CA-4B24-B703-6F9B90B0D9D1}" destId="{AA92E8E6-E765-4F80-B274-876CC2C6F554}" srcOrd="0" destOrd="7" presId="urn:microsoft.com/office/officeart/2005/8/layout/vList2"/>
    <dgm:cxn modelId="{1E07F5DE-E9EC-4F5A-9A9F-4519A1A27D77}" type="presOf" srcId="{D218CCB4-B9DB-4628-8061-7DEA54F5A2C9}" destId="{AA92E8E6-E765-4F80-B274-876CC2C6F554}" srcOrd="0" destOrd="5" presId="urn:microsoft.com/office/officeart/2005/8/layout/vList2"/>
    <dgm:cxn modelId="{4A43013F-2FD8-4E3C-A330-62D015F1A6D6}" srcId="{BE58CAE6-9766-436C-8A27-C89B55EA5273}" destId="{1D0339E4-57C8-4102-AD23-915A4E7E3575}" srcOrd="3" destOrd="0" parTransId="{D15EE1AA-BCFE-487B-B11A-BA4DF807C87E}" sibTransId="{51E45072-140E-462D-A3B1-B52B7AE67356}"/>
    <dgm:cxn modelId="{7CC4862A-063E-4675-820A-5D54267A9937}" srcId="{BE58CAE6-9766-436C-8A27-C89B55EA5273}" destId="{D218CCB4-B9DB-4628-8061-7DEA54F5A2C9}" srcOrd="5" destOrd="0" parTransId="{801E20DC-B927-4EE8-868C-39654B7E1936}" sibTransId="{366C3123-90D6-4432-8ED2-9985DABAEF5C}"/>
    <dgm:cxn modelId="{7A3A93AF-C2F5-44BD-BBC4-23473D22A65E}" srcId="{BE58CAE6-9766-436C-8A27-C89B55EA5273}" destId="{102699C8-13A6-42BC-A874-62263DBB234E}" srcOrd="4" destOrd="0" parTransId="{98E6C0E5-65EA-4C25-8591-FD29F9D6585E}" sibTransId="{86089D26-A91C-491B-9D35-264B7C45E32E}"/>
    <dgm:cxn modelId="{F72CB7E6-08CE-48C8-8359-E8A987A36D17}" type="presOf" srcId="{8CC7BED9-C239-4ABC-9E9D-6827580A4879}" destId="{AA92E8E6-E765-4F80-B274-876CC2C6F554}" srcOrd="0" destOrd="0" presId="urn:microsoft.com/office/officeart/2005/8/layout/vList2"/>
    <dgm:cxn modelId="{B3448065-7D80-4199-A755-EFE3A67D98EB}" type="presParOf" srcId="{44CAA570-F77C-4A59-9DCC-7A1FBA7816CF}" destId="{1EB5829B-8489-4780-8547-49CFF371B627}" srcOrd="0" destOrd="0" presId="urn:microsoft.com/office/officeart/2005/8/layout/vList2"/>
    <dgm:cxn modelId="{D306AE14-4A37-4953-AC3D-D827955BD7B2}" type="presParOf" srcId="{44CAA570-F77C-4A59-9DCC-7A1FBA7816CF}" destId="{AA92E8E6-E765-4F80-B274-876CC2C6F55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41F81D9D-2686-4228-8404-9F591AD21C97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4D37551-7A99-41C6-8A5A-567035E9B9BE}">
      <dgm:prSet/>
      <dgm:spPr/>
      <dgm:t>
        <a:bodyPr/>
        <a:lstStyle/>
        <a:p>
          <a:r>
            <a:rPr lang="en-US" b="1"/>
            <a:t>Computers and information controls: </a:t>
          </a:r>
          <a:endParaRPr lang="en-US"/>
        </a:p>
      </dgm:t>
    </dgm:pt>
    <dgm:pt modelId="{2DE23B1C-A495-4A7B-98AD-75F4302546C0}" type="parTrans" cxnId="{AAA9CDED-12EA-40F4-BE21-A49951BCC973}">
      <dgm:prSet/>
      <dgm:spPr/>
      <dgm:t>
        <a:bodyPr/>
        <a:lstStyle/>
        <a:p>
          <a:endParaRPr lang="en-US"/>
        </a:p>
      </dgm:t>
    </dgm:pt>
    <dgm:pt modelId="{6B10795E-96D2-446F-B187-74A4406ECEDD}" type="sibTrans" cxnId="{AAA9CDED-12EA-40F4-BE21-A49951BCC973}">
      <dgm:prSet/>
      <dgm:spPr/>
      <dgm:t>
        <a:bodyPr/>
        <a:lstStyle/>
        <a:p>
          <a:endParaRPr lang="en-US"/>
        </a:p>
      </dgm:t>
    </dgm:pt>
    <dgm:pt modelId="{0BACB865-8699-406C-BA40-0D3AF7A57648}">
      <dgm:prSet/>
      <dgm:spPr/>
      <dgm:t>
        <a:bodyPr/>
        <a:lstStyle/>
        <a:p>
          <a:r>
            <a:rPr lang="en-US"/>
            <a:t>Almost all </a:t>
          </a:r>
          <a:r>
            <a:rPr lang="en-US" b="1" u="sng"/>
            <a:t>organizations have confidential and sensitive information that they don’t want to become general knowledge.</a:t>
          </a:r>
          <a:endParaRPr lang="en-US"/>
        </a:p>
      </dgm:t>
    </dgm:pt>
    <dgm:pt modelId="{A752B1CC-7DE3-41A3-91CA-79F1D5600431}" type="parTrans" cxnId="{D0E87AFF-981A-43EE-B474-AC83A189453C}">
      <dgm:prSet/>
      <dgm:spPr/>
      <dgm:t>
        <a:bodyPr/>
        <a:lstStyle/>
        <a:p>
          <a:endParaRPr lang="en-US"/>
        </a:p>
      </dgm:t>
    </dgm:pt>
    <dgm:pt modelId="{83568AB6-E12B-4791-B24F-9C82369BEBBA}" type="sibTrans" cxnId="{D0E87AFF-981A-43EE-B474-AC83A189453C}">
      <dgm:prSet/>
      <dgm:spPr/>
      <dgm:t>
        <a:bodyPr/>
        <a:lstStyle/>
        <a:p>
          <a:endParaRPr lang="en-US"/>
        </a:p>
      </dgm:t>
    </dgm:pt>
    <dgm:pt modelId="{B0746909-F0C7-465E-A532-FB2F9CBB98FE}">
      <dgm:prSet/>
      <dgm:spPr/>
      <dgm:t>
        <a:bodyPr/>
        <a:lstStyle/>
        <a:p>
          <a:r>
            <a:rPr lang="en-US" b="1" u="sng"/>
            <a:t>Controlling access to computer databases is the key to this area</a:t>
          </a:r>
          <a:r>
            <a:rPr lang="en-US"/>
            <a:t>.  Increasingly, computers are being used to collect and store information for control purposes.</a:t>
          </a:r>
        </a:p>
      </dgm:t>
    </dgm:pt>
    <dgm:pt modelId="{C05159F7-8054-4A07-8E0B-FA33D3067601}" type="parTrans" cxnId="{7FBE93EA-32E9-4E67-A87E-D4251798F70F}">
      <dgm:prSet/>
      <dgm:spPr/>
      <dgm:t>
        <a:bodyPr/>
        <a:lstStyle/>
        <a:p>
          <a:endParaRPr lang="en-US"/>
        </a:p>
      </dgm:t>
    </dgm:pt>
    <dgm:pt modelId="{1403390A-6D4E-4E7D-AF3B-22D0C15DE730}" type="sibTrans" cxnId="{7FBE93EA-32E9-4E67-A87E-D4251798F70F}">
      <dgm:prSet/>
      <dgm:spPr/>
      <dgm:t>
        <a:bodyPr/>
        <a:lstStyle/>
        <a:p>
          <a:endParaRPr lang="en-US"/>
        </a:p>
      </dgm:t>
    </dgm:pt>
    <dgm:pt modelId="{07B8DEC2-4453-44C6-8FB5-55DA6B704468}">
      <dgm:prSet/>
      <dgm:spPr/>
      <dgm:t>
        <a:bodyPr/>
        <a:lstStyle/>
        <a:p>
          <a:r>
            <a:rPr lang="en-US" b="1" u="sng"/>
            <a:t>Many organizations privately monitor each employee’s computer usage to measure employee performance</a:t>
          </a:r>
          <a:r>
            <a:rPr lang="en-US"/>
            <a:t>, among other things. Some people question the appropriateness of computer monitoring. </a:t>
          </a:r>
        </a:p>
      </dgm:t>
    </dgm:pt>
    <dgm:pt modelId="{88AFFA56-1D4A-4ADE-BF06-883F81C12CBD}" type="parTrans" cxnId="{38D985E3-354F-41BF-A2C4-D04C3B9E8D8B}">
      <dgm:prSet/>
      <dgm:spPr/>
      <dgm:t>
        <a:bodyPr/>
        <a:lstStyle/>
        <a:p>
          <a:endParaRPr lang="en-US"/>
        </a:p>
      </dgm:t>
    </dgm:pt>
    <dgm:pt modelId="{D45611F3-1F55-4B64-8B14-0702BABB8806}" type="sibTrans" cxnId="{38D985E3-354F-41BF-A2C4-D04C3B9E8D8B}">
      <dgm:prSet/>
      <dgm:spPr/>
      <dgm:t>
        <a:bodyPr/>
        <a:lstStyle/>
        <a:p>
          <a:endParaRPr lang="en-US"/>
        </a:p>
      </dgm:t>
    </dgm:pt>
    <dgm:pt modelId="{EE541175-A1AA-43BF-BB49-30365FDA2506}">
      <dgm:prSet/>
      <dgm:spPr/>
      <dgm:t>
        <a:bodyPr/>
        <a:lstStyle/>
        <a:p>
          <a:r>
            <a:rPr lang="en-US" b="1" u="sng"/>
            <a:t>Managers must carefully weigh the benefits against the costs (both human and financial) before investing in and implementing computerized control techniques.</a:t>
          </a:r>
          <a:endParaRPr lang="en-US"/>
        </a:p>
      </dgm:t>
    </dgm:pt>
    <dgm:pt modelId="{F1B09034-1EEF-47BC-A4F0-A4B9E29ED9C5}" type="parTrans" cxnId="{D8FFADBA-B613-4BAE-90B9-63E5BFAC3473}">
      <dgm:prSet/>
      <dgm:spPr/>
      <dgm:t>
        <a:bodyPr/>
        <a:lstStyle/>
        <a:p>
          <a:endParaRPr lang="en-US"/>
        </a:p>
      </dgm:t>
    </dgm:pt>
    <dgm:pt modelId="{79809B08-4431-4B1C-8635-89B82F90961B}" type="sibTrans" cxnId="{D8FFADBA-B613-4BAE-90B9-63E5BFAC3473}">
      <dgm:prSet/>
      <dgm:spPr/>
      <dgm:t>
        <a:bodyPr/>
        <a:lstStyle/>
        <a:p>
          <a:endParaRPr lang="en-US"/>
        </a:p>
      </dgm:t>
    </dgm:pt>
    <dgm:pt modelId="{0BE2F6E9-2C7C-4EB1-B77F-8322FBF2FAB0}">
      <dgm:prSet/>
      <dgm:spPr/>
      <dgm:t>
        <a:bodyPr/>
        <a:lstStyle/>
        <a:p>
          <a:r>
            <a:rPr lang="en-US"/>
            <a:t>Although computers and information systems provide enormous benefits, such as improved productivity and information management, organizations should remember the following limitations of the use of information technology:</a:t>
          </a:r>
        </a:p>
      </dgm:t>
    </dgm:pt>
    <dgm:pt modelId="{315A3396-09E3-4BCC-ABDA-07767167A622}" type="parTrans" cxnId="{995EF2CC-F457-4579-A59F-1377DC20B52E}">
      <dgm:prSet/>
      <dgm:spPr/>
      <dgm:t>
        <a:bodyPr/>
        <a:lstStyle/>
        <a:p>
          <a:endParaRPr lang="en-US"/>
        </a:p>
      </dgm:t>
    </dgm:pt>
    <dgm:pt modelId="{8DEEE665-A5EF-46B2-A7CF-B5174AC0DA35}" type="sibTrans" cxnId="{995EF2CC-F457-4579-A59F-1377DC20B52E}">
      <dgm:prSet/>
      <dgm:spPr/>
      <dgm:t>
        <a:bodyPr/>
        <a:lstStyle/>
        <a:p>
          <a:endParaRPr lang="en-US"/>
        </a:p>
      </dgm:t>
    </dgm:pt>
    <dgm:pt modelId="{0E1F2CC1-3F96-48AA-9C9C-FF6CE8A67AA1}" type="pres">
      <dgm:prSet presAssocID="{41F81D9D-2686-4228-8404-9F591AD21C9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75CDA0-F455-46B9-A79C-BFF90927A5DF}" type="pres">
      <dgm:prSet presAssocID="{64D37551-7A99-41C6-8A5A-567035E9B9B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1A14C-D0C7-4475-A2EC-40DA706D9DB0}" type="pres">
      <dgm:prSet presAssocID="{64D37551-7A99-41C6-8A5A-567035E9B9BE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BE93EA-32E9-4E67-A87E-D4251798F70F}" srcId="{64D37551-7A99-41C6-8A5A-567035E9B9BE}" destId="{B0746909-F0C7-465E-A532-FB2F9CBB98FE}" srcOrd="1" destOrd="0" parTransId="{C05159F7-8054-4A07-8E0B-FA33D3067601}" sibTransId="{1403390A-6D4E-4E7D-AF3B-22D0C15DE730}"/>
    <dgm:cxn modelId="{51E1699D-8736-44F1-B473-39D3A2C443E1}" type="presOf" srcId="{64D37551-7A99-41C6-8A5A-567035E9B9BE}" destId="{4775CDA0-F455-46B9-A79C-BFF90927A5DF}" srcOrd="0" destOrd="0" presId="urn:microsoft.com/office/officeart/2005/8/layout/vList2"/>
    <dgm:cxn modelId="{2E7DF930-1564-4645-B75F-884AED1F2966}" type="presOf" srcId="{41F81D9D-2686-4228-8404-9F591AD21C97}" destId="{0E1F2CC1-3F96-48AA-9C9C-FF6CE8A67AA1}" srcOrd="0" destOrd="0" presId="urn:microsoft.com/office/officeart/2005/8/layout/vList2"/>
    <dgm:cxn modelId="{D0E87AFF-981A-43EE-B474-AC83A189453C}" srcId="{64D37551-7A99-41C6-8A5A-567035E9B9BE}" destId="{0BACB865-8699-406C-BA40-0D3AF7A57648}" srcOrd="0" destOrd="0" parTransId="{A752B1CC-7DE3-41A3-91CA-79F1D5600431}" sibTransId="{83568AB6-E12B-4791-B24F-9C82369BEBBA}"/>
    <dgm:cxn modelId="{6E3B234D-92EF-44C9-B899-B73F5D01E0BB}" type="presOf" srcId="{0BE2F6E9-2C7C-4EB1-B77F-8322FBF2FAB0}" destId="{5A81A14C-D0C7-4475-A2EC-40DA706D9DB0}" srcOrd="0" destOrd="4" presId="urn:microsoft.com/office/officeart/2005/8/layout/vList2"/>
    <dgm:cxn modelId="{D8FFADBA-B613-4BAE-90B9-63E5BFAC3473}" srcId="{64D37551-7A99-41C6-8A5A-567035E9B9BE}" destId="{EE541175-A1AA-43BF-BB49-30365FDA2506}" srcOrd="3" destOrd="0" parTransId="{F1B09034-1EEF-47BC-A4F0-A4B9E29ED9C5}" sibTransId="{79809B08-4431-4B1C-8635-89B82F90961B}"/>
    <dgm:cxn modelId="{DFA47376-FD29-4EBA-B66B-6E6BE409FC30}" type="presOf" srcId="{EE541175-A1AA-43BF-BB49-30365FDA2506}" destId="{5A81A14C-D0C7-4475-A2EC-40DA706D9DB0}" srcOrd="0" destOrd="3" presId="urn:microsoft.com/office/officeart/2005/8/layout/vList2"/>
    <dgm:cxn modelId="{697CED93-526A-4BF4-8FF9-FA8E2659CF3C}" type="presOf" srcId="{B0746909-F0C7-465E-A532-FB2F9CBB98FE}" destId="{5A81A14C-D0C7-4475-A2EC-40DA706D9DB0}" srcOrd="0" destOrd="1" presId="urn:microsoft.com/office/officeart/2005/8/layout/vList2"/>
    <dgm:cxn modelId="{38D985E3-354F-41BF-A2C4-D04C3B9E8D8B}" srcId="{64D37551-7A99-41C6-8A5A-567035E9B9BE}" destId="{07B8DEC2-4453-44C6-8FB5-55DA6B704468}" srcOrd="2" destOrd="0" parTransId="{88AFFA56-1D4A-4ADE-BF06-883F81C12CBD}" sibTransId="{D45611F3-1F55-4B64-8B14-0702BABB8806}"/>
    <dgm:cxn modelId="{35F69E41-0FEC-4993-916E-A8E8D2A3FAE7}" type="presOf" srcId="{07B8DEC2-4453-44C6-8FB5-55DA6B704468}" destId="{5A81A14C-D0C7-4475-A2EC-40DA706D9DB0}" srcOrd="0" destOrd="2" presId="urn:microsoft.com/office/officeart/2005/8/layout/vList2"/>
    <dgm:cxn modelId="{CFC199AB-F574-4647-AAC1-BB83F101CC6D}" type="presOf" srcId="{0BACB865-8699-406C-BA40-0D3AF7A57648}" destId="{5A81A14C-D0C7-4475-A2EC-40DA706D9DB0}" srcOrd="0" destOrd="0" presId="urn:microsoft.com/office/officeart/2005/8/layout/vList2"/>
    <dgm:cxn modelId="{AAA9CDED-12EA-40F4-BE21-A49951BCC973}" srcId="{41F81D9D-2686-4228-8404-9F591AD21C97}" destId="{64D37551-7A99-41C6-8A5A-567035E9B9BE}" srcOrd="0" destOrd="0" parTransId="{2DE23B1C-A495-4A7B-98AD-75F4302546C0}" sibTransId="{6B10795E-96D2-446F-B187-74A4406ECEDD}"/>
    <dgm:cxn modelId="{995EF2CC-F457-4579-A59F-1377DC20B52E}" srcId="{64D37551-7A99-41C6-8A5A-567035E9B9BE}" destId="{0BE2F6E9-2C7C-4EB1-B77F-8322FBF2FAB0}" srcOrd="4" destOrd="0" parTransId="{315A3396-09E3-4BCC-ABDA-07767167A622}" sibTransId="{8DEEE665-A5EF-46B2-A7CF-B5174AC0DA35}"/>
    <dgm:cxn modelId="{BB0DC4F8-AEA2-40E6-95B4-ABECCA91D209}" type="presParOf" srcId="{0E1F2CC1-3F96-48AA-9C9C-FF6CE8A67AA1}" destId="{4775CDA0-F455-46B9-A79C-BFF90927A5DF}" srcOrd="0" destOrd="0" presId="urn:microsoft.com/office/officeart/2005/8/layout/vList2"/>
    <dgm:cxn modelId="{143D3C24-47D8-42D7-A8DA-6B9F5A29704D}" type="presParOf" srcId="{0E1F2CC1-3F96-48AA-9C9C-FF6CE8A67AA1}" destId="{5A81A14C-D0C7-4475-A2EC-40DA706D9DB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D2CC706-0568-42BD-A40E-AB7575F1E41A}" type="doc">
      <dgm:prSet loTypeId="urn:microsoft.com/office/officeart/2005/8/layout/vList2" loCatId="list" qsTypeId="urn:microsoft.com/office/officeart/2005/8/quickstyle/3d1" qsCatId="3D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0C60A41-40A9-4C00-AFD7-49B283ED76BA}">
      <dgm:prSet/>
      <dgm:spPr/>
      <dgm:t>
        <a:bodyPr/>
        <a:lstStyle/>
        <a:p>
          <a:r>
            <a:rPr lang="en-US"/>
            <a:t>a) </a:t>
          </a:r>
          <a:r>
            <a:rPr lang="en-US" b="1"/>
            <a:t>Performance limitations</a:t>
          </a:r>
          <a:r>
            <a:rPr lang="en-US"/>
            <a:t>. </a:t>
          </a:r>
        </a:p>
      </dgm:t>
    </dgm:pt>
    <dgm:pt modelId="{C070D128-144D-40DC-AAE1-7D8FFF438926}" type="parTrans" cxnId="{2D336168-827B-42AE-8193-9B00E9B0750A}">
      <dgm:prSet/>
      <dgm:spPr/>
      <dgm:t>
        <a:bodyPr/>
        <a:lstStyle/>
        <a:p>
          <a:endParaRPr lang="en-US"/>
        </a:p>
      </dgm:t>
    </dgm:pt>
    <dgm:pt modelId="{E98251C5-3578-4715-B501-A452F24BE856}" type="sibTrans" cxnId="{2D336168-827B-42AE-8193-9B00E9B0750A}">
      <dgm:prSet/>
      <dgm:spPr/>
      <dgm:t>
        <a:bodyPr/>
        <a:lstStyle/>
        <a:p>
          <a:endParaRPr lang="en-US"/>
        </a:p>
      </dgm:t>
    </dgm:pt>
    <dgm:pt modelId="{50DCFD9D-4336-420B-AFE9-B4FA63BF9CD7}">
      <dgm:prSet/>
      <dgm:spPr/>
      <dgm:t>
        <a:bodyPr/>
        <a:lstStyle/>
        <a:p>
          <a:r>
            <a:rPr lang="en-US"/>
            <a:t>technology </a:t>
          </a:r>
          <a:r>
            <a:rPr lang="en-US" b="1" u="sng"/>
            <a:t>may result in the loss of expert knowledge that these individuals hold. </a:t>
          </a:r>
          <a:endParaRPr lang="en-US"/>
        </a:p>
      </dgm:t>
    </dgm:pt>
    <dgm:pt modelId="{7B108E5C-41C7-4986-9D34-33EFB64200B9}" type="parTrans" cxnId="{8327B250-86F4-40B2-B8F9-BFD3B0A176D1}">
      <dgm:prSet/>
      <dgm:spPr/>
      <dgm:t>
        <a:bodyPr/>
        <a:lstStyle/>
        <a:p>
          <a:endParaRPr lang="en-US"/>
        </a:p>
      </dgm:t>
    </dgm:pt>
    <dgm:pt modelId="{7E93402A-30F4-446C-A241-593081467E88}" type="sibTrans" cxnId="{8327B250-86F4-40B2-B8F9-BFD3B0A176D1}">
      <dgm:prSet/>
      <dgm:spPr/>
      <dgm:t>
        <a:bodyPr/>
        <a:lstStyle/>
        <a:p>
          <a:endParaRPr lang="en-US"/>
        </a:p>
      </dgm:t>
    </dgm:pt>
    <dgm:pt modelId="{D9C4FF44-4D91-46E4-B337-17357493B764}">
      <dgm:prSet/>
      <dgm:spPr/>
      <dgm:t>
        <a:bodyPr/>
        <a:lstStyle/>
        <a:p>
          <a:r>
            <a:rPr lang="en-US"/>
            <a:t>Additionally, </a:t>
          </a:r>
          <a:r>
            <a:rPr lang="en-US" b="1" u="sng"/>
            <a:t>computerized information systems are expensive and difficult to develop</a:t>
          </a:r>
          <a:r>
            <a:rPr lang="en-US"/>
            <a:t>.</a:t>
          </a:r>
        </a:p>
      </dgm:t>
    </dgm:pt>
    <dgm:pt modelId="{13074D84-990D-408F-95CF-01C7B8550C59}" type="parTrans" cxnId="{750B2679-E91F-44CC-AE45-A3CAE5873B45}">
      <dgm:prSet/>
      <dgm:spPr/>
      <dgm:t>
        <a:bodyPr/>
        <a:lstStyle/>
        <a:p>
          <a:endParaRPr lang="en-US"/>
        </a:p>
      </dgm:t>
    </dgm:pt>
    <dgm:pt modelId="{E9D092FD-0E62-445D-B4C0-EA3FDDFACC93}" type="sibTrans" cxnId="{750B2679-E91F-44CC-AE45-A3CAE5873B45}">
      <dgm:prSet/>
      <dgm:spPr/>
      <dgm:t>
        <a:bodyPr/>
        <a:lstStyle/>
        <a:p>
          <a:endParaRPr lang="en-US"/>
        </a:p>
      </dgm:t>
    </dgm:pt>
    <dgm:pt modelId="{685EFCB0-456A-4E4F-AFDC-00912F8FDEFE}">
      <dgm:prSet/>
      <dgm:spPr/>
      <dgm:t>
        <a:bodyPr/>
        <a:lstStyle/>
        <a:p>
          <a:r>
            <a:rPr lang="en-US"/>
            <a:t>After the system has been purchased, coordinating it-possibly with existing equipment-may be more difficult than expected. </a:t>
          </a:r>
        </a:p>
      </dgm:t>
    </dgm:pt>
    <dgm:pt modelId="{D22D1FCE-A70B-4997-BF9C-9955C112EE1B}" type="parTrans" cxnId="{ECBC1EE6-9009-495F-BFD6-5BC8EF2A3363}">
      <dgm:prSet/>
      <dgm:spPr/>
      <dgm:t>
        <a:bodyPr/>
        <a:lstStyle/>
        <a:p>
          <a:endParaRPr lang="en-US"/>
        </a:p>
      </dgm:t>
    </dgm:pt>
    <dgm:pt modelId="{0D3D5C9B-E4CA-4B17-8CF5-C05C4FAF2547}" type="sibTrans" cxnId="{ECBC1EE6-9009-495F-BFD6-5BC8EF2A3363}">
      <dgm:prSet/>
      <dgm:spPr/>
      <dgm:t>
        <a:bodyPr/>
        <a:lstStyle/>
        <a:p>
          <a:endParaRPr lang="en-US"/>
        </a:p>
      </dgm:t>
    </dgm:pt>
    <dgm:pt modelId="{48AACC67-3DF1-44BB-AEA3-B6F2A697772E}">
      <dgm:prSet/>
      <dgm:spPr/>
      <dgm:t>
        <a:bodyPr/>
        <a:lstStyle/>
        <a:p>
          <a:r>
            <a:rPr lang="en-US" b="1" u="sng"/>
            <a:t>Consequently, a company may cut corners or install the system carelessly to the detriment of the system’s performance and utility</a:t>
          </a:r>
          <a:r>
            <a:rPr lang="en-US"/>
            <a:t>.</a:t>
          </a:r>
        </a:p>
      </dgm:t>
    </dgm:pt>
    <dgm:pt modelId="{A2DC037A-F4D1-4912-B2D4-93666D04ACD0}" type="parTrans" cxnId="{17201541-BCC1-44B2-975D-69F92448EE64}">
      <dgm:prSet/>
      <dgm:spPr/>
      <dgm:t>
        <a:bodyPr/>
        <a:lstStyle/>
        <a:p>
          <a:endParaRPr lang="en-US"/>
        </a:p>
      </dgm:t>
    </dgm:pt>
    <dgm:pt modelId="{06E19FAE-4CA6-4924-998C-FBA603D86BEF}" type="sibTrans" cxnId="{17201541-BCC1-44B2-975D-69F92448EE64}">
      <dgm:prSet/>
      <dgm:spPr/>
      <dgm:t>
        <a:bodyPr/>
        <a:lstStyle/>
        <a:p>
          <a:endParaRPr lang="en-US"/>
        </a:p>
      </dgm:t>
    </dgm:pt>
    <dgm:pt modelId="{528475D4-609D-4148-A315-78310B9CFF18}">
      <dgm:prSet/>
      <dgm:spPr/>
      <dgm:t>
        <a:bodyPr/>
        <a:lstStyle/>
        <a:p>
          <a:r>
            <a:rPr lang="en-US"/>
            <a:t>And like other sophisticated electronic equipment, </a:t>
          </a:r>
          <a:r>
            <a:rPr lang="en-US" b="1" u="sng"/>
            <a:t>information systems do not work all the time, resulting in costly downtime.</a:t>
          </a:r>
          <a:endParaRPr lang="en-US"/>
        </a:p>
      </dgm:t>
    </dgm:pt>
    <dgm:pt modelId="{71A1D284-8388-415F-91E9-CB62D0921610}" type="parTrans" cxnId="{28E5B38C-B6E0-4AAF-B049-4129AD8FBFB0}">
      <dgm:prSet/>
      <dgm:spPr/>
      <dgm:t>
        <a:bodyPr/>
        <a:lstStyle/>
        <a:p>
          <a:endParaRPr lang="en-US"/>
        </a:p>
      </dgm:t>
    </dgm:pt>
    <dgm:pt modelId="{03313DAC-0339-4C30-A941-DA2E17D26314}" type="sibTrans" cxnId="{28E5B38C-B6E0-4AAF-B049-4129AD8FBFB0}">
      <dgm:prSet/>
      <dgm:spPr/>
      <dgm:t>
        <a:bodyPr/>
        <a:lstStyle/>
        <a:p>
          <a:endParaRPr lang="en-US"/>
        </a:p>
      </dgm:t>
    </dgm:pt>
    <dgm:pt modelId="{8806B5A7-8261-408F-9D1D-50CB0E5965E2}" type="pres">
      <dgm:prSet presAssocID="{0D2CC706-0568-42BD-A40E-AB7575F1E41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C1F062-174B-47DB-9A8E-302253EA9C05}" type="pres">
      <dgm:prSet presAssocID="{10C60A41-40A9-4C00-AFD7-49B283ED76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E1456E-36B7-467B-A8B8-54756AFBC3D1}" type="pres">
      <dgm:prSet presAssocID="{10C60A41-40A9-4C00-AFD7-49B283ED76BA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27B250-86F4-40B2-B8F9-BFD3B0A176D1}" srcId="{10C60A41-40A9-4C00-AFD7-49B283ED76BA}" destId="{50DCFD9D-4336-420B-AFE9-B4FA63BF9CD7}" srcOrd="0" destOrd="0" parTransId="{7B108E5C-41C7-4986-9D34-33EFB64200B9}" sibTransId="{7E93402A-30F4-446C-A241-593081467E88}"/>
    <dgm:cxn modelId="{17201541-BCC1-44B2-975D-69F92448EE64}" srcId="{10C60A41-40A9-4C00-AFD7-49B283ED76BA}" destId="{48AACC67-3DF1-44BB-AEA3-B6F2A697772E}" srcOrd="3" destOrd="0" parTransId="{A2DC037A-F4D1-4912-B2D4-93666D04ACD0}" sibTransId="{06E19FAE-4CA6-4924-998C-FBA603D86BEF}"/>
    <dgm:cxn modelId="{88C46FF5-3BFD-4455-992C-A8B6CBDE209C}" type="presOf" srcId="{48AACC67-3DF1-44BB-AEA3-B6F2A697772E}" destId="{1FE1456E-36B7-467B-A8B8-54756AFBC3D1}" srcOrd="0" destOrd="3" presId="urn:microsoft.com/office/officeart/2005/8/layout/vList2"/>
    <dgm:cxn modelId="{FFAA56DB-F7BB-4EF7-8755-74F4A496184E}" type="presOf" srcId="{0D2CC706-0568-42BD-A40E-AB7575F1E41A}" destId="{8806B5A7-8261-408F-9D1D-50CB0E5965E2}" srcOrd="0" destOrd="0" presId="urn:microsoft.com/office/officeart/2005/8/layout/vList2"/>
    <dgm:cxn modelId="{61431660-A108-409E-B220-BF4ABC19BC25}" type="presOf" srcId="{10C60A41-40A9-4C00-AFD7-49B283ED76BA}" destId="{D6C1F062-174B-47DB-9A8E-302253EA9C05}" srcOrd="0" destOrd="0" presId="urn:microsoft.com/office/officeart/2005/8/layout/vList2"/>
    <dgm:cxn modelId="{644AEDB6-EF24-4AFE-835B-4B9062717D2B}" type="presOf" srcId="{685EFCB0-456A-4E4F-AFDC-00912F8FDEFE}" destId="{1FE1456E-36B7-467B-A8B8-54756AFBC3D1}" srcOrd="0" destOrd="2" presId="urn:microsoft.com/office/officeart/2005/8/layout/vList2"/>
    <dgm:cxn modelId="{ECBC1EE6-9009-495F-BFD6-5BC8EF2A3363}" srcId="{10C60A41-40A9-4C00-AFD7-49B283ED76BA}" destId="{685EFCB0-456A-4E4F-AFDC-00912F8FDEFE}" srcOrd="2" destOrd="0" parTransId="{D22D1FCE-A70B-4997-BF9C-9955C112EE1B}" sibTransId="{0D3D5C9B-E4CA-4B17-8CF5-C05C4FAF2547}"/>
    <dgm:cxn modelId="{750B2679-E91F-44CC-AE45-A3CAE5873B45}" srcId="{10C60A41-40A9-4C00-AFD7-49B283ED76BA}" destId="{D9C4FF44-4D91-46E4-B337-17357493B764}" srcOrd="1" destOrd="0" parTransId="{13074D84-990D-408F-95CF-01C7B8550C59}" sibTransId="{E9D092FD-0E62-445D-B4C0-EA3FDDFACC93}"/>
    <dgm:cxn modelId="{ADD708BE-5714-43B1-8568-E463F9796698}" type="presOf" srcId="{D9C4FF44-4D91-46E4-B337-17357493B764}" destId="{1FE1456E-36B7-467B-A8B8-54756AFBC3D1}" srcOrd="0" destOrd="1" presId="urn:microsoft.com/office/officeart/2005/8/layout/vList2"/>
    <dgm:cxn modelId="{2D336168-827B-42AE-8193-9B00E9B0750A}" srcId="{0D2CC706-0568-42BD-A40E-AB7575F1E41A}" destId="{10C60A41-40A9-4C00-AFD7-49B283ED76BA}" srcOrd="0" destOrd="0" parTransId="{C070D128-144D-40DC-AAE1-7D8FFF438926}" sibTransId="{E98251C5-3578-4715-B501-A452F24BE856}"/>
    <dgm:cxn modelId="{63985B42-FB07-4143-B296-7B5A978B7CE9}" type="presOf" srcId="{528475D4-609D-4148-A315-78310B9CFF18}" destId="{1FE1456E-36B7-467B-A8B8-54756AFBC3D1}" srcOrd="0" destOrd="4" presId="urn:microsoft.com/office/officeart/2005/8/layout/vList2"/>
    <dgm:cxn modelId="{B1C4720F-E2CB-4A0C-B18E-B2A6D12CE6F7}" type="presOf" srcId="{50DCFD9D-4336-420B-AFE9-B4FA63BF9CD7}" destId="{1FE1456E-36B7-467B-A8B8-54756AFBC3D1}" srcOrd="0" destOrd="0" presId="urn:microsoft.com/office/officeart/2005/8/layout/vList2"/>
    <dgm:cxn modelId="{28E5B38C-B6E0-4AAF-B049-4129AD8FBFB0}" srcId="{10C60A41-40A9-4C00-AFD7-49B283ED76BA}" destId="{528475D4-609D-4148-A315-78310B9CFF18}" srcOrd="4" destOrd="0" parTransId="{71A1D284-8388-415F-91E9-CB62D0921610}" sibTransId="{03313DAC-0339-4C30-A941-DA2E17D26314}"/>
    <dgm:cxn modelId="{E476117D-D2E9-4467-B148-246DB82E6B40}" type="presParOf" srcId="{8806B5A7-8261-408F-9D1D-50CB0E5965E2}" destId="{D6C1F062-174B-47DB-9A8E-302253EA9C05}" srcOrd="0" destOrd="0" presId="urn:microsoft.com/office/officeart/2005/8/layout/vList2"/>
    <dgm:cxn modelId="{A55C41A3-2250-43C9-9C48-B6CBC70B3FEF}" type="presParOf" srcId="{8806B5A7-8261-408F-9D1D-50CB0E5965E2}" destId="{1FE1456E-36B7-467B-A8B8-54756AFBC3D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E821049-9ABA-4121-873F-56B2D583FA15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5B2385-68CA-4C2E-9DEB-411ABEC33269}">
      <dgm:prSet/>
      <dgm:spPr/>
      <dgm:t>
        <a:bodyPr/>
        <a:lstStyle/>
        <a:p>
          <a:r>
            <a:rPr lang="en-US"/>
            <a:t>b) </a:t>
          </a:r>
          <a:r>
            <a:rPr lang="en-US" b="1" u="sng"/>
            <a:t>Behavioral limitations</a:t>
          </a:r>
          <a:r>
            <a:rPr lang="en-US"/>
            <a:t>. </a:t>
          </a:r>
        </a:p>
      </dgm:t>
    </dgm:pt>
    <dgm:pt modelId="{D10712F7-6A5E-4563-BD62-3D20893ED692}" type="parTrans" cxnId="{C882F166-A58C-4617-BC08-0F3E4AB9C359}">
      <dgm:prSet/>
      <dgm:spPr/>
      <dgm:t>
        <a:bodyPr/>
        <a:lstStyle/>
        <a:p>
          <a:endParaRPr lang="en-US"/>
        </a:p>
      </dgm:t>
    </dgm:pt>
    <dgm:pt modelId="{1ABD7918-B6AA-47FE-8085-4424B9F3345F}" type="sibTrans" cxnId="{C882F166-A58C-4617-BC08-0F3E4AB9C359}">
      <dgm:prSet/>
      <dgm:spPr/>
      <dgm:t>
        <a:bodyPr/>
        <a:lstStyle/>
        <a:p>
          <a:endParaRPr lang="en-US"/>
        </a:p>
      </dgm:t>
    </dgm:pt>
    <dgm:pt modelId="{437E02D4-6575-41DF-820D-3A5BF27A74FD}">
      <dgm:prSet/>
      <dgm:spPr/>
      <dgm:t>
        <a:bodyPr/>
        <a:lstStyle/>
        <a:p>
          <a:r>
            <a:rPr lang="en-US"/>
            <a:t>Information technology </a:t>
          </a:r>
          <a:r>
            <a:rPr lang="en-US" b="1" u="sng"/>
            <a:t>allows managers to access more information than ever before.</a:t>
          </a:r>
          <a:r>
            <a:rPr lang="en-US"/>
            <a:t> </a:t>
          </a:r>
        </a:p>
      </dgm:t>
    </dgm:pt>
    <dgm:pt modelId="{29951E55-471E-4421-8D18-4EBF813FE79B}" type="parTrans" cxnId="{11829063-9F2F-4E5E-8BFB-BDD0BB8CEC87}">
      <dgm:prSet/>
      <dgm:spPr/>
      <dgm:t>
        <a:bodyPr/>
        <a:lstStyle/>
        <a:p>
          <a:endParaRPr lang="en-US"/>
        </a:p>
      </dgm:t>
    </dgm:pt>
    <dgm:pt modelId="{5DEF2EE1-13D4-4864-A90F-74F7967D58C5}" type="sibTrans" cxnId="{11829063-9F2F-4E5E-8BFB-BDD0BB8CEC87}">
      <dgm:prSet/>
      <dgm:spPr/>
      <dgm:t>
        <a:bodyPr/>
        <a:lstStyle/>
        <a:p>
          <a:endParaRPr lang="en-US"/>
        </a:p>
      </dgm:t>
    </dgm:pt>
    <dgm:pt modelId="{EEA1F45E-65B6-4237-A2BD-1C1938123DD2}">
      <dgm:prSet/>
      <dgm:spPr/>
      <dgm:t>
        <a:bodyPr/>
        <a:lstStyle/>
        <a:p>
          <a:r>
            <a:rPr lang="en-US" b="1" u="sng"/>
            <a:t>But too much information can overwhelm employees, cause stress,</a:t>
          </a:r>
          <a:r>
            <a:rPr lang="en-US"/>
            <a:t> and even slow decision making. </a:t>
          </a:r>
        </a:p>
      </dgm:t>
    </dgm:pt>
    <dgm:pt modelId="{284EC4D7-5B8F-4B74-9ACE-533FB9E0FAD5}" type="parTrans" cxnId="{39659B39-8DE7-4D07-A45F-DEC790637B10}">
      <dgm:prSet/>
      <dgm:spPr/>
      <dgm:t>
        <a:bodyPr/>
        <a:lstStyle/>
        <a:p>
          <a:endParaRPr lang="en-US"/>
        </a:p>
      </dgm:t>
    </dgm:pt>
    <dgm:pt modelId="{5320CEFE-2373-4D6E-818F-BE57C721819E}" type="sibTrans" cxnId="{39659B39-8DE7-4D07-A45F-DEC790637B10}">
      <dgm:prSet/>
      <dgm:spPr/>
      <dgm:t>
        <a:bodyPr/>
        <a:lstStyle/>
        <a:p>
          <a:endParaRPr lang="en-US"/>
        </a:p>
      </dgm:t>
    </dgm:pt>
    <dgm:pt modelId="{C02578E9-3B23-468D-ACF2-43321CCF0180}">
      <dgm:prSet/>
      <dgm:spPr/>
      <dgm:t>
        <a:bodyPr/>
        <a:lstStyle/>
        <a:p>
          <a:r>
            <a:rPr lang="en-US" b="1" u="sng"/>
            <a:t>Thus, managing the quality and amount of information available to avoid information overload is important.</a:t>
          </a:r>
          <a:endParaRPr lang="en-US"/>
        </a:p>
      </dgm:t>
    </dgm:pt>
    <dgm:pt modelId="{2CFA3178-4454-4483-B3EA-F47A787B4E65}" type="parTrans" cxnId="{C66D5631-4A1B-4108-A745-F1164219E08C}">
      <dgm:prSet/>
      <dgm:spPr/>
      <dgm:t>
        <a:bodyPr/>
        <a:lstStyle/>
        <a:p>
          <a:endParaRPr lang="en-US"/>
        </a:p>
      </dgm:t>
    </dgm:pt>
    <dgm:pt modelId="{AD072390-2CED-4E81-AF0D-DE0E5CEEFE85}" type="sibTrans" cxnId="{C66D5631-4A1B-4108-A745-F1164219E08C}">
      <dgm:prSet/>
      <dgm:spPr/>
      <dgm:t>
        <a:bodyPr/>
        <a:lstStyle/>
        <a:p>
          <a:endParaRPr lang="en-US"/>
        </a:p>
      </dgm:t>
    </dgm:pt>
    <dgm:pt modelId="{DC9E8D2B-1F7A-452D-98EF-F3588FCD0894}" type="pres">
      <dgm:prSet presAssocID="{2E821049-9ABA-4121-873F-56B2D583FA1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41F5024-FB45-48A6-99B7-9066689EAA46}" type="pres">
      <dgm:prSet presAssocID="{155B2385-68CA-4C2E-9DEB-411ABEC3326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1EA876-2A40-43E3-9DB3-F2F98D5C8F24}" type="pres">
      <dgm:prSet presAssocID="{155B2385-68CA-4C2E-9DEB-411ABEC33269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6B771E-C708-4339-B294-AE79BF8AD563}" type="presOf" srcId="{155B2385-68CA-4C2E-9DEB-411ABEC33269}" destId="{C41F5024-FB45-48A6-99B7-9066689EAA46}" srcOrd="0" destOrd="0" presId="urn:microsoft.com/office/officeart/2005/8/layout/vList2"/>
    <dgm:cxn modelId="{01B25E5D-4B2C-4215-B639-0105A325B093}" type="presOf" srcId="{2E821049-9ABA-4121-873F-56B2D583FA15}" destId="{DC9E8D2B-1F7A-452D-98EF-F3588FCD0894}" srcOrd="0" destOrd="0" presId="urn:microsoft.com/office/officeart/2005/8/layout/vList2"/>
    <dgm:cxn modelId="{947A5F7C-C16B-45F5-9094-36D247E8A2EA}" type="presOf" srcId="{437E02D4-6575-41DF-820D-3A5BF27A74FD}" destId="{4E1EA876-2A40-43E3-9DB3-F2F98D5C8F24}" srcOrd="0" destOrd="0" presId="urn:microsoft.com/office/officeart/2005/8/layout/vList2"/>
    <dgm:cxn modelId="{11829063-9F2F-4E5E-8BFB-BDD0BB8CEC87}" srcId="{155B2385-68CA-4C2E-9DEB-411ABEC33269}" destId="{437E02D4-6575-41DF-820D-3A5BF27A74FD}" srcOrd="0" destOrd="0" parTransId="{29951E55-471E-4421-8D18-4EBF813FE79B}" sibTransId="{5DEF2EE1-13D4-4864-A90F-74F7967D58C5}"/>
    <dgm:cxn modelId="{C66D5631-4A1B-4108-A745-F1164219E08C}" srcId="{155B2385-68CA-4C2E-9DEB-411ABEC33269}" destId="{C02578E9-3B23-468D-ACF2-43321CCF0180}" srcOrd="2" destOrd="0" parTransId="{2CFA3178-4454-4483-B3EA-F47A787B4E65}" sibTransId="{AD072390-2CED-4E81-AF0D-DE0E5CEEFE85}"/>
    <dgm:cxn modelId="{B9C83307-F4D1-46E3-BA02-3AA55E42FDA3}" type="presOf" srcId="{EEA1F45E-65B6-4237-A2BD-1C1938123DD2}" destId="{4E1EA876-2A40-43E3-9DB3-F2F98D5C8F24}" srcOrd="0" destOrd="1" presId="urn:microsoft.com/office/officeart/2005/8/layout/vList2"/>
    <dgm:cxn modelId="{8185027A-CA7E-4C73-9BFF-E246299720E0}" type="presOf" srcId="{C02578E9-3B23-468D-ACF2-43321CCF0180}" destId="{4E1EA876-2A40-43E3-9DB3-F2F98D5C8F24}" srcOrd="0" destOrd="2" presId="urn:microsoft.com/office/officeart/2005/8/layout/vList2"/>
    <dgm:cxn modelId="{39659B39-8DE7-4D07-A45F-DEC790637B10}" srcId="{155B2385-68CA-4C2E-9DEB-411ABEC33269}" destId="{EEA1F45E-65B6-4237-A2BD-1C1938123DD2}" srcOrd="1" destOrd="0" parTransId="{284EC4D7-5B8F-4B74-9ACE-533FB9E0FAD5}" sibTransId="{5320CEFE-2373-4D6E-818F-BE57C721819E}"/>
    <dgm:cxn modelId="{C882F166-A58C-4617-BC08-0F3E4AB9C359}" srcId="{2E821049-9ABA-4121-873F-56B2D583FA15}" destId="{155B2385-68CA-4C2E-9DEB-411ABEC33269}" srcOrd="0" destOrd="0" parTransId="{D10712F7-6A5E-4563-BD62-3D20893ED692}" sibTransId="{1ABD7918-B6AA-47FE-8085-4424B9F3345F}"/>
    <dgm:cxn modelId="{7B136251-CC59-456F-9B64-5FE8F6A9B639}" type="presParOf" srcId="{DC9E8D2B-1F7A-452D-98EF-F3588FCD0894}" destId="{C41F5024-FB45-48A6-99B7-9066689EAA46}" srcOrd="0" destOrd="0" presId="urn:microsoft.com/office/officeart/2005/8/layout/vList2"/>
    <dgm:cxn modelId="{ABA78412-87AB-4EFA-8830-968B901B0CB0}" type="presParOf" srcId="{DC9E8D2B-1F7A-452D-98EF-F3588FCD0894}" destId="{4E1EA876-2A40-43E3-9DB3-F2F98D5C8F2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602A190-2C66-494F-9209-544E1A866906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81F7A5-1414-400A-910B-6CD2CA0D8397}">
      <dgm:prSet/>
      <dgm:spPr/>
      <dgm:t>
        <a:bodyPr/>
        <a:lstStyle/>
        <a:p>
          <a:r>
            <a:rPr lang="en-US" b="1"/>
            <a:t>c) Health risks</a:t>
          </a:r>
          <a:r>
            <a:rPr lang="en-US"/>
            <a:t>. </a:t>
          </a:r>
        </a:p>
      </dgm:t>
    </dgm:pt>
    <dgm:pt modelId="{E3040843-D28A-4BB7-8336-43F5048BD533}" type="parTrans" cxnId="{D62257C4-F30A-464E-A12C-799A2E32FF52}">
      <dgm:prSet/>
      <dgm:spPr/>
      <dgm:t>
        <a:bodyPr/>
        <a:lstStyle/>
        <a:p>
          <a:endParaRPr lang="en-US"/>
        </a:p>
      </dgm:t>
    </dgm:pt>
    <dgm:pt modelId="{9DB6C8AC-F7B5-478C-8416-2443237E9412}" type="sibTrans" cxnId="{D62257C4-F30A-464E-A12C-799A2E32FF52}">
      <dgm:prSet/>
      <dgm:spPr/>
      <dgm:t>
        <a:bodyPr/>
        <a:lstStyle/>
        <a:p>
          <a:endParaRPr lang="en-US"/>
        </a:p>
      </dgm:t>
    </dgm:pt>
    <dgm:pt modelId="{1DEC37A5-94D2-4F48-AA29-DCF708F0F20C}">
      <dgm:prSet/>
      <dgm:spPr/>
      <dgm:t>
        <a:bodyPr/>
        <a:lstStyle/>
        <a:p>
          <a:r>
            <a:rPr lang="en-US"/>
            <a:t>Potentially </a:t>
          </a:r>
          <a:r>
            <a:rPr lang="en-US" b="1" u="sng"/>
            <a:t>serious health-related issues associated with the use of computers </a:t>
          </a:r>
          <a:r>
            <a:rPr lang="en-US"/>
            <a:t>and other </a:t>
          </a:r>
          <a:r>
            <a:rPr lang="en-US" b="1" u="sng"/>
            <a:t>information technologies have been raised </a:t>
          </a:r>
          <a:r>
            <a:rPr lang="en-US"/>
            <a:t>in recent years. </a:t>
          </a:r>
        </a:p>
      </dgm:t>
    </dgm:pt>
    <dgm:pt modelId="{5646C166-77F1-4009-B984-DC3EA7514664}" type="parTrans" cxnId="{C3B390A7-C42D-4C95-A352-FAFB39AE8692}">
      <dgm:prSet/>
      <dgm:spPr/>
      <dgm:t>
        <a:bodyPr/>
        <a:lstStyle/>
        <a:p>
          <a:endParaRPr lang="en-US"/>
        </a:p>
      </dgm:t>
    </dgm:pt>
    <dgm:pt modelId="{16BFAF3B-669E-4F4B-9D20-6D650381E07E}" type="sibTrans" cxnId="{C3B390A7-C42D-4C95-A352-FAFB39AE8692}">
      <dgm:prSet/>
      <dgm:spPr/>
      <dgm:t>
        <a:bodyPr/>
        <a:lstStyle/>
        <a:p>
          <a:endParaRPr lang="en-US"/>
        </a:p>
      </dgm:t>
    </dgm:pt>
    <dgm:pt modelId="{236AE4E9-257C-4B1C-AC48-5906DB80B487}">
      <dgm:prSet/>
      <dgm:spPr/>
      <dgm:t>
        <a:bodyPr/>
        <a:lstStyle/>
        <a:p>
          <a:r>
            <a:rPr lang="en-US" b="1" u="sng"/>
            <a:t>An example is carpal tunnel syndrome, a painful disorder in the hands and wrists</a:t>
          </a:r>
          <a:r>
            <a:rPr lang="en-US"/>
            <a:t> caused by repetitive movements (such as those made on a keyboard).</a:t>
          </a:r>
        </a:p>
      </dgm:t>
    </dgm:pt>
    <dgm:pt modelId="{74563D63-E5B9-45AB-B1AA-5D07CE74DF86}" type="parTrans" cxnId="{279B7688-789F-4017-B1D1-CDB02B997C6A}">
      <dgm:prSet/>
      <dgm:spPr/>
      <dgm:t>
        <a:bodyPr/>
        <a:lstStyle/>
        <a:p>
          <a:endParaRPr lang="en-US"/>
        </a:p>
      </dgm:t>
    </dgm:pt>
    <dgm:pt modelId="{2A00BBC7-E69E-4224-AC99-582B44BDE7A7}" type="sibTrans" cxnId="{279B7688-789F-4017-B1D1-CDB02B997C6A}">
      <dgm:prSet/>
      <dgm:spPr/>
      <dgm:t>
        <a:bodyPr/>
        <a:lstStyle/>
        <a:p>
          <a:endParaRPr lang="en-US"/>
        </a:p>
      </dgm:t>
    </dgm:pt>
    <dgm:pt modelId="{2DE8A061-4637-499B-97B5-7759676B1A6F}" type="pres">
      <dgm:prSet presAssocID="{2602A190-2C66-494F-9209-544E1A86690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D05FA5-BBDC-4398-9FAD-E774D13B3703}" type="pres">
      <dgm:prSet presAssocID="{3B81F7A5-1414-400A-910B-6CD2CA0D839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747B71-CBF7-4BA7-89E7-F4DF630FD25F}" type="pres">
      <dgm:prSet presAssocID="{3B81F7A5-1414-400A-910B-6CD2CA0D839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2257C4-F30A-464E-A12C-799A2E32FF52}" srcId="{2602A190-2C66-494F-9209-544E1A866906}" destId="{3B81F7A5-1414-400A-910B-6CD2CA0D8397}" srcOrd="0" destOrd="0" parTransId="{E3040843-D28A-4BB7-8336-43F5048BD533}" sibTransId="{9DB6C8AC-F7B5-478C-8416-2443237E9412}"/>
    <dgm:cxn modelId="{C3B390A7-C42D-4C95-A352-FAFB39AE8692}" srcId="{3B81F7A5-1414-400A-910B-6CD2CA0D8397}" destId="{1DEC37A5-94D2-4F48-AA29-DCF708F0F20C}" srcOrd="0" destOrd="0" parTransId="{5646C166-77F1-4009-B984-DC3EA7514664}" sibTransId="{16BFAF3B-669E-4F4B-9D20-6D650381E07E}"/>
    <dgm:cxn modelId="{9AB6CAC2-EF8B-4637-A915-6848B5ECE44B}" type="presOf" srcId="{2602A190-2C66-494F-9209-544E1A866906}" destId="{2DE8A061-4637-499B-97B5-7759676B1A6F}" srcOrd="0" destOrd="0" presId="urn:microsoft.com/office/officeart/2005/8/layout/vList2"/>
    <dgm:cxn modelId="{51364A71-7D63-4C3C-835F-F6FECB16A326}" type="presOf" srcId="{236AE4E9-257C-4B1C-AC48-5906DB80B487}" destId="{50747B71-CBF7-4BA7-89E7-F4DF630FD25F}" srcOrd="0" destOrd="1" presId="urn:microsoft.com/office/officeart/2005/8/layout/vList2"/>
    <dgm:cxn modelId="{26699723-F5E5-48DE-8ECA-49CB55166887}" type="presOf" srcId="{1DEC37A5-94D2-4F48-AA29-DCF708F0F20C}" destId="{50747B71-CBF7-4BA7-89E7-F4DF630FD25F}" srcOrd="0" destOrd="0" presId="urn:microsoft.com/office/officeart/2005/8/layout/vList2"/>
    <dgm:cxn modelId="{279B7688-789F-4017-B1D1-CDB02B997C6A}" srcId="{3B81F7A5-1414-400A-910B-6CD2CA0D8397}" destId="{236AE4E9-257C-4B1C-AC48-5906DB80B487}" srcOrd="1" destOrd="0" parTransId="{74563D63-E5B9-45AB-B1AA-5D07CE74DF86}" sibTransId="{2A00BBC7-E69E-4224-AC99-582B44BDE7A7}"/>
    <dgm:cxn modelId="{43920F23-7D0B-4FC1-9B4B-E077BFABE020}" type="presOf" srcId="{3B81F7A5-1414-400A-910B-6CD2CA0D8397}" destId="{69D05FA5-BBDC-4398-9FAD-E774D13B3703}" srcOrd="0" destOrd="0" presId="urn:microsoft.com/office/officeart/2005/8/layout/vList2"/>
    <dgm:cxn modelId="{79198B3B-4C1D-4C95-BDE8-CE67DC5CEAD6}" type="presParOf" srcId="{2DE8A061-4637-499B-97B5-7759676B1A6F}" destId="{69D05FA5-BBDC-4398-9FAD-E774D13B3703}" srcOrd="0" destOrd="0" presId="urn:microsoft.com/office/officeart/2005/8/layout/vList2"/>
    <dgm:cxn modelId="{74B7378F-3E36-41E2-98ED-FB9E3BBAE8A4}" type="presParOf" srcId="{2DE8A061-4637-499B-97B5-7759676B1A6F}" destId="{50747B71-CBF7-4BA7-89E7-F4DF630FD25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24747B97-54E2-4E27-8078-EB697E2B083A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E12C1A-B188-459D-8DCD-28822CA53BF7}">
      <dgm:prSet/>
      <dgm:spPr/>
      <dgm:t>
        <a:bodyPr/>
        <a:lstStyle/>
        <a:p>
          <a:r>
            <a:rPr lang="en-US"/>
            <a:t>d) Regardless of the control processes used, </a:t>
          </a:r>
          <a:r>
            <a:rPr lang="en-US" b="1" u="sng"/>
            <a:t>an effective system determines whether employees and various parts of an organization </a:t>
          </a:r>
          <a:r>
            <a:rPr lang="en-US"/>
            <a:t>are on target in achieving organizational objectives </a:t>
          </a:r>
        </a:p>
      </dgm:t>
    </dgm:pt>
    <dgm:pt modelId="{4F575BD9-E737-4130-8795-3051CEFBAFD2}" type="parTrans" cxnId="{87FC2F38-65D2-4B38-8741-A2E304A3E2DA}">
      <dgm:prSet/>
      <dgm:spPr/>
      <dgm:t>
        <a:bodyPr/>
        <a:lstStyle/>
        <a:p>
          <a:endParaRPr lang="en-US"/>
        </a:p>
      </dgm:t>
    </dgm:pt>
    <dgm:pt modelId="{DBBD6D33-494F-4507-A370-EB79F17457EB}" type="sibTrans" cxnId="{87FC2F38-65D2-4B38-8741-A2E304A3E2DA}">
      <dgm:prSet/>
      <dgm:spPr/>
      <dgm:t>
        <a:bodyPr/>
        <a:lstStyle/>
        <a:p>
          <a:endParaRPr lang="en-US"/>
        </a:p>
      </dgm:t>
    </dgm:pt>
    <dgm:pt modelId="{10B53CD9-C0FB-4CAB-91FB-5ED7FABDC5FA}" type="pres">
      <dgm:prSet presAssocID="{24747B97-54E2-4E27-8078-EB697E2B083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2A8EE4E-FD42-4441-874E-168DD5ADEFBD}" type="pres">
      <dgm:prSet presAssocID="{C4E12C1A-B188-459D-8DCD-28822CA53BF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FC2F38-65D2-4B38-8741-A2E304A3E2DA}" srcId="{24747B97-54E2-4E27-8078-EB697E2B083A}" destId="{C4E12C1A-B188-459D-8DCD-28822CA53BF7}" srcOrd="0" destOrd="0" parTransId="{4F575BD9-E737-4130-8795-3051CEFBAFD2}" sibTransId="{DBBD6D33-494F-4507-A370-EB79F17457EB}"/>
    <dgm:cxn modelId="{0618C0D8-4699-4371-8CEB-3ACADB3761BA}" type="presOf" srcId="{C4E12C1A-B188-459D-8DCD-28822CA53BF7}" destId="{E2A8EE4E-FD42-4441-874E-168DD5ADEFBD}" srcOrd="0" destOrd="0" presId="urn:microsoft.com/office/officeart/2005/8/layout/vList2"/>
    <dgm:cxn modelId="{C9F60F06-029B-4099-93C1-5245F2C1487E}" type="presOf" srcId="{24747B97-54E2-4E27-8078-EB697E2B083A}" destId="{10B53CD9-C0FB-4CAB-91FB-5ED7FABDC5FA}" srcOrd="0" destOrd="0" presId="urn:microsoft.com/office/officeart/2005/8/layout/vList2"/>
    <dgm:cxn modelId="{F522F263-BFD9-4614-AFC0-8F9CA0B17D53}" type="presParOf" srcId="{10B53CD9-C0FB-4CAB-91FB-5ED7FABDC5FA}" destId="{E2A8EE4E-FD42-4441-874E-168DD5ADEF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A7EAA-F247-4514-A3CF-3B06BFCF8332}">
      <dsp:nvSpPr>
        <dsp:cNvPr id="0" name=""/>
        <dsp:cNvSpPr/>
      </dsp:nvSpPr>
      <dsp:spPr>
        <a:xfrm>
          <a:off x="0" y="5729"/>
          <a:ext cx="5791200" cy="10553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/>
            <a:t>CONTROL</a:t>
          </a:r>
          <a:endParaRPr lang="en-US" sz="4400" kern="1200" dirty="0"/>
        </a:p>
      </dsp:txBody>
      <dsp:txXfrm>
        <a:off x="51517" y="57246"/>
        <a:ext cx="5688166" cy="9523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8325A-FC9C-4FB2-B81C-454711A3499E}">
      <dsp:nvSpPr>
        <dsp:cNvPr id="0" name=""/>
        <dsp:cNvSpPr/>
      </dsp:nvSpPr>
      <dsp:spPr>
        <a:xfrm>
          <a:off x="0" y="137647"/>
          <a:ext cx="7273669" cy="7915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1" kern="1200"/>
            <a:t>BCPC 108 Introduction to Management</a:t>
          </a:r>
          <a:endParaRPr lang="en-US" sz="3300" kern="1200"/>
        </a:p>
      </dsp:txBody>
      <dsp:txXfrm>
        <a:off x="38638" y="176285"/>
        <a:ext cx="7196393" cy="71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AD8E9-F02B-437D-86E2-8A39D8A67FE0}">
      <dsp:nvSpPr>
        <dsp:cNvPr id="0" name=""/>
        <dsp:cNvSpPr/>
      </dsp:nvSpPr>
      <dsp:spPr>
        <a:xfrm>
          <a:off x="0" y="8474"/>
          <a:ext cx="8305800" cy="12647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Every manager in every organization today </a:t>
          </a:r>
          <a:r>
            <a:rPr lang="en-US" sz="2300" b="1" u="sng" kern="1200"/>
            <a:t>faces the dilemma of finding ways to administer and coordinate various processes</a:t>
          </a:r>
          <a:r>
            <a:rPr lang="en-US" sz="2300" kern="1200"/>
            <a:t> to control the activities under his or her jurisdiction. </a:t>
          </a:r>
        </a:p>
      </dsp:txBody>
      <dsp:txXfrm>
        <a:off x="61741" y="70215"/>
        <a:ext cx="8182318" cy="1141288"/>
      </dsp:txXfrm>
    </dsp:sp>
    <dsp:sp modelId="{E74147CB-4D6A-42E3-B8D3-86045F13414A}">
      <dsp:nvSpPr>
        <dsp:cNvPr id="0" name=""/>
        <dsp:cNvSpPr/>
      </dsp:nvSpPr>
      <dsp:spPr>
        <a:xfrm>
          <a:off x="0" y="1339485"/>
          <a:ext cx="8305800" cy="12647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Managers continually look </a:t>
          </a:r>
          <a:r>
            <a:rPr lang="en-US" sz="2300" b="1" u="sng" kern="1200"/>
            <a:t>for ways to improve customer satisfaction, maintain relationships with suppliers, cut inventory costs, </a:t>
          </a:r>
          <a:r>
            <a:rPr lang="en-US" sz="2300" kern="1200"/>
            <a:t>and develop the right products. </a:t>
          </a:r>
        </a:p>
      </dsp:txBody>
      <dsp:txXfrm>
        <a:off x="61741" y="1401226"/>
        <a:ext cx="8182318" cy="1141288"/>
      </dsp:txXfrm>
    </dsp:sp>
    <dsp:sp modelId="{BC98D1E1-7E74-4F87-9E33-FA4EF561735C}">
      <dsp:nvSpPr>
        <dsp:cNvPr id="0" name=""/>
        <dsp:cNvSpPr/>
      </dsp:nvSpPr>
      <dsp:spPr>
        <a:xfrm>
          <a:off x="0" y="2670495"/>
          <a:ext cx="8305800" cy="12647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As a result, every organization needs basic systems </a:t>
          </a:r>
        </a:p>
      </dsp:txBody>
      <dsp:txXfrm>
        <a:off x="61741" y="2732236"/>
        <a:ext cx="8182318" cy="1141288"/>
      </dsp:txXfrm>
    </dsp:sp>
    <dsp:sp modelId="{20071C63-C83D-4316-A4F2-F3552BC18BF5}">
      <dsp:nvSpPr>
        <dsp:cNvPr id="0" name=""/>
        <dsp:cNvSpPr/>
      </dsp:nvSpPr>
      <dsp:spPr>
        <a:xfrm>
          <a:off x="0" y="3935265"/>
          <a:ext cx="830580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- for allocating financial resources,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- developing human resources,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- analyzing financial performance, and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- evaluating overall profitability</a:t>
          </a:r>
        </a:p>
      </dsp:txBody>
      <dsp:txXfrm>
        <a:off x="0" y="3935265"/>
        <a:ext cx="8305800" cy="1237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B5BC1-AC0A-41E8-9DEB-479BD1C46C22}">
      <dsp:nvSpPr>
        <dsp:cNvPr id="0" name=""/>
        <dsp:cNvSpPr/>
      </dsp:nvSpPr>
      <dsp:spPr>
        <a:xfrm>
          <a:off x="0" y="105077"/>
          <a:ext cx="8229600" cy="1319759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Controlling is the process of monitoring performance against goals, intervening when goals are not met, and taking corrective action.</a:t>
          </a:r>
        </a:p>
      </dsp:txBody>
      <dsp:txXfrm>
        <a:off x="64425" y="169502"/>
        <a:ext cx="8100750" cy="1190909"/>
      </dsp:txXfrm>
    </dsp:sp>
    <dsp:sp modelId="{FF32EDC0-F35E-46FC-8731-9EB2C10A90B3}">
      <dsp:nvSpPr>
        <dsp:cNvPr id="0" name=""/>
        <dsp:cNvSpPr/>
      </dsp:nvSpPr>
      <dsp:spPr>
        <a:xfrm>
          <a:off x="0" y="1493957"/>
          <a:ext cx="8229600" cy="1319759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61437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7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7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Controlling is just as important as planning, strategizing, and organizing. Without control systems to verify that performance is hitting goals, an organization can veer off course.</a:t>
          </a:r>
        </a:p>
      </dsp:txBody>
      <dsp:txXfrm>
        <a:off x="64425" y="1558382"/>
        <a:ext cx="8100750" cy="1190909"/>
      </dsp:txXfrm>
    </dsp:sp>
    <dsp:sp modelId="{A20DAE4E-301E-449A-98FB-1AA24C353779}">
      <dsp:nvSpPr>
        <dsp:cNvPr id="0" name=""/>
        <dsp:cNvSpPr/>
      </dsp:nvSpPr>
      <dsp:spPr>
        <a:xfrm>
          <a:off x="0" y="2813717"/>
          <a:ext cx="8229600" cy="23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/>
            <a:t>Controlling is </a:t>
          </a:r>
          <a:r>
            <a:rPr lang="en-US" sz="1900" b="1" u="sng" kern="1200"/>
            <a:t>the management function in which managers establish </a:t>
          </a:r>
          <a:r>
            <a:rPr lang="en-US" sz="1900" kern="1200"/>
            <a:t>and </a:t>
          </a:r>
          <a:r>
            <a:rPr lang="en-US" sz="1900" b="1" u="sng" kern="1200"/>
            <a:t>communicate performance standards for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people</a:t>
          </a:r>
          <a:r>
            <a:rPr lang="en-US" sz="1900" kern="1200"/>
            <a:t>, </a:t>
          </a:r>
          <a:r>
            <a:rPr lang="en-US" sz="1900" b="1" u="sng" kern="1200"/>
            <a:t>processes</a:t>
          </a:r>
          <a:r>
            <a:rPr lang="en-US" sz="1900" kern="1200"/>
            <a:t>, and </a:t>
          </a:r>
          <a:r>
            <a:rPr lang="en-US" sz="1900" b="1" u="sng" kern="1200"/>
            <a:t>devices.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/>
            <a:t>It could also </a:t>
          </a:r>
          <a:r>
            <a:rPr lang="en-US" sz="1900" b="1" u="sng" kern="1200"/>
            <a:t>be viewed as the systematic process through which managers </a:t>
          </a:r>
          <a:r>
            <a:rPr lang="en-US" sz="1900" kern="1200"/>
            <a:t>regulate </a:t>
          </a:r>
          <a:r>
            <a:rPr lang="en-US" sz="1900" b="1" u="sng" kern="1200"/>
            <a:t>organizational activities to make them consistent </a:t>
          </a:r>
          <a:r>
            <a:rPr lang="en-US" sz="1900" kern="1200"/>
            <a:t>with </a:t>
          </a:r>
          <a:r>
            <a:rPr lang="en-US" sz="1900" b="1" u="sng" kern="1200"/>
            <a:t>expectations established in plan targets</a:t>
          </a:r>
          <a:r>
            <a:rPr lang="en-US" sz="1900" kern="1200"/>
            <a:t> and </a:t>
          </a:r>
          <a:r>
            <a:rPr lang="en-US" sz="1900" b="1" u="sng" kern="1200"/>
            <a:t>standards of performance.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Controlling requires managers to compare performance against the plans to monitor how successful an organization is at implementing a strategy. </a:t>
          </a:r>
          <a:endParaRPr lang="en-US" sz="1900" kern="1200"/>
        </a:p>
      </dsp:txBody>
      <dsp:txXfrm>
        <a:off x="0" y="2813717"/>
        <a:ext cx="8229600" cy="2384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579C2-DB31-4EB9-9F29-016DD61CA56E}">
      <dsp:nvSpPr>
        <dsp:cNvPr id="0" name=""/>
        <dsp:cNvSpPr/>
      </dsp:nvSpPr>
      <dsp:spPr>
        <a:xfrm>
          <a:off x="0" y="41472"/>
          <a:ext cx="8229600" cy="204322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just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/>
            <a:t>Controlling is the process of monitoring performance against goals, intervening when goals are not met, and taking corrective action.</a:t>
          </a:r>
        </a:p>
      </dsp:txBody>
      <dsp:txXfrm>
        <a:off x="99742" y="141214"/>
        <a:ext cx="8030116" cy="1843738"/>
      </dsp:txXfrm>
    </dsp:sp>
    <dsp:sp modelId="{D13CF488-9E8E-49BE-9048-47E2E8090E8D}">
      <dsp:nvSpPr>
        <dsp:cNvPr id="0" name=""/>
        <dsp:cNvSpPr/>
      </dsp:nvSpPr>
      <dsp:spPr>
        <a:xfrm>
          <a:off x="0" y="2168215"/>
          <a:ext cx="8229600" cy="204322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just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/>
            <a:t>Controlling is just as important as planning, strategizing, and organizing. Without control systems to verify that performance is hitting goals, an organization can veer off course.</a:t>
          </a:r>
        </a:p>
      </dsp:txBody>
      <dsp:txXfrm>
        <a:off x="99742" y="2267957"/>
        <a:ext cx="8030116" cy="1843738"/>
      </dsp:txXfrm>
    </dsp:sp>
    <dsp:sp modelId="{8AE5C7DB-2201-48DD-BBFD-E315D89C3F2F}">
      <dsp:nvSpPr>
        <dsp:cNvPr id="0" name=""/>
        <dsp:cNvSpPr/>
      </dsp:nvSpPr>
      <dsp:spPr>
        <a:xfrm>
          <a:off x="0" y="4211437"/>
          <a:ext cx="8229600" cy="1050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Controlling is </a:t>
          </a:r>
          <a:r>
            <a:rPr lang="en-US" sz="2300" b="1" u="sng" kern="1200"/>
            <a:t>the management function in which managers establish </a:t>
          </a:r>
          <a:r>
            <a:rPr lang="en-US" sz="2300" kern="1200"/>
            <a:t>and </a:t>
          </a:r>
          <a:r>
            <a:rPr lang="en-US" sz="2300" b="1" u="sng" kern="1200"/>
            <a:t>communicate performance standards for people</a:t>
          </a:r>
          <a:r>
            <a:rPr lang="en-US" sz="2300" kern="1200"/>
            <a:t>, </a:t>
          </a:r>
          <a:r>
            <a:rPr lang="en-US" sz="2300" b="1" u="sng" kern="1200"/>
            <a:t>processes</a:t>
          </a:r>
          <a:r>
            <a:rPr lang="en-US" sz="2300" kern="1200"/>
            <a:t>, and </a:t>
          </a:r>
          <a:r>
            <a:rPr lang="en-US" sz="2300" b="1" u="sng" kern="1200"/>
            <a:t>devices.</a:t>
          </a:r>
          <a:endParaRPr lang="en-US" sz="2300" kern="1200"/>
        </a:p>
      </dsp:txBody>
      <dsp:txXfrm>
        <a:off x="0" y="4211437"/>
        <a:ext cx="8229600" cy="10505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D109B-4C5C-490B-B81A-E58A7BAF4209}">
      <dsp:nvSpPr>
        <dsp:cNvPr id="0" name=""/>
        <dsp:cNvSpPr/>
      </dsp:nvSpPr>
      <dsp:spPr>
        <a:xfrm rot="10800000">
          <a:off x="252042" y="42"/>
          <a:ext cx="7725514" cy="2307301"/>
        </a:xfrm>
        <a:prstGeom prst="homePlat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456" tIns="87630" rIns="163576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It could also </a:t>
          </a:r>
          <a:r>
            <a:rPr lang="en-US" sz="2300" b="1" u="sng" kern="1200" dirty="0"/>
            <a:t>be viewed as the systematic process through which managers </a:t>
          </a:r>
          <a:r>
            <a:rPr lang="en-US" sz="2300" kern="1200" dirty="0"/>
            <a:t>regulate </a:t>
          </a:r>
          <a:r>
            <a:rPr lang="en-US" sz="2300" b="1" u="sng" kern="1200" dirty="0"/>
            <a:t>organizational activities to make them consistent </a:t>
          </a:r>
          <a:r>
            <a:rPr lang="en-US" sz="2300" kern="1200" dirty="0"/>
            <a:t>with </a:t>
          </a:r>
          <a:r>
            <a:rPr lang="en-US" sz="2300" b="1" u="sng" kern="1200" dirty="0"/>
            <a:t>expectations established in plan targets</a:t>
          </a:r>
          <a:r>
            <a:rPr lang="en-US" sz="2300" kern="1200" dirty="0"/>
            <a:t> and </a:t>
          </a:r>
          <a:r>
            <a:rPr lang="en-US" sz="2300" b="1" u="sng" kern="1200" dirty="0"/>
            <a:t>standards of performance. </a:t>
          </a:r>
          <a:endParaRPr lang="en-US" sz="2300" kern="1200" dirty="0"/>
        </a:p>
      </dsp:txBody>
      <dsp:txXfrm rot="10800000">
        <a:off x="828867" y="42"/>
        <a:ext cx="7148689" cy="2307301"/>
      </dsp:txXfrm>
    </dsp:sp>
    <dsp:sp modelId="{599E3A19-2A31-4350-980A-DF3F59FF6B0D}">
      <dsp:nvSpPr>
        <dsp:cNvPr id="0" name=""/>
        <dsp:cNvSpPr/>
      </dsp:nvSpPr>
      <dsp:spPr>
        <a:xfrm>
          <a:off x="0" y="251088"/>
          <a:ext cx="1629508" cy="211111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0E1888E-6590-4575-9D37-B2BA705C7C30}">
      <dsp:nvSpPr>
        <dsp:cNvPr id="0" name=""/>
        <dsp:cNvSpPr/>
      </dsp:nvSpPr>
      <dsp:spPr>
        <a:xfrm rot="10800000">
          <a:off x="147049" y="2996090"/>
          <a:ext cx="7935501" cy="2307301"/>
        </a:xfrm>
        <a:prstGeom prst="homePlate">
          <a:avLst/>
        </a:prstGeom>
        <a:gradFill rotWithShape="0">
          <a:gsLst>
            <a:gs pos="0">
              <a:schemeClr val="accent1">
                <a:shade val="50000"/>
                <a:hueOff val="361437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7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7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7456" tIns="87630" rIns="163576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u="sng" kern="1200" dirty="0"/>
            <a:t>Controlling requires managers to compare performance against the plans to monitor how successful an organization is at implementing a strategy. </a:t>
          </a:r>
          <a:endParaRPr lang="en-US" sz="2300" kern="1200" dirty="0"/>
        </a:p>
      </dsp:txBody>
      <dsp:txXfrm rot="10800000">
        <a:off x="723874" y="2996090"/>
        <a:ext cx="7358676" cy="2307301"/>
      </dsp:txXfrm>
    </dsp:sp>
    <dsp:sp modelId="{47B6F8DB-9D31-4B68-A88A-9FF5CB354F7B}">
      <dsp:nvSpPr>
        <dsp:cNvPr id="0" name=""/>
        <dsp:cNvSpPr/>
      </dsp:nvSpPr>
      <dsp:spPr>
        <a:xfrm>
          <a:off x="0" y="3124203"/>
          <a:ext cx="1655096" cy="197092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4BC29-808A-40C3-B552-5C506F636501}">
      <dsp:nvSpPr>
        <dsp:cNvPr id="0" name=""/>
        <dsp:cNvSpPr/>
      </dsp:nvSpPr>
      <dsp:spPr>
        <a:xfrm>
          <a:off x="0" y="365459"/>
          <a:ext cx="8382000" cy="575639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The </a:t>
          </a:r>
          <a:r>
            <a:rPr lang="en-US" sz="2400" b="1" u="sng" kern="1200"/>
            <a:t>six major purposes of controls </a:t>
          </a:r>
          <a:r>
            <a:rPr lang="en-US" sz="2400" kern="1200"/>
            <a:t>are as follows;</a:t>
          </a:r>
        </a:p>
      </dsp:txBody>
      <dsp:txXfrm>
        <a:off x="28100" y="393559"/>
        <a:ext cx="8325800" cy="519439"/>
      </dsp:txXfrm>
    </dsp:sp>
    <dsp:sp modelId="{9A2A3435-E92D-4480-88E8-F5FA9466E0E9}">
      <dsp:nvSpPr>
        <dsp:cNvPr id="0" name=""/>
        <dsp:cNvSpPr/>
      </dsp:nvSpPr>
      <dsp:spPr>
        <a:xfrm>
          <a:off x="0" y="941099"/>
          <a:ext cx="8382000" cy="387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Controls make plans effective</a:t>
          </a:r>
          <a:r>
            <a:rPr lang="en-US" sz="1900" kern="1200"/>
            <a:t>. Managers need to measure progress, get feedback and direct their teams if they want to succeed.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 dirty="0"/>
            <a:t>Controls make sure that organizational activities are consistent. Policies and procedures </a:t>
          </a:r>
          <a:r>
            <a:rPr lang="en-US" sz="1900" kern="1200" dirty="0"/>
            <a:t>help ensure that efforts are integrated.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 dirty="0"/>
            <a:t>Controls make organizations effective. </a:t>
          </a:r>
          <a:r>
            <a:rPr lang="en-US" sz="1900" kern="1200" dirty="0"/>
            <a:t>Organizations need controls in place if they want to achieve and accomplish their objectives.</a:t>
          </a:r>
          <a:r>
            <a:rPr lang="en-US" sz="1900" b="1" u="sng" kern="1200" dirty="0"/>
            <a:t>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Controls make organizations efficient</a:t>
          </a:r>
          <a:r>
            <a:rPr lang="en-US" sz="1900" kern="1200"/>
            <a:t>. Efficiency probably depends more on controls than any other management function.</a:t>
          </a:r>
          <a:r>
            <a:rPr lang="en-US" sz="1900" b="1" u="sng" kern="1200"/>
            <a:t>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Controls provide feedback</a:t>
          </a:r>
          <a:r>
            <a:rPr lang="en-US" sz="1900" kern="1200"/>
            <a:t>. Not only do they measure progress, but controls also provide feedback to participants as well and</a:t>
          </a:r>
          <a:r>
            <a:rPr lang="en-US" sz="1900" b="1" u="sng" kern="1200"/>
            <a:t> influences behavior.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u="sng" kern="1200"/>
            <a:t>Controls aid in decision making</a:t>
          </a:r>
          <a:r>
            <a:rPr lang="en-US" sz="1900" kern="1200"/>
            <a:t>. The ultimate purpose of controls is to help managers make better decisions. </a:t>
          </a:r>
          <a:r>
            <a:rPr lang="en-US" sz="1900" b="1" u="sng" kern="1200"/>
            <a:t>Controls make managers aware of problems </a:t>
          </a:r>
          <a:r>
            <a:rPr lang="en-US" sz="1900" kern="1200"/>
            <a:t>and </a:t>
          </a:r>
          <a:r>
            <a:rPr lang="en-US" sz="1900" b="1" u="sng" kern="1200"/>
            <a:t>give them information that is necessary for decision making.</a:t>
          </a:r>
          <a:endParaRPr lang="en-US" sz="1900" kern="1200"/>
        </a:p>
      </dsp:txBody>
      <dsp:txXfrm>
        <a:off x="0" y="941099"/>
        <a:ext cx="8382000" cy="38750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AAC96-AD59-4DDA-A629-874D7E87A6D1}">
      <dsp:nvSpPr>
        <dsp:cNvPr id="0" name=""/>
        <dsp:cNvSpPr/>
      </dsp:nvSpPr>
      <dsp:spPr>
        <a:xfrm>
          <a:off x="0" y="144175"/>
          <a:ext cx="8229600" cy="1174753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Many people </a:t>
          </a:r>
          <a:r>
            <a:rPr lang="en-US" sz="2100" b="1" u="sng" kern="1200"/>
            <a:t>assert that as the nature of organizations has changed so must the nature of management controls. </a:t>
          </a:r>
          <a:endParaRPr lang="en-US" sz="2100" kern="1200"/>
        </a:p>
      </dsp:txBody>
      <dsp:txXfrm>
        <a:off x="57347" y="201522"/>
        <a:ext cx="8114906" cy="1060059"/>
      </dsp:txXfrm>
    </dsp:sp>
    <dsp:sp modelId="{4639180B-A400-416C-8F7F-A6CD0957FDFB}">
      <dsp:nvSpPr>
        <dsp:cNvPr id="0" name=""/>
        <dsp:cNvSpPr/>
      </dsp:nvSpPr>
      <dsp:spPr>
        <a:xfrm>
          <a:off x="0" y="1379408"/>
          <a:ext cx="8229600" cy="1174753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80719"/>
                <a:satOff val="-3780"/>
                <a:lumOff val="21031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80719"/>
                <a:satOff val="-3780"/>
                <a:lumOff val="21031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80719"/>
                <a:satOff val="-3780"/>
                <a:lumOff val="210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Some </a:t>
          </a:r>
          <a:r>
            <a:rPr lang="en-US" sz="2100" b="1" u="sng" kern="1200"/>
            <a:t>people even claim that management shouldn’t exercise any form of control whatsoever</a:t>
          </a:r>
          <a:r>
            <a:rPr lang="en-US" sz="2100" kern="1200"/>
            <a:t>, and </a:t>
          </a:r>
          <a:r>
            <a:rPr lang="en-US" sz="2100" b="1" u="sng" kern="1200"/>
            <a:t>should only support employee efforts to be fully productive members of organizations and communities. </a:t>
          </a:r>
          <a:endParaRPr lang="en-US" sz="2100" kern="1200"/>
        </a:p>
      </dsp:txBody>
      <dsp:txXfrm>
        <a:off x="57347" y="1436755"/>
        <a:ext cx="8114906" cy="1060059"/>
      </dsp:txXfrm>
    </dsp:sp>
    <dsp:sp modelId="{A1E4D837-5822-4C24-B7AD-496AF7C2BBF2}">
      <dsp:nvSpPr>
        <dsp:cNvPr id="0" name=""/>
        <dsp:cNvSpPr/>
      </dsp:nvSpPr>
      <dsp:spPr>
        <a:xfrm>
          <a:off x="0" y="2614641"/>
          <a:ext cx="8229600" cy="1174753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61437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7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7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Along those same lines, </a:t>
          </a:r>
          <a:r>
            <a:rPr lang="en-US" sz="2100" b="1" u="sng" kern="1200"/>
            <a:t>some experts even use the word “coordinating” in place of “controlling</a:t>
          </a:r>
          <a:r>
            <a:rPr lang="en-US" sz="2100" kern="1200"/>
            <a:t>” to avoid sounding coercive. </a:t>
          </a:r>
        </a:p>
      </dsp:txBody>
      <dsp:txXfrm>
        <a:off x="57347" y="2671988"/>
        <a:ext cx="8114906" cy="1060059"/>
      </dsp:txXfrm>
    </dsp:sp>
    <dsp:sp modelId="{1EC0F494-E2CF-4BB7-BE43-B334B8303D55}">
      <dsp:nvSpPr>
        <dsp:cNvPr id="0" name=""/>
        <dsp:cNvSpPr/>
      </dsp:nvSpPr>
      <dsp:spPr>
        <a:xfrm>
          <a:off x="0" y="3849874"/>
          <a:ext cx="8229600" cy="1174753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180719"/>
                <a:satOff val="-3780"/>
                <a:lumOff val="21031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80719"/>
                <a:satOff val="-3780"/>
                <a:lumOff val="21031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80719"/>
                <a:satOff val="-3780"/>
                <a:lumOff val="210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However, </a:t>
          </a:r>
          <a:r>
            <a:rPr lang="en-US" sz="2100" b="1" u="sng" kern="1200"/>
            <a:t>some forms of controls must exist for an organization to exist</a:t>
          </a:r>
          <a:r>
            <a:rPr lang="en-US" sz="2100" kern="1200"/>
            <a:t>. </a:t>
          </a:r>
        </a:p>
      </dsp:txBody>
      <dsp:txXfrm>
        <a:off x="57347" y="3907221"/>
        <a:ext cx="8114906" cy="1060059"/>
      </dsp:txXfrm>
    </dsp:sp>
    <dsp:sp modelId="{02B8BC1D-4BBE-43CA-A9BF-5BBF58578003}">
      <dsp:nvSpPr>
        <dsp:cNvPr id="0" name=""/>
        <dsp:cNvSpPr/>
      </dsp:nvSpPr>
      <dsp:spPr>
        <a:xfrm>
          <a:off x="0" y="5024627"/>
          <a:ext cx="822960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1600" kern="1200"/>
        </a:p>
      </dsp:txBody>
      <dsp:txXfrm>
        <a:off x="0" y="5024627"/>
        <a:ext cx="8229600" cy="3477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4EBD5-56C4-4123-B262-E0AC65D12B75}">
      <dsp:nvSpPr>
        <dsp:cNvPr id="0" name=""/>
        <dsp:cNvSpPr/>
      </dsp:nvSpPr>
      <dsp:spPr>
        <a:xfrm>
          <a:off x="0" y="4972"/>
          <a:ext cx="8382000" cy="1152029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The control process</a:t>
          </a:r>
        </a:p>
      </dsp:txBody>
      <dsp:txXfrm>
        <a:off x="56237" y="61209"/>
        <a:ext cx="8269526" cy="1039555"/>
      </dsp:txXfrm>
    </dsp:sp>
    <dsp:sp modelId="{D93645F2-9B28-4F0F-8D69-A176E8590431}">
      <dsp:nvSpPr>
        <dsp:cNvPr id="0" name=""/>
        <dsp:cNvSpPr/>
      </dsp:nvSpPr>
      <dsp:spPr>
        <a:xfrm>
          <a:off x="0" y="1157002"/>
          <a:ext cx="8382000" cy="111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involves </a:t>
          </a:r>
          <a:r>
            <a:rPr lang="en-US" sz="2300" b="1" u="sng" kern="1200"/>
            <a:t>carefully collecting information </a:t>
          </a:r>
          <a:r>
            <a:rPr lang="en-US" sz="2300" kern="1200"/>
            <a:t>about a system,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process, person, or group of people in order to make necessary decisions about each.</a:t>
          </a:r>
        </a:p>
      </dsp:txBody>
      <dsp:txXfrm>
        <a:off x="0" y="1157002"/>
        <a:ext cx="8382000" cy="1110554"/>
      </dsp:txXfrm>
    </dsp:sp>
    <dsp:sp modelId="{937795F4-B843-4CD4-A84A-983475C0C777}">
      <dsp:nvSpPr>
        <dsp:cNvPr id="0" name=""/>
        <dsp:cNvSpPr/>
      </dsp:nvSpPr>
      <dsp:spPr>
        <a:xfrm>
          <a:off x="0" y="2267557"/>
          <a:ext cx="8382000" cy="1152029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61437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7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7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/>
            <a:t>Managers set up control systems that consist of four key steps:</a:t>
          </a:r>
          <a:endParaRPr lang="en-US" sz="2900" kern="1200"/>
        </a:p>
      </dsp:txBody>
      <dsp:txXfrm>
        <a:off x="56237" y="2323794"/>
        <a:ext cx="8269526" cy="1039555"/>
      </dsp:txXfrm>
    </dsp:sp>
    <dsp:sp modelId="{B19ECEC1-7362-46CA-99B6-9C78B1FB0121}">
      <dsp:nvSpPr>
        <dsp:cNvPr id="0" name=""/>
        <dsp:cNvSpPr/>
      </dsp:nvSpPr>
      <dsp:spPr>
        <a:xfrm>
          <a:off x="0" y="3419587"/>
          <a:ext cx="8382000" cy="168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b="1" kern="1200" dirty="0"/>
            <a:t>Establish standards to measure performance. </a:t>
          </a:r>
          <a:r>
            <a:rPr lang="en-US" sz="2300" kern="1200" dirty="0"/>
            <a:t>Within an </a:t>
          </a:r>
          <a:r>
            <a:rPr lang="en-US" sz="2300" b="1" u="sng" kern="1200" dirty="0"/>
            <a:t>organization’s overall strategic plan</a:t>
          </a:r>
          <a:r>
            <a:rPr lang="en-US" sz="2300" kern="1200" dirty="0"/>
            <a:t>, managers </a:t>
          </a:r>
          <a:r>
            <a:rPr lang="en-US" sz="2300" b="1" u="sng" kern="1200" dirty="0"/>
            <a:t>define goals for organizational departments in specific</a:t>
          </a:r>
          <a:r>
            <a:rPr lang="en-US" sz="2300" kern="1200" dirty="0"/>
            <a:t>, </a:t>
          </a:r>
          <a:r>
            <a:rPr lang="en-US" sz="2300" b="1" u="sng" kern="1200" dirty="0"/>
            <a:t>operational terms </a:t>
          </a:r>
          <a:r>
            <a:rPr lang="en-US" sz="2300" kern="1200" dirty="0"/>
            <a:t>that </a:t>
          </a:r>
          <a:r>
            <a:rPr lang="en-US" sz="2300" b="1" u="sng" kern="1200" dirty="0"/>
            <a:t>include standards of performance to compare </a:t>
          </a:r>
          <a:r>
            <a:rPr lang="en-US" sz="2300" kern="1200" dirty="0"/>
            <a:t>with organizational activities.</a:t>
          </a:r>
        </a:p>
      </dsp:txBody>
      <dsp:txXfrm>
        <a:off x="0" y="3419587"/>
        <a:ext cx="8382000" cy="16808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2C3152-A429-4067-B0E8-126FBD782FAA}">
      <dsp:nvSpPr>
        <dsp:cNvPr id="0" name=""/>
        <dsp:cNvSpPr/>
      </dsp:nvSpPr>
      <dsp:spPr>
        <a:xfrm>
          <a:off x="0" y="26377"/>
          <a:ext cx="8610600" cy="93541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kern="1200"/>
            <a:t>2. Measure actual performance</a:t>
          </a:r>
          <a:r>
            <a:rPr lang="en-US" sz="3900" kern="1200"/>
            <a:t>. </a:t>
          </a:r>
        </a:p>
      </dsp:txBody>
      <dsp:txXfrm>
        <a:off x="45663" y="72040"/>
        <a:ext cx="8519274" cy="844089"/>
      </dsp:txXfrm>
    </dsp:sp>
    <dsp:sp modelId="{546ED5AC-3F5E-40DC-8408-2EA53586F1CA}">
      <dsp:nvSpPr>
        <dsp:cNvPr id="0" name=""/>
        <dsp:cNvSpPr/>
      </dsp:nvSpPr>
      <dsp:spPr>
        <a:xfrm>
          <a:off x="0" y="961792"/>
          <a:ext cx="8610600" cy="4117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387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000" kern="1200"/>
            <a:t>Most organizations </a:t>
          </a:r>
          <a:r>
            <a:rPr lang="en-US" sz="3000" b="1" u="sng" kern="1200"/>
            <a:t>prepare formal reports of performance measurements </a:t>
          </a:r>
          <a:r>
            <a:rPr lang="en-US" sz="3000" kern="1200"/>
            <a:t>that manager’s review regularly.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000" kern="1200"/>
            <a:t>These </a:t>
          </a:r>
          <a:r>
            <a:rPr lang="en-US" sz="3000" b="1" u="sng" kern="1200"/>
            <a:t>measurements should be related to the standards </a:t>
          </a:r>
          <a:r>
            <a:rPr lang="en-US" sz="3000" kern="1200"/>
            <a:t>set in the first step of the control process.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000" kern="1200"/>
            <a:t>For example, if sales growth is a target, the organization should have a means of gathering and reporting sales data.</a:t>
          </a:r>
        </a:p>
      </dsp:txBody>
      <dsp:txXfrm>
        <a:off x="0" y="961792"/>
        <a:ext cx="8610600" cy="41172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EC350-955A-4D06-AB7C-08E7AF9F78EC}">
      <dsp:nvSpPr>
        <dsp:cNvPr id="0" name=""/>
        <dsp:cNvSpPr/>
      </dsp:nvSpPr>
      <dsp:spPr>
        <a:xfrm>
          <a:off x="0" y="161587"/>
          <a:ext cx="8305800" cy="74353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/>
            <a:t>3. Compare performance with the standards</a:t>
          </a:r>
          <a:r>
            <a:rPr lang="en-US" sz="3100" kern="1200"/>
            <a:t>.</a:t>
          </a:r>
        </a:p>
      </dsp:txBody>
      <dsp:txXfrm>
        <a:off x="36296" y="197883"/>
        <a:ext cx="8233208" cy="670943"/>
      </dsp:txXfrm>
    </dsp:sp>
    <dsp:sp modelId="{514B0F3A-9599-424C-9CDE-4F0812B25BB1}">
      <dsp:nvSpPr>
        <dsp:cNvPr id="0" name=""/>
        <dsp:cNvSpPr/>
      </dsp:nvSpPr>
      <dsp:spPr>
        <a:xfrm>
          <a:off x="0" y="905122"/>
          <a:ext cx="8305800" cy="3657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kern="1200"/>
            <a:t>This step </a:t>
          </a:r>
          <a:r>
            <a:rPr lang="en-US" sz="2400" b="1" u="sng" kern="1200"/>
            <a:t>compares actual activities to performance standards.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kern="1200"/>
            <a:t>When </a:t>
          </a:r>
          <a:r>
            <a:rPr lang="en-US" sz="2400" b="1" u="sng" kern="1200"/>
            <a:t>managers read computer reports or walk through their plants, </a:t>
          </a:r>
          <a:r>
            <a:rPr lang="en-US" sz="2400" kern="1200"/>
            <a:t>they </a:t>
          </a:r>
          <a:r>
            <a:rPr lang="en-US" sz="2400" b="1" u="sng" kern="1200"/>
            <a:t>identify whether actual performance meets, exceeds,</a:t>
          </a:r>
          <a:r>
            <a:rPr lang="en-US" sz="2400" kern="1200"/>
            <a:t> or falls short of standards.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kern="1200"/>
            <a:t>Typically, </a:t>
          </a:r>
          <a:r>
            <a:rPr lang="en-US" sz="2400" b="1" u="sng" kern="1200"/>
            <a:t>performance reports simplify such comparison by placing the performance standards </a:t>
          </a:r>
          <a:r>
            <a:rPr lang="en-US" sz="2400" kern="1200"/>
            <a:t>for the </a:t>
          </a:r>
          <a:r>
            <a:rPr lang="en-US" sz="2400" b="1" u="sng" kern="1200"/>
            <a:t>reporting period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1" u="sng" kern="1200"/>
            <a:t>alongside the actual performance for the same period </a:t>
          </a:r>
          <a:r>
            <a:rPr lang="en-US" sz="2400" kern="1200"/>
            <a:t>and </a:t>
          </a:r>
          <a:r>
            <a:rPr lang="en-US" sz="2400" b="1" u="sng" kern="1200"/>
            <a:t>by computing the variance,</a:t>
          </a:r>
          <a:r>
            <a:rPr lang="en-US" sz="2400" kern="1200"/>
            <a:t> that is, the </a:t>
          </a:r>
          <a:r>
            <a:rPr lang="en-US" sz="2400" b="1" u="sng" kern="1200"/>
            <a:t>difference between each actual amount and the associated standard</a:t>
          </a:r>
          <a:r>
            <a:rPr lang="en-US" sz="2400" kern="1200"/>
            <a:t>.</a:t>
          </a:r>
        </a:p>
      </dsp:txBody>
      <dsp:txXfrm>
        <a:off x="0" y="905122"/>
        <a:ext cx="8305800" cy="36576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AE0C8-BE03-4830-A54E-DA0DE899A231}">
      <dsp:nvSpPr>
        <dsp:cNvPr id="0" name=""/>
        <dsp:cNvSpPr/>
      </dsp:nvSpPr>
      <dsp:spPr>
        <a:xfrm>
          <a:off x="0" y="67610"/>
          <a:ext cx="8001000" cy="6715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/>
            <a:t>4. Take corrective actions. </a:t>
          </a:r>
          <a:endParaRPr lang="en-US" sz="2800" kern="1200"/>
        </a:p>
      </dsp:txBody>
      <dsp:txXfrm>
        <a:off x="32784" y="100394"/>
        <a:ext cx="7935432" cy="606012"/>
      </dsp:txXfrm>
    </dsp:sp>
    <dsp:sp modelId="{B4F85B87-C992-414D-86AA-84CD64FED0DE}">
      <dsp:nvSpPr>
        <dsp:cNvPr id="0" name=""/>
        <dsp:cNvSpPr/>
      </dsp:nvSpPr>
      <dsp:spPr>
        <a:xfrm>
          <a:off x="0" y="739190"/>
          <a:ext cx="8001000" cy="440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3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When performance deviates from standards, managers must determine what changes,</a:t>
          </a:r>
          <a:r>
            <a:rPr lang="en-US" sz="2200" kern="1200"/>
            <a:t> if any, are necessary and how to apply them.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In the productivity and quality-centered environment, </a:t>
          </a:r>
          <a:r>
            <a:rPr lang="en-US" sz="2200" kern="1200"/>
            <a:t>workers and managers are often empowered to evaluate their own work.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After the evaluator determines the cause or causes of deviation, he or she can take the fourth step </a:t>
          </a:r>
          <a:r>
            <a:rPr lang="en-US" sz="2200" kern="1200"/>
            <a:t>(corrective action).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The most effective course may be prescribed by policies or may be best left up to employees’ judgment and initiative.</a:t>
          </a:r>
          <a:r>
            <a:rPr lang="en-US" sz="2200" kern="120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These </a:t>
          </a:r>
          <a:r>
            <a:rPr lang="en-US" sz="2200" b="1" u="sng" kern="1200"/>
            <a:t>steps must be repeated periodically until the organizational goal</a:t>
          </a:r>
          <a:r>
            <a:rPr lang="en-US" sz="2200" kern="1200"/>
            <a:t> is achieved.</a:t>
          </a:r>
        </a:p>
      </dsp:txBody>
      <dsp:txXfrm>
        <a:off x="0" y="739190"/>
        <a:ext cx="8001000" cy="44049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87C62-CE05-413C-9A54-FB426E87223A}">
      <dsp:nvSpPr>
        <dsp:cNvPr id="0" name=""/>
        <dsp:cNvSpPr/>
      </dsp:nvSpPr>
      <dsp:spPr>
        <a:xfrm>
          <a:off x="0" y="1412"/>
          <a:ext cx="8229600" cy="1173133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Control can </a:t>
          </a:r>
          <a:r>
            <a:rPr lang="en-US" sz="2100" b="1" u="sng" kern="1200"/>
            <a:t>focus on events before, during, or after </a:t>
          </a:r>
          <a:r>
            <a:rPr lang="en-US" sz="2100" kern="1200"/>
            <a:t>a process. </a:t>
          </a:r>
        </a:p>
      </dsp:txBody>
      <dsp:txXfrm>
        <a:off x="57268" y="58680"/>
        <a:ext cx="8115064" cy="1058597"/>
      </dsp:txXfrm>
    </dsp:sp>
    <dsp:sp modelId="{FB4B08A8-FF4C-454D-AF0C-596D9690D430}">
      <dsp:nvSpPr>
        <dsp:cNvPr id="0" name=""/>
        <dsp:cNvSpPr/>
      </dsp:nvSpPr>
      <dsp:spPr>
        <a:xfrm>
          <a:off x="0" y="1235026"/>
          <a:ext cx="8229600" cy="1173133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0742"/>
                <a:satOff val="-4204"/>
                <a:lumOff val="23125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20742"/>
                <a:satOff val="-4204"/>
                <a:lumOff val="23125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20742"/>
                <a:satOff val="-4204"/>
                <a:lumOff val="231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For example, </a:t>
          </a:r>
          <a:r>
            <a:rPr lang="en-US" sz="2100" b="1" u="sng" kern="1200"/>
            <a:t>a local automobile dealer can focus on activities before, during, or after sales of new cars. </a:t>
          </a:r>
          <a:endParaRPr lang="en-US" sz="2100" kern="1200"/>
        </a:p>
      </dsp:txBody>
      <dsp:txXfrm>
        <a:off x="57268" y="1292294"/>
        <a:ext cx="8115064" cy="1058597"/>
      </dsp:txXfrm>
    </dsp:sp>
    <dsp:sp modelId="{B117C564-4BA0-4BFB-85CB-A2C7F4891D78}">
      <dsp:nvSpPr>
        <dsp:cNvPr id="0" name=""/>
        <dsp:cNvSpPr/>
      </dsp:nvSpPr>
      <dsp:spPr>
        <a:xfrm>
          <a:off x="0" y="2468639"/>
          <a:ext cx="8229600" cy="1173133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41484"/>
                <a:satOff val="-8409"/>
                <a:lumOff val="46251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41484"/>
                <a:satOff val="-8409"/>
                <a:lumOff val="46251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41484"/>
                <a:satOff val="-8409"/>
                <a:lumOff val="462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u="sng" kern="1200"/>
            <a:t>Careful inspection of new cars and cautious selection of sales employees </a:t>
          </a:r>
          <a:r>
            <a:rPr lang="en-US" sz="2100" kern="1200"/>
            <a:t>are ways to ensure high quality or profitable sales even before those sales take place. </a:t>
          </a:r>
        </a:p>
      </dsp:txBody>
      <dsp:txXfrm>
        <a:off x="57268" y="2525907"/>
        <a:ext cx="8115064" cy="1058597"/>
      </dsp:txXfrm>
    </dsp:sp>
    <dsp:sp modelId="{39BE108A-4437-4568-A1D6-02AC3DBDA378}">
      <dsp:nvSpPr>
        <dsp:cNvPr id="0" name=""/>
        <dsp:cNvSpPr/>
      </dsp:nvSpPr>
      <dsp:spPr>
        <a:xfrm>
          <a:off x="0" y="3702253"/>
          <a:ext cx="8229600" cy="1173133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0742"/>
                <a:satOff val="-4204"/>
                <a:lumOff val="23125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20742"/>
                <a:satOff val="-4204"/>
                <a:lumOff val="23125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20742"/>
                <a:satOff val="-4204"/>
                <a:lumOff val="231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u="sng" kern="1200"/>
            <a:t>Monitoring how salespeople act with customers </a:t>
          </a:r>
          <a:r>
            <a:rPr lang="en-US" sz="2100" kern="1200"/>
            <a:t>is a control during the sales task. </a:t>
          </a:r>
        </a:p>
      </dsp:txBody>
      <dsp:txXfrm>
        <a:off x="57268" y="3759521"/>
        <a:ext cx="8115064" cy="105859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AC7EF9-F91B-4E44-9725-0FB3AA0208E9}">
      <dsp:nvSpPr>
        <dsp:cNvPr id="0" name=""/>
        <dsp:cNvSpPr/>
      </dsp:nvSpPr>
      <dsp:spPr>
        <a:xfrm>
          <a:off x="0" y="182560"/>
          <a:ext cx="8229600" cy="14297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u="sng" kern="1200"/>
            <a:t>Counting the number of new cars sold during the month </a:t>
          </a:r>
          <a:r>
            <a:rPr lang="en-US" sz="2600" kern="1200"/>
            <a:t>and telephoning </a:t>
          </a:r>
          <a:r>
            <a:rPr lang="en-US" sz="2600" b="1" u="sng" kern="1200"/>
            <a:t>buyers about their satisfaction with sales transactions are controls</a:t>
          </a:r>
          <a:r>
            <a:rPr lang="en-US" sz="2600" kern="1200"/>
            <a:t> after sales have occurred. </a:t>
          </a:r>
        </a:p>
      </dsp:txBody>
      <dsp:txXfrm>
        <a:off x="69794" y="252354"/>
        <a:ext cx="8090012" cy="1290152"/>
      </dsp:txXfrm>
    </dsp:sp>
    <dsp:sp modelId="{36D5B2E1-893C-4711-A48E-1165340B300E}">
      <dsp:nvSpPr>
        <dsp:cNvPr id="0" name=""/>
        <dsp:cNvSpPr/>
      </dsp:nvSpPr>
      <dsp:spPr>
        <a:xfrm>
          <a:off x="0" y="1687180"/>
          <a:ext cx="8229600" cy="14297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These types of controls </a:t>
          </a:r>
          <a:r>
            <a:rPr lang="en-US" sz="2600" b="1" u="sng" kern="1200" dirty="0"/>
            <a:t>are formally called </a:t>
          </a:r>
          <a:endParaRPr lang="en-US" sz="2600" kern="1200" dirty="0"/>
        </a:p>
      </dsp:txBody>
      <dsp:txXfrm>
        <a:off x="69794" y="1756974"/>
        <a:ext cx="8090012" cy="1290152"/>
      </dsp:txXfrm>
    </dsp:sp>
    <dsp:sp modelId="{D01D8F5E-0927-4D4E-8000-BEB16040C41E}">
      <dsp:nvSpPr>
        <dsp:cNvPr id="0" name=""/>
        <dsp:cNvSpPr/>
      </dsp:nvSpPr>
      <dsp:spPr>
        <a:xfrm>
          <a:off x="0" y="3116920"/>
          <a:ext cx="8229600" cy="1607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 dirty="0"/>
            <a:t>feed-forward,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/>
            <a:t>concurrent,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/>
            <a:t>and feed-back, respectively.</a:t>
          </a:r>
          <a:endParaRPr lang="en-US" sz="2000" kern="1200"/>
        </a:p>
      </dsp:txBody>
      <dsp:txXfrm>
        <a:off x="0" y="3116920"/>
        <a:ext cx="8229600" cy="16074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B4F39-188E-439A-9A8C-CE3E4531947E}">
      <dsp:nvSpPr>
        <dsp:cNvPr id="0" name=""/>
        <dsp:cNvSpPr/>
      </dsp:nvSpPr>
      <dsp:spPr>
        <a:xfrm>
          <a:off x="0" y="88221"/>
          <a:ext cx="8382000" cy="17596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Sometimes </a:t>
          </a:r>
          <a:r>
            <a:rPr lang="en-US" sz="3200" b="1" u="sng" kern="1200"/>
            <a:t>called preliminary or preventive controls</a:t>
          </a:r>
          <a:r>
            <a:rPr lang="en-US" sz="3200" kern="1200"/>
            <a:t>, this attempts to identify and prevent deviations in the standards before they occur. </a:t>
          </a:r>
        </a:p>
      </dsp:txBody>
      <dsp:txXfrm>
        <a:off x="85900" y="174121"/>
        <a:ext cx="8210200" cy="1587880"/>
      </dsp:txXfrm>
    </dsp:sp>
    <dsp:sp modelId="{2B010AC5-B1DD-43A3-B5B0-C524C02B1A17}">
      <dsp:nvSpPr>
        <dsp:cNvPr id="0" name=""/>
        <dsp:cNvSpPr/>
      </dsp:nvSpPr>
      <dsp:spPr>
        <a:xfrm>
          <a:off x="0" y="1847901"/>
          <a:ext cx="8382000" cy="304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40640" rIns="227584" bIns="40640" numCol="1" spcCol="1270" anchor="t" anchorCtr="0">
          <a:noAutofit/>
        </a:bodyPr>
        <a:lstStyle/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b="1" kern="1200" dirty="0"/>
            <a:t>Feed-forward</a:t>
          </a:r>
          <a:r>
            <a:rPr lang="en-US" sz="2500" kern="1200" dirty="0"/>
            <a:t> controls </a:t>
          </a:r>
          <a:r>
            <a:rPr lang="en-US" sz="2500" b="1" u="sng" kern="1200" dirty="0"/>
            <a:t>focus on human, material, and financial resources </a:t>
          </a:r>
          <a:r>
            <a:rPr lang="en-US" sz="2500" kern="1200" dirty="0"/>
            <a:t>within the organization. These controls are </a:t>
          </a:r>
          <a:r>
            <a:rPr lang="en-US" sz="2500" b="1" u="sng" kern="1200" dirty="0"/>
            <a:t>evident in the selection and hiring of new employees. </a:t>
          </a:r>
          <a:endParaRPr lang="en-US" sz="2500" kern="1200" dirty="0"/>
        </a:p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500" kern="1200" dirty="0"/>
        </a:p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b="1" u="sng" kern="1200" dirty="0"/>
            <a:t>For example, organizations attempt to improve the likelihood that employees will perform up to standards </a:t>
          </a:r>
          <a:r>
            <a:rPr lang="en-US" sz="2500" kern="1200" dirty="0"/>
            <a:t>by </a:t>
          </a:r>
          <a:r>
            <a:rPr lang="en-US" sz="2500" b="1" u="sng" kern="1200" dirty="0"/>
            <a:t>identifying the necessary job skills </a:t>
          </a:r>
          <a:r>
            <a:rPr lang="en-US" sz="2500" kern="1200" dirty="0"/>
            <a:t>and </a:t>
          </a:r>
          <a:r>
            <a:rPr lang="en-US" sz="2500" b="1" u="sng" kern="1200" dirty="0"/>
            <a:t>by using tests and other screening devices </a:t>
          </a:r>
          <a:r>
            <a:rPr lang="en-US" sz="2500" kern="1200" dirty="0"/>
            <a:t>to hire people with those skills.</a:t>
          </a:r>
        </a:p>
      </dsp:txBody>
      <dsp:txXfrm>
        <a:off x="0" y="1847901"/>
        <a:ext cx="8382000" cy="30470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6DCC4-7523-427B-8866-984B27091772}">
      <dsp:nvSpPr>
        <dsp:cNvPr id="0" name=""/>
        <dsp:cNvSpPr/>
      </dsp:nvSpPr>
      <dsp:spPr>
        <a:xfrm>
          <a:off x="0" y="90629"/>
          <a:ext cx="8229600" cy="6715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/>
            <a:t>ii. Concurrent controls</a:t>
          </a:r>
          <a:r>
            <a:rPr lang="en-US" sz="2800" kern="1200" dirty="0"/>
            <a:t>:</a:t>
          </a:r>
        </a:p>
      </dsp:txBody>
      <dsp:txXfrm>
        <a:off x="32784" y="123413"/>
        <a:ext cx="8164032" cy="606012"/>
      </dsp:txXfrm>
    </dsp:sp>
    <dsp:sp modelId="{A4A67561-A9EA-430C-A2D7-55ECD0DFA69F}">
      <dsp:nvSpPr>
        <dsp:cNvPr id="0" name=""/>
        <dsp:cNvSpPr/>
      </dsp:nvSpPr>
      <dsp:spPr>
        <a:xfrm>
          <a:off x="0" y="762210"/>
          <a:ext cx="8229600" cy="440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Monitor ongoing employee activity to ensure consistency with quality standards</a:t>
          </a:r>
          <a:r>
            <a:rPr lang="en-US" sz="2200" kern="1200"/>
            <a:t>. 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/>
            <a:t>These controls </a:t>
          </a:r>
          <a:r>
            <a:rPr lang="en-US" sz="2200" b="1" u="sng" kern="1200" dirty="0"/>
            <a:t>rely on performance standards, rules, and regulations for guiding employee tasks and behaviors. </a:t>
          </a:r>
          <a:endParaRPr lang="en-US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/>
            <a:t>Their </a:t>
          </a:r>
          <a:r>
            <a:rPr lang="en-US" sz="2200" b="1" u="sng" kern="1200" dirty="0"/>
            <a:t>purpose is to ensure that work activities produce the desired results. </a:t>
          </a:r>
          <a:endParaRPr lang="en-US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/>
            <a:t>As an example, </a:t>
          </a:r>
          <a:r>
            <a:rPr lang="en-US" sz="2200" b="1" u="sng" kern="1200" dirty="0"/>
            <a:t>many manufacturing operations include devices that measure whether the items being produced meet quality standards.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Employees monitor the measurements</a:t>
          </a:r>
          <a:r>
            <a:rPr lang="en-US" sz="2200" kern="1200"/>
            <a:t>;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/>
            <a:t>if they see that </a:t>
          </a:r>
          <a:r>
            <a:rPr lang="en-US" sz="2200" b="1" u="sng" kern="1200" dirty="0"/>
            <a:t>standards are not being met in some area, they make a correction themselves or let a manager know that a problem is occurring. </a:t>
          </a:r>
          <a:endParaRPr lang="en-US" sz="2200" kern="1200" dirty="0"/>
        </a:p>
      </dsp:txBody>
      <dsp:txXfrm>
        <a:off x="0" y="762210"/>
        <a:ext cx="8229600" cy="440496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D684F-8541-4807-AC89-9095980E1FFD}">
      <dsp:nvSpPr>
        <dsp:cNvPr id="0" name=""/>
        <dsp:cNvSpPr/>
      </dsp:nvSpPr>
      <dsp:spPr>
        <a:xfrm>
          <a:off x="0" y="30037"/>
          <a:ext cx="8382000" cy="83947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/>
            <a:t>iii. Feed-back controls</a:t>
          </a:r>
          <a:endParaRPr lang="en-US" sz="3500" kern="1200"/>
        </a:p>
      </dsp:txBody>
      <dsp:txXfrm>
        <a:off x="40980" y="71017"/>
        <a:ext cx="8300040" cy="757514"/>
      </dsp:txXfrm>
    </dsp:sp>
    <dsp:sp modelId="{09983AC4-C5E9-4A6D-AA04-529709C3E92C}">
      <dsp:nvSpPr>
        <dsp:cNvPr id="0" name=""/>
        <dsp:cNvSpPr/>
      </dsp:nvSpPr>
      <dsp:spPr>
        <a:xfrm>
          <a:off x="0" y="869512"/>
          <a:ext cx="8382000" cy="4129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44450" rIns="248920" bIns="44450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700" kern="1200" dirty="0"/>
            <a:t>involve </a:t>
          </a:r>
          <a:r>
            <a:rPr lang="en-US" sz="2700" b="1" u="sng" kern="1200" dirty="0"/>
            <a:t>reviewing information to determine whether performance meets established standards</a:t>
          </a:r>
          <a:r>
            <a:rPr lang="en-US" sz="2700" kern="1200" dirty="0"/>
            <a:t>.</a:t>
          </a:r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700" kern="1200" dirty="0"/>
            <a:t>For example, </a:t>
          </a:r>
          <a:r>
            <a:rPr lang="en-US" sz="2700" b="1" u="sng" kern="1200" dirty="0"/>
            <a:t>suppose that an organization establishes a goal of increasing its profit by 12 percent next year. </a:t>
          </a:r>
          <a:endParaRPr lang="en-US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700" b="1" u="sng" kern="1200" dirty="0"/>
            <a:t>To ensure that this goal is reached</a:t>
          </a:r>
          <a:r>
            <a:rPr lang="en-US" sz="2700" kern="1200" dirty="0"/>
            <a:t>, the </a:t>
          </a:r>
          <a:r>
            <a:rPr lang="en-US" sz="2700" b="1" u="sng" kern="1200" dirty="0"/>
            <a:t>organization must monitor its profit on a monthly basis. </a:t>
          </a:r>
          <a:endParaRPr lang="en-US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700" b="1" u="sng" kern="1200" dirty="0"/>
            <a:t>After three months</a:t>
          </a:r>
          <a:r>
            <a:rPr lang="en-US" sz="2700" kern="1200" dirty="0"/>
            <a:t>, if </a:t>
          </a:r>
          <a:r>
            <a:rPr lang="en-US" sz="2700" b="1" u="sng" kern="1200" dirty="0"/>
            <a:t>profit has increased by 3 percent</a:t>
          </a:r>
          <a:r>
            <a:rPr lang="en-US" sz="2700" kern="1200" dirty="0"/>
            <a:t>, management </a:t>
          </a:r>
          <a:r>
            <a:rPr lang="en-US" sz="2700" b="1" u="sng" kern="1200" dirty="0"/>
            <a:t>might assume that plans are going according to schedule.</a:t>
          </a:r>
          <a:endParaRPr lang="en-US" sz="2700" kern="1200" dirty="0"/>
        </a:p>
      </dsp:txBody>
      <dsp:txXfrm>
        <a:off x="0" y="869512"/>
        <a:ext cx="8382000" cy="412965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20C28-3788-4EEC-BFD7-3980EBF4B878}">
      <dsp:nvSpPr>
        <dsp:cNvPr id="0" name=""/>
        <dsp:cNvSpPr/>
      </dsp:nvSpPr>
      <dsp:spPr>
        <a:xfrm>
          <a:off x="0" y="86241"/>
          <a:ext cx="8229600" cy="76752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/>
            <a:t>a. A focus on critical points</a:t>
          </a:r>
          <a:r>
            <a:rPr lang="en-US" sz="3200" kern="1200"/>
            <a:t>.</a:t>
          </a:r>
        </a:p>
      </dsp:txBody>
      <dsp:txXfrm>
        <a:off x="37467" y="123708"/>
        <a:ext cx="8154666" cy="692586"/>
      </dsp:txXfrm>
    </dsp:sp>
    <dsp:sp modelId="{804B1B32-C962-4DB7-9E68-7A2E1E1FFEB7}">
      <dsp:nvSpPr>
        <dsp:cNvPr id="0" name=""/>
        <dsp:cNvSpPr/>
      </dsp:nvSpPr>
      <dsp:spPr>
        <a:xfrm>
          <a:off x="0" y="853761"/>
          <a:ext cx="8229600" cy="225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kern="1200"/>
            <a:t>For example, </a:t>
          </a:r>
          <a:r>
            <a:rPr lang="en-US" sz="2500" b="1" u="sng" kern="1200"/>
            <a:t>controls are applied where failure cannot be tolerated or where costs cannot exceed a certain amount. 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kern="1200"/>
            <a:t>The critical points </a:t>
          </a:r>
          <a:r>
            <a:rPr lang="en-US" sz="2500" b="1" u="sng" kern="1200"/>
            <a:t>include all the areas of an organization’s operations that directly affect the success </a:t>
          </a:r>
          <a:r>
            <a:rPr lang="en-US" sz="2500" kern="1200"/>
            <a:t>of its key operations. </a:t>
          </a:r>
        </a:p>
      </dsp:txBody>
      <dsp:txXfrm>
        <a:off x="0" y="853761"/>
        <a:ext cx="8229600" cy="2252160"/>
      </dsp:txXfrm>
    </dsp:sp>
    <dsp:sp modelId="{317BA0F7-8757-406A-B07A-621A759351C4}">
      <dsp:nvSpPr>
        <dsp:cNvPr id="0" name=""/>
        <dsp:cNvSpPr/>
      </dsp:nvSpPr>
      <dsp:spPr>
        <a:xfrm>
          <a:off x="0" y="3105921"/>
          <a:ext cx="8229600" cy="76752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41484"/>
                <a:satOff val="-8409"/>
                <a:lumOff val="46251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41484"/>
                <a:satOff val="-8409"/>
                <a:lumOff val="46251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41484"/>
                <a:satOff val="-8409"/>
                <a:lumOff val="462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/>
            <a:t>b. Integration into established processes</a:t>
          </a:r>
          <a:r>
            <a:rPr lang="en-US" sz="3200" kern="1200"/>
            <a:t>. </a:t>
          </a:r>
        </a:p>
      </dsp:txBody>
      <dsp:txXfrm>
        <a:off x="37467" y="3143388"/>
        <a:ext cx="8154666" cy="692586"/>
      </dsp:txXfrm>
    </dsp:sp>
    <dsp:sp modelId="{2C7DB3B1-3F86-486B-9250-FF5B00DEC214}">
      <dsp:nvSpPr>
        <dsp:cNvPr id="0" name=""/>
        <dsp:cNvSpPr/>
      </dsp:nvSpPr>
      <dsp:spPr>
        <a:xfrm>
          <a:off x="0" y="3873441"/>
          <a:ext cx="8229600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500" kern="1200"/>
            <a:t>Controls </a:t>
          </a:r>
          <a:r>
            <a:rPr lang="en-US" sz="2500" b="1" u="sng" kern="1200"/>
            <a:t>must function harmoniously within these processes and should not bottleneck operations.</a:t>
          </a:r>
          <a:endParaRPr lang="en-US" sz="2500" kern="1200"/>
        </a:p>
      </dsp:txBody>
      <dsp:txXfrm>
        <a:off x="0" y="3873441"/>
        <a:ext cx="8229600" cy="79488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EA5CF-34A8-4D73-A7A8-82DE64221D53}">
      <dsp:nvSpPr>
        <dsp:cNvPr id="0" name=""/>
        <dsp:cNvSpPr/>
      </dsp:nvSpPr>
      <dsp:spPr>
        <a:xfrm>
          <a:off x="0" y="293669"/>
          <a:ext cx="8229600" cy="719549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/>
            <a:t>c.	Acceptance by employees. </a:t>
          </a:r>
          <a:endParaRPr lang="en-US" sz="3000" kern="1200"/>
        </a:p>
      </dsp:txBody>
      <dsp:txXfrm>
        <a:off x="35125" y="328794"/>
        <a:ext cx="8159350" cy="649299"/>
      </dsp:txXfrm>
    </dsp:sp>
    <dsp:sp modelId="{7AA2EE18-D169-465E-A508-AF57359B6C93}">
      <dsp:nvSpPr>
        <dsp:cNvPr id="0" name=""/>
        <dsp:cNvSpPr/>
      </dsp:nvSpPr>
      <dsp:spPr>
        <a:xfrm>
          <a:off x="0" y="1013219"/>
          <a:ext cx="8229600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Employee involvement in the design of controls can increase acceptance. </a:t>
          </a:r>
        </a:p>
      </dsp:txBody>
      <dsp:txXfrm>
        <a:off x="0" y="1013219"/>
        <a:ext cx="8229600" cy="729675"/>
      </dsp:txXfrm>
    </dsp:sp>
    <dsp:sp modelId="{B3163F3E-3A99-49A7-810C-85396D2B28FD}">
      <dsp:nvSpPr>
        <dsp:cNvPr id="0" name=""/>
        <dsp:cNvSpPr/>
      </dsp:nvSpPr>
      <dsp:spPr>
        <a:xfrm>
          <a:off x="0" y="1742894"/>
          <a:ext cx="8229600" cy="719549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41484"/>
                <a:satOff val="-8409"/>
                <a:lumOff val="46251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41484"/>
                <a:satOff val="-8409"/>
                <a:lumOff val="46251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41484"/>
                <a:satOff val="-8409"/>
                <a:lumOff val="462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/>
            <a:t>d.	Availability of information when needed. </a:t>
          </a:r>
          <a:endParaRPr lang="en-US" sz="3000" kern="1200"/>
        </a:p>
      </dsp:txBody>
      <dsp:txXfrm>
        <a:off x="35125" y="1778019"/>
        <a:ext cx="8159350" cy="649299"/>
      </dsp:txXfrm>
    </dsp:sp>
    <dsp:sp modelId="{9D7C25E2-E641-47E6-9304-81845D6AA2CC}">
      <dsp:nvSpPr>
        <dsp:cNvPr id="0" name=""/>
        <dsp:cNvSpPr/>
      </dsp:nvSpPr>
      <dsp:spPr>
        <a:xfrm>
          <a:off x="0" y="2462444"/>
          <a:ext cx="8229600" cy="1769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/>
            <a:t>Deadlines, time needed to complete the project, costs associated with the project, and priority needs are apparent in these criteria.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Costs are frequently attributed to time shortcomings or failures.</a:t>
          </a:r>
        </a:p>
      </dsp:txBody>
      <dsp:txXfrm>
        <a:off x="0" y="2462444"/>
        <a:ext cx="8229600" cy="176985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3D6CE-53DD-4DEC-84D3-553C50E2266B}">
      <dsp:nvSpPr>
        <dsp:cNvPr id="0" name=""/>
        <dsp:cNvSpPr/>
      </dsp:nvSpPr>
      <dsp:spPr>
        <a:xfrm>
          <a:off x="0" y="42771"/>
          <a:ext cx="8229600" cy="86346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/>
            <a:t>e.	Economic feasibility</a:t>
          </a:r>
          <a:endParaRPr lang="en-US" sz="3600" kern="1200"/>
        </a:p>
      </dsp:txBody>
      <dsp:txXfrm>
        <a:off x="42151" y="84922"/>
        <a:ext cx="8145298" cy="779158"/>
      </dsp:txXfrm>
    </dsp:sp>
    <dsp:sp modelId="{9E0F532F-EE45-4A0E-9780-FBE67678D036}">
      <dsp:nvSpPr>
        <dsp:cNvPr id="0" name=""/>
        <dsp:cNvSpPr/>
      </dsp:nvSpPr>
      <dsp:spPr>
        <a:xfrm>
          <a:off x="0" y="906231"/>
          <a:ext cx="8229600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kern="1200"/>
            <a:t>Effective control systems </a:t>
          </a:r>
          <a:r>
            <a:rPr lang="en-US" sz="2800" b="1" u="sng" kern="1200"/>
            <a:t>answer questions such as</a:t>
          </a:r>
          <a:r>
            <a:rPr lang="en-US" sz="2800" kern="1200"/>
            <a:t>,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b="1" kern="1200"/>
            <a:t>“How much does it cost?”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b="1" kern="1200"/>
            <a:t>“What will it save?” or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b="1" kern="1200"/>
            <a:t>“What are the returns on the investment?”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800" kern="1200"/>
            <a:t>In short, </a:t>
          </a:r>
          <a:r>
            <a:rPr lang="en-US" sz="2800" b="1" u="sng" kern="1200"/>
            <a:t>comparison of the costs to the benefits ensures that the benefits of controls outweigh </a:t>
          </a:r>
          <a:r>
            <a:rPr lang="en-US" sz="2800" kern="1200"/>
            <a:t>the costs. </a:t>
          </a:r>
        </a:p>
      </dsp:txBody>
      <dsp:txXfrm>
        <a:off x="0" y="906231"/>
        <a:ext cx="8229600" cy="357696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3B6F2-7741-4E21-ACBC-5FFA696455DC}">
      <dsp:nvSpPr>
        <dsp:cNvPr id="0" name=""/>
        <dsp:cNvSpPr/>
      </dsp:nvSpPr>
      <dsp:spPr>
        <a:xfrm>
          <a:off x="0" y="5781"/>
          <a:ext cx="8229600" cy="2199600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/>
            <a:t>f.  Accuracy</a:t>
          </a:r>
          <a:r>
            <a:rPr lang="en-US" sz="4000" kern="1200"/>
            <a:t>. Effective control systems provide factual information that’s useful, reliable, valid, and consistent.</a:t>
          </a:r>
        </a:p>
      </dsp:txBody>
      <dsp:txXfrm>
        <a:off x="107376" y="113157"/>
        <a:ext cx="8014848" cy="1984848"/>
      </dsp:txXfrm>
    </dsp:sp>
    <dsp:sp modelId="{154C054E-DA61-4B07-960A-A6E50F31007D}">
      <dsp:nvSpPr>
        <dsp:cNvPr id="0" name=""/>
        <dsp:cNvSpPr/>
      </dsp:nvSpPr>
      <dsp:spPr>
        <a:xfrm>
          <a:off x="0" y="2320581"/>
          <a:ext cx="8229600" cy="2199600"/>
        </a:xfrm>
        <a:prstGeom prst="roundRect">
          <a:avLst/>
        </a:prstGeom>
        <a:solidFill>
          <a:schemeClr val="accent2">
            <a:shade val="50000"/>
            <a:hueOff val="-41484"/>
            <a:satOff val="-8409"/>
            <a:lumOff val="462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/>
            <a:t>g.  Comprehensibility.</a:t>
          </a:r>
          <a:r>
            <a:rPr lang="en-US" sz="4000" kern="1200"/>
            <a:t> Controls must be simple and easy to understand. </a:t>
          </a:r>
        </a:p>
      </dsp:txBody>
      <dsp:txXfrm>
        <a:off x="107376" y="2427957"/>
        <a:ext cx="8014848" cy="198484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E1B70-9D77-4F04-AF77-5DD52D847B5C}">
      <dsp:nvSpPr>
        <dsp:cNvPr id="0" name=""/>
        <dsp:cNvSpPr/>
      </dsp:nvSpPr>
      <dsp:spPr>
        <a:xfrm>
          <a:off x="0" y="50247"/>
          <a:ext cx="8382000" cy="123069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Control techniques </a:t>
          </a:r>
          <a:r>
            <a:rPr lang="en-US" sz="2200" b="1" u="sng" kern="1200" dirty="0"/>
            <a:t>provide managers with the type and amount of information they need to measure and monitor performance. </a:t>
          </a:r>
          <a:endParaRPr lang="en-US" sz="2200" kern="1200" dirty="0"/>
        </a:p>
      </dsp:txBody>
      <dsp:txXfrm>
        <a:off x="60077" y="110324"/>
        <a:ext cx="8261846" cy="1110539"/>
      </dsp:txXfrm>
    </dsp:sp>
    <dsp:sp modelId="{BBF16171-1C3B-42FC-B20F-D727AA5A4D86}">
      <dsp:nvSpPr>
        <dsp:cNvPr id="0" name=""/>
        <dsp:cNvSpPr/>
      </dsp:nvSpPr>
      <dsp:spPr>
        <a:xfrm>
          <a:off x="0" y="1344301"/>
          <a:ext cx="8382000" cy="1230693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The </a:t>
          </a:r>
          <a:r>
            <a:rPr lang="en-US" sz="2200" b="1" u="sng" kern="1200" dirty="0"/>
            <a:t>information from various controls must be tailored to a specific management level, department, unit, or operation. </a:t>
          </a:r>
          <a:endParaRPr lang="en-US" sz="2200" kern="1200" dirty="0"/>
        </a:p>
      </dsp:txBody>
      <dsp:txXfrm>
        <a:off x="60077" y="1404378"/>
        <a:ext cx="8261846" cy="1110539"/>
      </dsp:txXfrm>
    </dsp:sp>
    <dsp:sp modelId="{374DD449-5D73-44EA-912F-7F13D057D201}">
      <dsp:nvSpPr>
        <dsp:cNvPr id="0" name=""/>
        <dsp:cNvSpPr/>
      </dsp:nvSpPr>
      <dsp:spPr>
        <a:xfrm>
          <a:off x="0" y="2638354"/>
          <a:ext cx="8382000" cy="1230693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To </a:t>
          </a:r>
          <a:r>
            <a:rPr lang="en-US" sz="2200" b="1" u="sng" kern="1200" dirty="0"/>
            <a:t>ensure complete and consistent information, organizations often use standardized documents such as financial, status, and project reports. </a:t>
          </a:r>
          <a:endParaRPr lang="en-US" sz="2200" kern="1200" dirty="0"/>
        </a:p>
      </dsp:txBody>
      <dsp:txXfrm>
        <a:off x="60077" y="2698431"/>
        <a:ext cx="8261846" cy="1110539"/>
      </dsp:txXfrm>
    </dsp:sp>
    <dsp:sp modelId="{AA96D77E-C2B6-408C-8C8C-3DA5074E38BC}">
      <dsp:nvSpPr>
        <dsp:cNvPr id="0" name=""/>
        <dsp:cNvSpPr/>
      </dsp:nvSpPr>
      <dsp:spPr>
        <a:xfrm>
          <a:off x="0" y="3932408"/>
          <a:ext cx="8382000" cy="1230693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Each </a:t>
          </a:r>
          <a:r>
            <a:rPr lang="en-US" sz="2200" b="1" u="sng" kern="1200" dirty="0"/>
            <a:t>area within an organization, however, uses its own specific control techniques, described in the following sections.</a:t>
          </a:r>
          <a:endParaRPr lang="en-US" sz="2200" kern="1200" dirty="0"/>
        </a:p>
      </dsp:txBody>
      <dsp:txXfrm>
        <a:off x="60077" y="3992485"/>
        <a:ext cx="8261846" cy="111053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03F25-45BB-4B1C-8CB7-F7AAB4150700}">
      <dsp:nvSpPr>
        <dsp:cNvPr id="0" name=""/>
        <dsp:cNvSpPr/>
      </dsp:nvSpPr>
      <dsp:spPr>
        <a:xfrm>
          <a:off x="0" y="122683"/>
          <a:ext cx="8382000" cy="64759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/>
            <a:t>Financial controls:  </a:t>
          </a:r>
          <a:endParaRPr lang="en-US" sz="2700" kern="1200"/>
        </a:p>
      </dsp:txBody>
      <dsp:txXfrm>
        <a:off x="31613" y="154296"/>
        <a:ext cx="8318774" cy="584369"/>
      </dsp:txXfrm>
    </dsp:sp>
    <dsp:sp modelId="{CDC4B28E-471B-4EA4-B914-A506C0C2425B}">
      <dsp:nvSpPr>
        <dsp:cNvPr id="0" name=""/>
        <dsp:cNvSpPr/>
      </dsp:nvSpPr>
      <dsp:spPr>
        <a:xfrm>
          <a:off x="0" y="770278"/>
          <a:ext cx="8382000" cy="447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2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After the organization has strategies in place to reach its goals, funds are set aside for the necessary resources and labor.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As money is spent, statements are updated to reflect how much was spent, how it was spent, and what it obtained.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Managers </a:t>
          </a:r>
          <a:r>
            <a:rPr lang="en-US" sz="2100" b="1" u="sng" kern="1200"/>
            <a:t>use these financial statements, such as an income statement or balance sheet, to monitor the progress of programs and plans. </a:t>
          </a:r>
          <a:r>
            <a:rPr lang="en-US" sz="2100" kern="1200"/>
            <a:t>Financial statements </a:t>
          </a:r>
          <a:r>
            <a:rPr lang="en-US" sz="2100" b="1" u="sng" kern="1200"/>
            <a:t>provide management with information to monitor financial resources and activities.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The </a:t>
          </a:r>
          <a:r>
            <a:rPr lang="en-US" sz="2100" b="1" u="sng" kern="1200"/>
            <a:t>income statement shows the results of the organization’s operations over a period of time, such as revenues, expenses, and profit or loss.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The </a:t>
          </a:r>
          <a:r>
            <a:rPr lang="en-US" sz="2100" b="1" u="sng" kern="1200"/>
            <a:t>balance sheet shows what the organization is worth (assets) at a single point in time,</a:t>
          </a:r>
          <a:r>
            <a:rPr lang="en-US" sz="2100" kern="1200"/>
            <a:t> and </a:t>
          </a:r>
          <a:r>
            <a:rPr lang="en-US" sz="2100" b="1" u="sng" kern="1200"/>
            <a:t>the extent to which those assets were financed through debt (liabilities) or owner’s investment (equity).</a:t>
          </a:r>
          <a:endParaRPr lang="en-US" sz="2100" kern="1200"/>
        </a:p>
      </dsp:txBody>
      <dsp:txXfrm>
        <a:off x="0" y="770278"/>
        <a:ext cx="8382000" cy="447119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0ADDC-D7B5-4BAF-B50F-0283008F799C}">
      <dsp:nvSpPr>
        <dsp:cNvPr id="0" name=""/>
        <dsp:cNvSpPr/>
      </dsp:nvSpPr>
      <dsp:spPr>
        <a:xfrm>
          <a:off x="0" y="666235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u="sng" kern="1200"/>
            <a:t>Financial audits, or formal investigations</a:t>
          </a:r>
          <a:r>
            <a:rPr lang="en-US" sz="1500" kern="1200"/>
            <a:t>, are regularly conducted </a:t>
          </a:r>
          <a:r>
            <a:rPr lang="en-US" sz="1500" b="1" u="sng" kern="1200"/>
            <a:t>to ensure that financial management practices follow generally accepted procedures, policies, laws, and ethical guidelines</a:t>
          </a:r>
          <a:r>
            <a:rPr lang="en-US" sz="1500" kern="1200"/>
            <a:t>. </a:t>
          </a:r>
        </a:p>
      </dsp:txBody>
      <dsp:txXfrm>
        <a:off x="29128" y="695363"/>
        <a:ext cx="8239338" cy="538444"/>
      </dsp:txXfrm>
    </dsp:sp>
    <dsp:sp modelId="{78AB2BB4-821A-42AF-A275-E4B1C9327123}">
      <dsp:nvSpPr>
        <dsp:cNvPr id="0" name=""/>
        <dsp:cNvSpPr/>
      </dsp:nvSpPr>
      <dsp:spPr>
        <a:xfrm>
          <a:off x="0" y="1306135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Audits may be conducted internally or externally. </a:t>
          </a:r>
        </a:p>
      </dsp:txBody>
      <dsp:txXfrm>
        <a:off x="29128" y="1335263"/>
        <a:ext cx="8239338" cy="538444"/>
      </dsp:txXfrm>
    </dsp:sp>
    <dsp:sp modelId="{A4CA197C-F8E6-417C-96BD-574C4AF46846}">
      <dsp:nvSpPr>
        <dsp:cNvPr id="0" name=""/>
        <dsp:cNvSpPr/>
      </dsp:nvSpPr>
      <dsp:spPr>
        <a:xfrm>
          <a:off x="0" y="1946035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u="sng" kern="1200" dirty="0"/>
            <a:t>Financial ratio analysis examines the relationship between specific figures on the financial statements </a:t>
          </a:r>
          <a:r>
            <a:rPr lang="en-US" sz="1500" kern="1200" dirty="0"/>
            <a:t>and </a:t>
          </a:r>
          <a:r>
            <a:rPr lang="en-US" sz="1500" b="1" kern="1200" dirty="0"/>
            <a:t>helps explain the significance of those figures: </a:t>
          </a:r>
          <a:endParaRPr lang="en-US" sz="1500" kern="1200" dirty="0"/>
        </a:p>
      </dsp:txBody>
      <dsp:txXfrm>
        <a:off x="29128" y="1975163"/>
        <a:ext cx="8239338" cy="538444"/>
      </dsp:txXfrm>
    </dsp:sp>
    <dsp:sp modelId="{E49172EE-E1D8-49A4-B418-9F7502D59895}">
      <dsp:nvSpPr>
        <dsp:cNvPr id="0" name=""/>
        <dsp:cNvSpPr/>
      </dsp:nvSpPr>
      <dsp:spPr>
        <a:xfrm>
          <a:off x="0" y="2585936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Liquidity ratios measure an organization’s ability to generate cash. </a:t>
          </a:r>
          <a:endParaRPr lang="en-US" sz="1500" kern="1200"/>
        </a:p>
      </dsp:txBody>
      <dsp:txXfrm>
        <a:off x="29128" y="2615064"/>
        <a:ext cx="8239338" cy="538444"/>
      </dsp:txXfrm>
    </dsp:sp>
    <dsp:sp modelId="{2B3B1330-13DC-4196-B91A-F3EDB6ABBE6B}">
      <dsp:nvSpPr>
        <dsp:cNvPr id="0" name=""/>
        <dsp:cNvSpPr/>
      </dsp:nvSpPr>
      <dsp:spPr>
        <a:xfrm>
          <a:off x="0" y="3225836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Profitability ratios measure an organization’s ability to generate profits. </a:t>
          </a:r>
          <a:endParaRPr lang="en-US" sz="1500" kern="1200"/>
        </a:p>
      </dsp:txBody>
      <dsp:txXfrm>
        <a:off x="29128" y="3254964"/>
        <a:ext cx="8239338" cy="538444"/>
      </dsp:txXfrm>
    </dsp:sp>
    <dsp:sp modelId="{58CC9927-0515-40FC-946D-6A7C0C767F61}">
      <dsp:nvSpPr>
        <dsp:cNvPr id="0" name=""/>
        <dsp:cNvSpPr/>
      </dsp:nvSpPr>
      <dsp:spPr>
        <a:xfrm>
          <a:off x="0" y="3865736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Debt ratios measure an organization’s ability to pay its debts. </a:t>
          </a:r>
          <a:endParaRPr lang="en-US" sz="1500" kern="1200"/>
        </a:p>
      </dsp:txBody>
      <dsp:txXfrm>
        <a:off x="29128" y="3894864"/>
        <a:ext cx="8239338" cy="538444"/>
      </dsp:txXfrm>
    </dsp:sp>
    <dsp:sp modelId="{F5A623D4-78E5-417E-B5B2-3A907B112D8E}">
      <dsp:nvSpPr>
        <dsp:cNvPr id="0" name=""/>
        <dsp:cNvSpPr/>
      </dsp:nvSpPr>
      <dsp:spPr>
        <a:xfrm>
          <a:off x="0" y="4505636"/>
          <a:ext cx="8297594" cy="5967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/>
            <a:t>Activity ratios measure an organization’s efficiency in operations and use of assets. </a:t>
          </a:r>
          <a:endParaRPr lang="en-US" sz="1500" kern="1200"/>
        </a:p>
      </dsp:txBody>
      <dsp:txXfrm>
        <a:off x="29128" y="4534764"/>
        <a:ext cx="8239338" cy="53844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9A5B6-7A6A-47AC-AF70-827DEA948747}">
      <dsp:nvSpPr>
        <dsp:cNvPr id="0" name=""/>
        <dsp:cNvSpPr/>
      </dsp:nvSpPr>
      <dsp:spPr>
        <a:xfrm>
          <a:off x="0" y="35669"/>
          <a:ext cx="8229600" cy="235521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/>
            <a:t>In addition, </a:t>
          </a:r>
          <a:r>
            <a:rPr lang="en-US" sz="3300" b="1" u="sng" kern="1200"/>
            <a:t>financial responsibility centers require managers to account for a unit’s progress toward financial goals </a:t>
          </a:r>
          <a:r>
            <a:rPr lang="en-US" sz="3300" kern="1200"/>
            <a:t>within the scope of their influences. </a:t>
          </a:r>
        </a:p>
      </dsp:txBody>
      <dsp:txXfrm>
        <a:off x="114972" y="150641"/>
        <a:ext cx="7999656" cy="2125266"/>
      </dsp:txXfrm>
    </dsp:sp>
    <dsp:sp modelId="{4CEA5898-EE1C-4A73-AD84-9736D883D644}">
      <dsp:nvSpPr>
        <dsp:cNvPr id="0" name=""/>
        <dsp:cNvSpPr/>
      </dsp:nvSpPr>
      <dsp:spPr>
        <a:xfrm>
          <a:off x="0" y="2485919"/>
          <a:ext cx="8229600" cy="2355210"/>
        </a:xfrm>
        <a:prstGeom prst="roundRect">
          <a:avLst/>
        </a:prstGeom>
        <a:gradFill rotWithShape="0">
          <a:gsLst>
            <a:gs pos="0">
              <a:schemeClr val="accent1">
                <a:shade val="50000"/>
                <a:hueOff val="361437"/>
                <a:satOff val="-7560"/>
                <a:lumOff val="42063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361437"/>
                <a:satOff val="-7560"/>
                <a:lumOff val="42063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361437"/>
                <a:satOff val="-7560"/>
                <a:lumOff val="4206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/>
            <a:t>A manager’s goals and responsibilities </a:t>
          </a:r>
          <a:r>
            <a:rPr lang="en-US" sz="3300" b="1" kern="1200"/>
            <a:t>may focus on unit profits, costs, revenues, or investments.</a:t>
          </a:r>
          <a:endParaRPr lang="en-US" sz="3300" kern="1200"/>
        </a:p>
      </dsp:txBody>
      <dsp:txXfrm>
        <a:off x="114972" y="2600891"/>
        <a:ext cx="7999656" cy="212526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C631E-0AB0-49B2-AB5C-17B464B29E01}">
      <dsp:nvSpPr>
        <dsp:cNvPr id="0" name=""/>
        <dsp:cNvSpPr/>
      </dsp:nvSpPr>
      <dsp:spPr>
        <a:xfrm>
          <a:off x="0" y="6829"/>
          <a:ext cx="8229600" cy="123317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/>
            <a:t>Budget controls: </a:t>
          </a:r>
          <a:r>
            <a:rPr lang="en-US" sz="3100" kern="1200"/>
            <a:t>Some budget development methods are as follows: </a:t>
          </a:r>
        </a:p>
      </dsp:txBody>
      <dsp:txXfrm>
        <a:off x="60199" y="67028"/>
        <a:ext cx="8109202" cy="1112781"/>
      </dsp:txXfrm>
    </dsp:sp>
    <dsp:sp modelId="{8C985EF5-E9B0-493D-A17B-48F054949796}">
      <dsp:nvSpPr>
        <dsp:cNvPr id="0" name=""/>
        <dsp:cNvSpPr/>
      </dsp:nvSpPr>
      <dsp:spPr>
        <a:xfrm>
          <a:off x="0" y="1240009"/>
          <a:ext cx="8229600" cy="4042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1" u="sng" kern="1200"/>
            <a:t>Top-down budgeting</a:t>
          </a:r>
          <a:r>
            <a:rPr lang="en-US" sz="2400" kern="1200"/>
            <a:t>. Managers prepare the budget and send it to subordinates. 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1" u="sng" kern="1200" dirty="0"/>
            <a:t>Bottom-up budgeting</a:t>
          </a:r>
          <a:r>
            <a:rPr lang="en-US" sz="2400" kern="1200" dirty="0"/>
            <a:t>. Figures come from the lower levels and are adjusted and coordinated as they move up the hierarchy.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1" u="sng" kern="1200" dirty="0"/>
            <a:t>Zero-based budgeting</a:t>
          </a:r>
          <a:r>
            <a:rPr lang="en-US" sz="2400" kern="1200" dirty="0"/>
            <a:t>. Managers develop each new budget by justifying the projected allocation against its contribution to departmental or organizational goals. 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1" u="sng" kern="1200" dirty="0"/>
            <a:t>Flexible budgeting</a:t>
          </a:r>
          <a:r>
            <a:rPr lang="en-US" sz="2400" kern="1200" dirty="0"/>
            <a:t>. Any budget exercise can incorporate flexible budgets, which set “meet or beat” standards that can be compared to expenditures.</a:t>
          </a:r>
        </a:p>
      </dsp:txBody>
      <dsp:txXfrm>
        <a:off x="0" y="1240009"/>
        <a:ext cx="8229600" cy="404271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8BF6F-97B9-40D8-AFA0-14CD8530A29C}">
      <dsp:nvSpPr>
        <dsp:cNvPr id="0" name=""/>
        <dsp:cNvSpPr/>
      </dsp:nvSpPr>
      <dsp:spPr>
        <a:xfrm>
          <a:off x="0" y="110375"/>
          <a:ext cx="8229600" cy="12757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/>
            <a:t>Marketing controls:</a:t>
          </a:r>
          <a:r>
            <a:rPr lang="en-US" sz="2300" kern="1200"/>
            <a:t>  </a:t>
          </a:r>
        </a:p>
      </dsp:txBody>
      <dsp:txXfrm>
        <a:off x="62275" y="172650"/>
        <a:ext cx="8105050" cy="1151152"/>
      </dsp:txXfrm>
    </dsp:sp>
    <dsp:sp modelId="{C5B145CD-45F9-4CDE-B505-A618EC6085F0}">
      <dsp:nvSpPr>
        <dsp:cNvPr id="0" name=""/>
        <dsp:cNvSpPr/>
      </dsp:nvSpPr>
      <dsp:spPr>
        <a:xfrm>
          <a:off x="0" y="1452317"/>
          <a:ext cx="8229600" cy="12757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Marketing controls </a:t>
          </a:r>
          <a:r>
            <a:rPr lang="en-US" sz="2300" b="1" u="sng" kern="1200"/>
            <a:t>help monitor progress toward goals for customer satisfaction with products and services, prices, and delivery.</a:t>
          </a:r>
          <a:endParaRPr lang="en-US" sz="2300" kern="1200"/>
        </a:p>
      </dsp:txBody>
      <dsp:txXfrm>
        <a:off x="62275" y="1514592"/>
        <a:ext cx="8105050" cy="1151152"/>
      </dsp:txXfrm>
    </dsp:sp>
    <dsp:sp modelId="{7EE1E709-4D19-42FC-895A-778A0BBFB59B}">
      <dsp:nvSpPr>
        <dsp:cNvPr id="0" name=""/>
        <dsp:cNvSpPr/>
      </dsp:nvSpPr>
      <dsp:spPr>
        <a:xfrm>
          <a:off x="0" y="2794260"/>
          <a:ext cx="8229600" cy="12757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The following are </a:t>
          </a:r>
          <a:r>
            <a:rPr lang="en-US" sz="2300" b="1" u="sng" kern="1200"/>
            <a:t>examples of controls used to evaluate an organization’s marketing functions: </a:t>
          </a:r>
          <a:endParaRPr lang="en-US" sz="2300" kern="1200"/>
        </a:p>
      </dsp:txBody>
      <dsp:txXfrm>
        <a:off x="62275" y="2856535"/>
        <a:ext cx="8105050" cy="1151152"/>
      </dsp:txXfrm>
    </dsp:sp>
    <dsp:sp modelId="{309D76E5-9C44-42C3-BF5D-53E537407DAB}">
      <dsp:nvSpPr>
        <dsp:cNvPr id="0" name=""/>
        <dsp:cNvSpPr/>
      </dsp:nvSpPr>
      <dsp:spPr>
        <a:xfrm>
          <a:off x="0" y="4069962"/>
          <a:ext cx="8229600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1" kern="1200"/>
            <a:t>Market research</a:t>
          </a:r>
          <a:r>
            <a:rPr lang="en-US" sz="1800" kern="1200"/>
            <a:t> gathers data to assess customer needs, information critical to an organization’s success.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Ongoing market research </a:t>
          </a:r>
          <a:r>
            <a:rPr lang="en-US" sz="1800" b="1" u="sng" kern="1200"/>
            <a:t>reflects how well an organization is meeting customers’ expectations and helps anticipate customer needs</a:t>
          </a:r>
          <a:r>
            <a:rPr lang="en-US" sz="1800" kern="1200"/>
            <a:t>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It also helps identify competitors.</a:t>
          </a:r>
        </a:p>
      </dsp:txBody>
      <dsp:txXfrm>
        <a:off x="0" y="4069962"/>
        <a:ext cx="8229600" cy="142830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9819B-2584-44F9-8735-CB104E1C9FA6}">
      <dsp:nvSpPr>
        <dsp:cNvPr id="0" name=""/>
        <dsp:cNvSpPr/>
      </dsp:nvSpPr>
      <dsp:spPr>
        <a:xfrm>
          <a:off x="0" y="103523"/>
          <a:ext cx="8599251" cy="94967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a)</a:t>
          </a:r>
          <a:r>
            <a:rPr lang="en-US" sz="1700" b="1" kern="1200"/>
            <a:t>	Test marketing </a:t>
          </a:r>
          <a:r>
            <a:rPr lang="en-US" sz="1700" kern="1200"/>
            <a:t>is a small-scale product marketing </a:t>
          </a:r>
          <a:r>
            <a:rPr lang="en-US" sz="1700" b="1" u="sng" kern="1200"/>
            <a:t>to assess customer acceptance. </a:t>
          </a:r>
          <a:endParaRPr lang="en-US" sz="1700" kern="1200"/>
        </a:p>
      </dsp:txBody>
      <dsp:txXfrm>
        <a:off x="46360" y="149883"/>
        <a:ext cx="8506531" cy="856959"/>
      </dsp:txXfrm>
    </dsp:sp>
    <dsp:sp modelId="{3B462E47-0BE8-4B0E-ABC2-769069F08B81}">
      <dsp:nvSpPr>
        <dsp:cNvPr id="0" name=""/>
        <dsp:cNvSpPr/>
      </dsp:nvSpPr>
      <dsp:spPr>
        <a:xfrm>
          <a:off x="0" y="1102163"/>
          <a:ext cx="8599251" cy="949679"/>
        </a:xfrm>
        <a:prstGeom prst="round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u="sng" kern="1200"/>
            <a:t>Using surveys and focus groups</a:t>
          </a:r>
          <a:r>
            <a:rPr lang="en-US" sz="1700" kern="1200"/>
            <a:t>, test marketing </a:t>
          </a:r>
          <a:r>
            <a:rPr lang="en-US" sz="1700" b="1" u="sng" kern="1200"/>
            <a:t>goes beyond identifying general requirements</a:t>
          </a:r>
          <a:r>
            <a:rPr lang="en-US" sz="1700" kern="1200"/>
            <a:t> and </a:t>
          </a:r>
          <a:r>
            <a:rPr lang="en-US" sz="1700" b="1" u="sng" kern="1200"/>
            <a:t>looks at what (or who) actually influences buying decisions.</a:t>
          </a:r>
          <a:endParaRPr lang="en-US" sz="1700" kern="1200"/>
        </a:p>
      </dsp:txBody>
      <dsp:txXfrm>
        <a:off x="46360" y="1148523"/>
        <a:ext cx="8506531" cy="856959"/>
      </dsp:txXfrm>
    </dsp:sp>
    <dsp:sp modelId="{B9CE7B7C-80AB-44E0-A3A0-673B618F892F}">
      <dsp:nvSpPr>
        <dsp:cNvPr id="0" name=""/>
        <dsp:cNvSpPr/>
      </dsp:nvSpPr>
      <dsp:spPr>
        <a:xfrm>
          <a:off x="0" y="2100802"/>
          <a:ext cx="8599251" cy="949679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b)</a:t>
          </a:r>
          <a:r>
            <a:rPr lang="en-US" sz="1700" b="1" kern="1200"/>
            <a:t>	Marketing statistics </a:t>
          </a:r>
          <a:r>
            <a:rPr lang="en-US" sz="1700" kern="1200"/>
            <a:t>measure performance by compiling data and analyzing results.</a:t>
          </a:r>
        </a:p>
      </dsp:txBody>
      <dsp:txXfrm>
        <a:off x="46360" y="2147162"/>
        <a:ext cx="8506531" cy="856959"/>
      </dsp:txXfrm>
    </dsp:sp>
    <dsp:sp modelId="{40CF2F10-7935-4EB5-8862-BF5C8D950489}">
      <dsp:nvSpPr>
        <dsp:cNvPr id="0" name=""/>
        <dsp:cNvSpPr/>
      </dsp:nvSpPr>
      <dsp:spPr>
        <a:xfrm>
          <a:off x="0" y="3099442"/>
          <a:ext cx="8599251" cy="949679"/>
        </a:xfrm>
        <a:prstGeom prst="round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u="sng" kern="1200"/>
            <a:t>In most cases, competency with a computer spreadsheet program is all a manager needs. </a:t>
          </a:r>
          <a:endParaRPr lang="en-US" sz="1700" kern="1200"/>
        </a:p>
      </dsp:txBody>
      <dsp:txXfrm>
        <a:off x="46360" y="3145802"/>
        <a:ext cx="8506531" cy="856959"/>
      </dsp:txXfrm>
    </dsp:sp>
    <dsp:sp modelId="{FF28291E-A913-466D-BBC9-67EFF4DDE114}">
      <dsp:nvSpPr>
        <dsp:cNvPr id="0" name=""/>
        <dsp:cNvSpPr/>
      </dsp:nvSpPr>
      <dsp:spPr>
        <a:xfrm>
          <a:off x="0" y="4098081"/>
          <a:ext cx="8599251" cy="949679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u="sng" kern="1200"/>
            <a:t>Managers look at marketing ratios</a:t>
          </a:r>
          <a:r>
            <a:rPr lang="en-US" sz="1700" kern="1200"/>
            <a:t>, which measure </a:t>
          </a:r>
          <a:r>
            <a:rPr lang="en-US" sz="1700" b="1" kern="1200"/>
            <a:t>profitability, activity, and market shares, as well as sales quotas, which measure progress toward sales goals and assist with inventory controls</a:t>
          </a:r>
          <a:r>
            <a:rPr lang="en-US" sz="1700" kern="1200"/>
            <a:t>.</a:t>
          </a:r>
        </a:p>
      </dsp:txBody>
      <dsp:txXfrm>
        <a:off x="46360" y="4144441"/>
        <a:ext cx="8506531" cy="85695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184BF-F99E-4022-B814-9ED6A32EBED0}">
      <dsp:nvSpPr>
        <dsp:cNvPr id="0" name=""/>
        <dsp:cNvSpPr/>
      </dsp:nvSpPr>
      <dsp:spPr>
        <a:xfrm>
          <a:off x="0" y="14692"/>
          <a:ext cx="8599251" cy="16497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/>
            <a:t>Unfortunately, scheduling a regular evaluation of an organization’s marketing program is easier to recommend than to execute. </a:t>
          </a:r>
        </a:p>
      </dsp:txBody>
      <dsp:txXfrm>
        <a:off x="80532" y="95224"/>
        <a:ext cx="8438187" cy="1488636"/>
      </dsp:txXfrm>
    </dsp:sp>
    <dsp:sp modelId="{4311FC9B-D17C-4A74-BBBE-901361FD7778}">
      <dsp:nvSpPr>
        <dsp:cNvPr id="0" name=""/>
        <dsp:cNvSpPr/>
      </dsp:nvSpPr>
      <dsp:spPr>
        <a:xfrm>
          <a:off x="0" y="1750792"/>
          <a:ext cx="8599251" cy="16497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27656"/>
                <a:satOff val="-5606"/>
                <a:lumOff val="30834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/>
            <a:t>Usually, only a crisis, such as increased competition or a sales drop, forces a company to take a closer look at its marketing program. </a:t>
          </a:r>
        </a:p>
      </dsp:txBody>
      <dsp:txXfrm>
        <a:off x="80532" y="1831324"/>
        <a:ext cx="8438187" cy="1488636"/>
      </dsp:txXfrm>
    </dsp:sp>
    <dsp:sp modelId="{0C9C7EFE-9201-4C01-B127-DAC6E29C7210}">
      <dsp:nvSpPr>
        <dsp:cNvPr id="0" name=""/>
        <dsp:cNvSpPr/>
      </dsp:nvSpPr>
      <dsp:spPr>
        <a:xfrm>
          <a:off x="0" y="3486892"/>
          <a:ext cx="8599251" cy="1649700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shade val="51000"/>
                <a:satMod val="130000"/>
              </a:schemeClr>
            </a:gs>
            <a:gs pos="80000">
              <a:schemeClr val="accent2">
                <a:shade val="50000"/>
                <a:hueOff val="-27656"/>
                <a:satOff val="-5606"/>
                <a:lumOff val="30834"/>
                <a:alphaOff val="0"/>
                <a:shade val="93000"/>
                <a:satMod val="13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/>
            <a:t>However, more regular evaluations help minimize the number of marketing problems.</a:t>
          </a:r>
        </a:p>
      </dsp:txBody>
      <dsp:txXfrm>
        <a:off x="80532" y="3567424"/>
        <a:ext cx="8438187" cy="148863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5829B-8489-4780-8547-49CFF371B627}">
      <dsp:nvSpPr>
        <dsp:cNvPr id="0" name=""/>
        <dsp:cNvSpPr/>
      </dsp:nvSpPr>
      <dsp:spPr>
        <a:xfrm>
          <a:off x="0" y="105183"/>
          <a:ext cx="8534400" cy="62361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/>
            <a:t>Human resource controls: </a:t>
          </a:r>
          <a:endParaRPr lang="en-US" sz="2600" kern="1200"/>
        </a:p>
      </dsp:txBody>
      <dsp:txXfrm>
        <a:off x="30442" y="135625"/>
        <a:ext cx="8473516" cy="562726"/>
      </dsp:txXfrm>
    </dsp:sp>
    <dsp:sp modelId="{AA92E8E6-E765-4F80-B274-876CC2C6F554}">
      <dsp:nvSpPr>
        <dsp:cNvPr id="0" name=""/>
        <dsp:cNvSpPr/>
      </dsp:nvSpPr>
      <dsp:spPr>
        <a:xfrm>
          <a:off x="0" y="728793"/>
          <a:ext cx="8534400" cy="473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9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/>
            <a:t>Human resource controls </a:t>
          </a:r>
          <a:r>
            <a:rPr lang="en-US" sz="2000" b="1" u="sng" kern="1200"/>
            <a:t>help managers regulate the quality of newly hired personnel, as well as monitor current employees’ developments</a:t>
          </a:r>
          <a:r>
            <a:rPr lang="en-US" sz="2000" kern="1200"/>
            <a:t> and </a:t>
          </a:r>
          <a:r>
            <a:rPr lang="en-US" sz="2000" b="1" u="sng" kern="1200"/>
            <a:t>daily performances</a:t>
          </a:r>
          <a:r>
            <a:rPr lang="en-US" sz="2000" kern="120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/>
            <a:t>On a daily basis, managers can go a long way in helping to control workers’ behaviors in organizations. </a:t>
          </a:r>
          <a:r>
            <a:rPr lang="en-US" sz="2000" b="1" u="sng" kern="1200"/>
            <a:t>They can help direct workers’ performances toward goals by making sure that goals are clearly set and understood.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u="sng" kern="1200" dirty="0"/>
            <a:t>Managers can also institute policies and procedures to help guide workers’ actions. </a:t>
          </a:r>
          <a:r>
            <a:rPr lang="en-US" sz="2000" kern="1200" dirty="0"/>
            <a:t>Finally, they can consider past experiences when developing future strategies, objectives, policies, and procedures.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u="sng" kern="1200"/>
            <a:t>Common control types include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/>
            <a:t>performance appraisals,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/>
            <a:t>disciplinary programs,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b="1" kern="1200"/>
            <a:t>observations, and training and development assessments.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/>
            <a:t>Because the quality of a firm’s personnel, to a large degree, determines the firm’s overall effectiveness, controlling this area is very crucial.</a:t>
          </a:r>
        </a:p>
      </dsp:txBody>
      <dsp:txXfrm>
        <a:off x="0" y="728793"/>
        <a:ext cx="8534400" cy="473616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5CDA0-F455-46B9-A79C-BFF90927A5DF}">
      <dsp:nvSpPr>
        <dsp:cNvPr id="0" name=""/>
        <dsp:cNvSpPr/>
      </dsp:nvSpPr>
      <dsp:spPr>
        <a:xfrm>
          <a:off x="0" y="58000"/>
          <a:ext cx="8534400" cy="6475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/>
            <a:t>Computers and information controls: </a:t>
          </a:r>
          <a:endParaRPr lang="en-US" sz="2700" kern="1200"/>
        </a:p>
      </dsp:txBody>
      <dsp:txXfrm>
        <a:off x="31613" y="89613"/>
        <a:ext cx="8471174" cy="584369"/>
      </dsp:txXfrm>
    </dsp:sp>
    <dsp:sp modelId="{5A81A14C-D0C7-4475-A2EC-40DA706D9DB0}">
      <dsp:nvSpPr>
        <dsp:cNvPr id="0" name=""/>
        <dsp:cNvSpPr/>
      </dsp:nvSpPr>
      <dsp:spPr>
        <a:xfrm>
          <a:off x="0" y="705595"/>
          <a:ext cx="8534400" cy="480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96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Almost all </a:t>
          </a:r>
          <a:r>
            <a:rPr lang="en-US" sz="2100" b="1" u="sng" kern="1200"/>
            <a:t>organizations have confidential and sensitive information that they don’t want to become general knowledge.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1" u="sng" kern="1200"/>
            <a:t>Controlling access to computer databases is the key to this area</a:t>
          </a:r>
          <a:r>
            <a:rPr lang="en-US" sz="2100" kern="1200"/>
            <a:t>.  Increasingly, computers are being used to collect and store information for control purposes.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1" u="sng" kern="1200"/>
            <a:t>Many organizations privately monitor each employee’s computer usage to measure employee performance</a:t>
          </a:r>
          <a:r>
            <a:rPr lang="en-US" sz="2100" kern="1200"/>
            <a:t>, among other things. Some people question the appropriateness of computer monitoring.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b="1" u="sng" kern="1200"/>
            <a:t>Managers must carefully weigh the benefits against the costs (both human and financial) before investing in and implementing computerized control techniques.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/>
            <a:t>Although computers and information systems provide enormous benefits, such as improved productivity and information management, organizations should remember the following limitations of the use of information technology:</a:t>
          </a:r>
        </a:p>
      </dsp:txBody>
      <dsp:txXfrm>
        <a:off x="0" y="705595"/>
        <a:ext cx="8534400" cy="480653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1F062-174B-47DB-9A8E-302253EA9C05}">
      <dsp:nvSpPr>
        <dsp:cNvPr id="0" name=""/>
        <dsp:cNvSpPr/>
      </dsp:nvSpPr>
      <dsp:spPr>
        <a:xfrm>
          <a:off x="0" y="205010"/>
          <a:ext cx="8229600" cy="6715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/>
            <a:t>a) </a:t>
          </a:r>
          <a:r>
            <a:rPr lang="en-US" sz="2800" b="1" kern="1200"/>
            <a:t>Performance limitations</a:t>
          </a:r>
          <a:r>
            <a:rPr lang="en-US" sz="2800" kern="1200"/>
            <a:t>. </a:t>
          </a:r>
        </a:p>
      </dsp:txBody>
      <dsp:txXfrm>
        <a:off x="32784" y="237794"/>
        <a:ext cx="8164032" cy="606012"/>
      </dsp:txXfrm>
    </dsp:sp>
    <dsp:sp modelId="{1FE1456E-36B7-467B-A8B8-54756AFBC3D1}">
      <dsp:nvSpPr>
        <dsp:cNvPr id="0" name=""/>
        <dsp:cNvSpPr/>
      </dsp:nvSpPr>
      <dsp:spPr>
        <a:xfrm>
          <a:off x="0" y="876590"/>
          <a:ext cx="8229600" cy="3825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technology </a:t>
          </a:r>
          <a:r>
            <a:rPr lang="en-US" sz="2200" b="1" u="sng" kern="1200"/>
            <a:t>may result in the loss of expert knowledge that these individuals hold.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Additionally, </a:t>
          </a:r>
          <a:r>
            <a:rPr lang="en-US" sz="2200" b="1" u="sng" kern="1200"/>
            <a:t>computerized information systems are expensive and difficult to develop</a:t>
          </a:r>
          <a:r>
            <a:rPr lang="en-US" sz="2200" kern="1200"/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After the system has been purchased, coordinating it-possibly with existing equipment-may be more difficult than expected.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b="1" u="sng" kern="1200"/>
            <a:t>Consequently, a company may cut corners or install the system carelessly to the detriment of the system’s performance and utility</a:t>
          </a:r>
          <a:r>
            <a:rPr lang="en-US" sz="2200" kern="1200"/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/>
            <a:t>And like other sophisticated electronic equipment, </a:t>
          </a:r>
          <a:r>
            <a:rPr lang="en-US" sz="2200" b="1" u="sng" kern="1200"/>
            <a:t>information systems do not work all the time, resulting in costly downtime.</a:t>
          </a:r>
          <a:endParaRPr lang="en-US" sz="2200" kern="1200"/>
        </a:p>
      </dsp:txBody>
      <dsp:txXfrm>
        <a:off x="0" y="876590"/>
        <a:ext cx="8229600" cy="382536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1F5024-FB45-48A6-99B7-9066689EAA46}">
      <dsp:nvSpPr>
        <dsp:cNvPr id="0" name=""/>
        <dsp:cNvSpPr/>
      </dsp:nvSpPr>
      <dsp:spPr>
        <a:xfrm>
          <a:off x="0" y="9778"/>
          <a:ext cx="8229600" cy="983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b) </a:t>
          </a:r>
          <a:r>
            <a:rPr lang="en-US" sz="4100" b="1" u="sng" kern="1200"/>
            <a:t>Behavioral limitations</a:t>
          </a:r>
          <a:r>
            <a:rPr lang="en-US" sz="4100" kern="1200"/>
            <a:t>. </a:t>
          </a:r>
        </a:p>
      </dsp:txBody>
      <dsp:txXfrm>
        <a:off x="48005" y="57783"/>
        <a:ext cx="8133590" cy="887374"/>
      </dsp:txXfrm>
    </dsp:sp>
    <dsp:sp modelId="{4E1EA876-2A40-43E3-9DB3-F2F98D5C8F24}">
      <dsp:nvSpPr>
        <dsp:cNvPr id="0" name=""/>
        <dsp:cNvSpPr/>
      </dsp:nvSpPr>
      <dsp:spPr>
        <a:xfrm>
          <a:off x="0" y="993163"/>
          <a:ext cx="8229600" cy="3904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200" kern="1200"/>
            <a:t>Information technology </a:t>
          </a:r>
          <a:r>
            <a:rPr lang="en-US" sz="3200" b="1" u="sng" kern="1200"/>
            <a:t>allows managers to access more information than ever before.</a:t>
          </a:r>
          <a:r>
            <a:rPr lang="en-US" sz="3200" kern="1200"/>
            <a:t>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200" b="1" u="sng" kern="1200"/>
            <a:t>But too much information can overwhelm employees, cause stress,</a:t>
          </a:r>
          <a:r>
            <a:rPr lang="en-US" sz="3200" kern="1200"/>
            <a:t> and even slow decision making.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200" b="1" u="sng" kern="1200"/>
            <a:t>Thus, managing the quality and amount of information available to avoid information overload is important.</a:t>
          </a:r>
          <a:endParaRPr lang="en-US" sz="3200" kern="1200"/>
        </a:p>
      </dsp:txBody>
      <dsp:txXfrm>
        <a:off x="0" y="993163"/>
        <a:ext cx="8229600" cy="390402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05FA5-BBDC-4398-9FAD-E774D13B3703}">
      <dsp:nvSpPr>
        <dsp:cNvPr id="0" name=""/>
        <dsp:cNvSpPr/>
      </dsp:nvSpPr>
      <dsp:spPr>
        <a:xfrm>
          <a:off x="0" y="52213"/>
          <a:ext cx="8229600" cy="983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b="1" kern="1200"/>
            <a:t>c) Health risks</a:t>
          </a:r>
          <a:r>
            <a:rPr lang="en-US" sz="4100" kern="1200"/>
            <a:t>. </a:t>
          </a:r>
        </a:p>
      </dsp:txBody>
      <dsp:txXfrm>
        <a:off x="48005" y="100218"/>
        <a:ext cx="8133590" cy="887374"/>
      </dsp:txXfrm>
    </dsp:sp>
    <dsp:sp modelId="{50747B71-CBF7-4BA7-89E7-F4DF630FD25F}">
      <dsp:nvSpPr>
        <dsp:cNvPr id="0" name=""/>
        <dsp:cNvSpPr/>
      </dsp:nvSpPr>
      <dsp:spPr>
        <a:xfrm>
          <a:off x="0" y="1035598"/>
          <a:ext cx="8229600" cy="381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200" kern="1200"/>
            <a:t>Potentially </a:t>
          </a:r>
          <a:r>
            <a:rPr lang="en-US" sz="3200" b="1" u="sng" kern="1200"/>
            <a:t>serious health-related issues associated with the use of computers </a:t>
          </a:r>
          <a:r>
            <a:rPr lang="en-US" sz="3200" kern="1200"/>
            <a:t>and other </a:t>
          </a:r>
          <a:r>
            <a:rPr lang="en-US" sz="3200" b="1" u="sng" kern="1200"/>
            <a:t>information technologies have been raised </a:t>
          </a:r>
          <a:r>
            <a:rPr lang="en-US" sz="3200" kern="1200"/>
            <a:t>in recent years.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3200" b="1" u="sng" kern="1200"/>
            <a:t>An example is carpal tunnel syndrome, a painful disorder in the hands and wrists</a:t>
          </a:r>
          <a:r>
            <a:rPr lang="en-US" sz="3200" kern="1200"/>
            <a:t> caused by repetitive movements (such as those made on a keyboard).</a:t>
          </a:r>
        </a:p>
      </dsp:txBody>
      <dsp:txXfrm>
        <a:off x="0" y="1035598"/>
        <a:ext cx="8229600" cy="381915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8EE4E-FD42-4441-874E-168DD5ADEFBD}">
      <dsp:nvSpPr>
        <dsp:cNvPr id="0" name=""/>
        <dsp:cNvSpPr/>
      </dsp:nvSpPr>
      <dsp:spPr>
        <a:xfrm>
          <a:off x="0" y="342801"/>
          <a:ext cx="8229600" cy="422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/>
            <a:t>d) Regardless of the control processes used, </a:t>
          </a:r>
          <a:r>
            <a:rPr lang="en-US" sz="4100" b="1" u="sng" kern="1200"/>
            <a:t>an effective system determines whether employees and various parts of an organization </a:t>
          </a:r>
          <a:r>
            <a:rPr lang="en-US" sz="4100" kern="1200"/>
            <a:t>are on target in achieving organizational objectives </a:t>
          </a:r>
        </a:p>
      </dsp:txBody>
      <dsp:txXfrm>
        <a:off x="206070" y="548871"/>
        <a:ext cx="7817460" cy="3809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B1D74-FAD5-4FA4-87A5-E33F7570528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35687-BD8F-47D1-8262-7C77C9EF7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5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76F50-5C9E-4E1E-B621-B67882C2EA7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4A6D7-196E-4B8D-895F-1C2CB013C0C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A3FC-88B0-4523-9419-267327CFEFB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FCD6B-98C0-40DF-9190-5D446BAAA72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4FC39-3B3E-458D-9149-38678B779997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A05D6-EE2E-4065-8EBB-14B0AE29B2AE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EE12-B50D-49FD-B54B-632FA1275097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89D92-312C-455C-BBE2-0C39B48C186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AB67E-FD85-492E-9D33-334EE5AE25AF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9C6E-8B71-4E53-957B-DA37D856F19F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F7D8-B2E4-4205-A5D4-A9A43E1C067B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952F01-E879-4E7B-A87D-3EB4CA39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CC896E-1A11-45B5-B07E-BFC22C72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C280BB-B2CF-455F-8437-81430E25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E6780-D289-4DE3-A258-584C1C2E94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418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1DFC19-77CD-4B65-8BB1-EF8BF9DA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274968-108A-4BD4-A57B-084E6D06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27989B-B556-4312-8BA0-BC07E62E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F1451-3745-4E32-A589-018253549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294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3E6627-7E35-40D8-8D37-4657CD8F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74D24D-885E-4CF7-B544-4628D9EC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C8A564-9E9F-428A-BF1B-9146819F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FE6EB-2CD3-4A54-AFB9-80ECD0C603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177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A0FE7E5-36CA-41C3-A781-1D4618A4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20FF1DE-AF8A-4B78-A1D8-724BCC90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E7FAF03-C0A4-4E30-9E36-6A3AFD86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A5910-8D4D-496C-9F3B-FE4AD86DD7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970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89C74B4B-A753-4007-86A4-5DBB54A5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7766135D-BFA0-4772-9981-5A4E18BE9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E3AA9D54-DADC-4CC8-95E2-1EE4590D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4857F-BDF5-41C6-AEA4-0627759AA1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305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86A063C0-7E1D-45BA-BDDD-D51C4932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6DCAE89-0788-404D-B6F1-104C3DB4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AE4A2CFE-DD3F-4F2D-BCCB-DB05FAA2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1F552-1E69-4970-89C7-27D5F4D59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914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3EE1587C-6661-44A4-8D53-CB762CC7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059AC777-6A8E-4A28-AD35-E3C41851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52C3AE88-1B48-4728-B28A-91C87650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D4754-05F9-4397-9644-83DEB00C04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486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92D748B-7370-4D2E-9F65-C572BD5B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4C5ABD24-F3DE-4B94-A832-A4D63A83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400B48E-7AA1-4E67-8B37-B6448127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412FB-6A1A-4054-A103-3F9BEF89C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958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3EFA4AA0-BB44-41C8-81DA-BDE8F6F0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886546D-34D5-451D-8BAF-B812242B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92983B76-622D-4F4A-80C7-595D6B3C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E3D25-FEC4-42FE-BBE0-576683FF06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6249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5F9896-E314-4739-A4D0-E43CD674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C7F40D-6296-4E74-9DAA-641811CE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31E565-5A5E-4C90-B2C0-189F06DF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9EED7-BC6D-4302-9D13-A9B87DE538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961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C39660-0B3A-43B0-92A5-917D2D67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D8AEA3-E8E4-442A-AB02-CA6EF9DE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5D7C002-DC3B-45E6-81C7-5D1872FA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70666-5889-419A-8B77-CC79A942CC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86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FB066-9C8D-4DF2-AA36-AFA95832856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SERVICE EXCELLENCE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F492A-201A-4EC5-BABC-59636287FCD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xmlns="" id="{B64D3511-E523-462B-BD08-E62809B05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xmlns="" id="{AE6D3FF9-D8B9-4DA9-8610-BDC9A6E4A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D8FA8A-F528-4FE7-991A-46EFF146D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5575CF0D-C1CF-41BD-9403-366EC449D2A4}" type="datetime1">
              <a:rPr lang="en-US"/>
              <a:pPr>
                <a:defRPr/>
              </a:pPr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07F3AC-9099-4A1A-8B15-8D31AD0F4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D8A103-E9E5-4CD5-B379-E262B4FD8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defTabSz="914400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8174235-16E0-4065-862D-6EC8ADB24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9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1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1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1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1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1.pn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1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1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1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1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1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1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1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1.pn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xmlns="" id="{52C0435C-A06C-4870-B4EF-E603534A0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8832370"/>
              </p:ext>
            </p:extLst>
          </p:nvPr>
        </p:nvGraphicFramePr>
        <p:xfrm>
          <a:off x="1638899" y="4548017"/>
          <a:ext cx="5791200" cy="106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DE47834-9AC4-4C0F-A8C4-41A7EE2CA918}"/>
              </a:ext>
            </a:extLst>
          </p:cNvPr>
          <p:cNvGrpSpPr/>
          <p:nvPr/>
        </p:nvGrpSpPr>
        <p:grpSpPr>
          <a:xfrm>
            <a:off x="0" y="1173"/>
            <a:ext cx="8537443" cy="6858000"/>
            <a:chOff x="0" y="0"/>
            <a:chExt cx="7398023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65FB2147-A230-4AFC-9208-866A35ACD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32170" y="144096"/>
              <a:ext cx="6965853" cy="2199884"/>
            </a:xfrm>
            <a:prstGeom prst="rect">
              <a:avLst/>
            </a:prstGeom>
            <a:noFill/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4153C9D7-351D-4DA6-B9C7-D7C1720B6FF8}"/>
                </a:ext>
              </a:extLst>
            </p:cNvPr>
            <p:cNvSpPr/>
            <p:nvPr/>
          </p:nvSpPr>
          <p:spPr>
            <a:xfrm>
              <a:off x="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7734A975-626D-4945-9893-80F6FF08BAE4}"/>
                </a:ext>
              </a:extLst>
            </p:cNvPr>
            <p:cNvSpPr/>
            <p:nvPr/>
          </p:nvSpPr>
          <p:spPr>
            <a:xfrm>
              <a:off x="131298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F7B5E37-D90C-4464-AFD9-36391C8DED12}"/>
              </a:ext>
            </a:extLst>
          </p:cNvPr>
          <p:cNvSpPr/>
          <p:nvPr/>
        </p:nvSpPr>
        <p:spPr>
          <a:xfrm>
            <a:off x="8991600" y="-1172"/>
            <a:ext cx="152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2B6C40A-CB06-48EC-B120-F6B4091C57D9}"/>
              </a:ext>
            </a:extLst>
          </p:cNvPr>
          <p:cNvSpPr/>
          <p:nvPr/>
        </p:nvSpPr>
        <p:spPr>
          <a:xfrm>
            <a:off x="8860302" y="-1172"/>
            <a:ext cx="152400" cy="6858000"/>
          </a:xfrm>
          <a:prstGeom prst="rect">
            <a:avLst/>
          </a:prstGeom>
          <a:solidFill>
            <a:srgbClr val="D59B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56166415-CAD7-436D-BCDD-DF0749BC3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1367576"/>
              </p:ext>
            </p:extLst>
          </p:nvPr>
        </p:nvGraphicFramePr>
        <p:xfrm>
          <a:off x="935166" y="2895600"/>
          <a:ext cx="7273669" cy="106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3020EB-CB7B-4D6A-BFDC-C5FF287E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4825" y="339132"/>
            <a:ext cx="5791200" cy="1066800"/>
          </a:xfrm>
        </p:spPr>
        <p:txBody>
          <a:bodyPr>
            <a:normAutofit/>
          </a:bodyPr>
          <a:lstStyle/>
          <a:p>
            <a:r>
              <a:rPr lang="en-US" sz="4000" b="1" dirty="0"/>
              <a:t>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405932"/>
            <a:ext cx="8305800" cy="507106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dirty="0">
                <a:solidFill>
                  <a:schemeClr val="tx2"/>
                </a:solidFill>
              </a:rPr>
              <a:t>Outline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Meaning of Control 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Objectives and Purposes of Control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The Control Process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Types of Control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Control Techniques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Resistance to Control and its Causes</a:t>
            </a:r>
          </a:p>
          <a:p>
            <a:pPr lvl="0" algn="just">
              <a:buFont typeface="Arial" pitchFamily="34" charset="0"/>
              <a:buChar char="•"/>
            </a:pPr>
            <a:r>
              <a:rPr lang="en-US" sz="3500" dirty="0">
                <a:solidFill>
                  <a:schemeClr val="tx2"/>
                </a:solidFill>
              </a:rPr>
              <a:t> Overcoming Resistance to Control</a:t>
            </a:r>
          </a:p>
          <a:p>
            <a:pPr lvl="0" algn="l">
              <a:buFont typeface="Arial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609600" y="1905000"/>
            <a:ext cx="7467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DA052B2-03FB-4C52-AC24-2C33C35E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40579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7391400" cy="76200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/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BE191DAB-3DA5-412E-9FFA-9ED5B1111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694349"/>
              </p:ext>
            </p:extLst>
          </p:nvPr>
        </p:nvGraphicFramePr>
        <p:xfrm>
          <a:off x="566225" y="1219200"/>
          <a:ext cx="83058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1F6B8D2-90FC-48EE-8B32-CA5E495A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46" y="106764"/>
            <a:ext cx="73152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Control</a:t>
            </a: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87D36E5-48F6-4CAD-960B-7442F7F24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207244"/>
              </p:ext>
            </p:extLst>
          </p:nvPr>
        </p:nvGraphicFramePr>
        <p:xfrm>
          <a:off x="609600" y="1066800"/>
          <a:ext cx="8229600" cy="5303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6BF24B-87AD-4483-BC45-E108A977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46" y="106764"/>
            <a:ext cx="73152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Control</a:t>
            </a: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B5E50A0D-F916-4D67-81DC-69C039B6B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870888"/>
              </p:ext>
            </p:extLst>
          </p:nvPr>
        </p:nvGraphicFramePr>
        <p:xfrm>
          <a:off x="609600" y="1066800"/>
          <a:ext cx="8229600" cy="5303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92FA3F8-7D1F-449C-9372-CE1A135E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13315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46" y="106764"/>
            <a:ext cx="7315200" cy="114300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</a:t>
            </a:r>
            <a:endParaRPr lang="en-US" sz="28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1E2115CC-0D49-4601-9923-DB673F5EB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030440"/>
              </p:ext>
            </p:extLst>
          </p:nvPr>
        </p:nvGraphicFramePr>
        <p:xfrm>
          <a:off x="609600" y="1066800"/>
          <a:ext cx="8229600" cy="5303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B06A6F6-21F0-4942-BD49-14DACF19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77299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prstClr val="black"/>
                </a:solidFill>
              </a:rPr>
              <a:t>Control</a:t>
            </a:r>
            <a:endParaRPr lang="en-US" sz="32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110B3FB2-E980-4F25-804A-14DEEA90DD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290664"/>
              </p:ext>
            </p:extLst>
          </p:nvPr>
        </p:nvGraphicFramePr>
        <p:xfrm>
          <a:off x="457200" y="1066800"/>
          <a:ext cx="8382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A7130F7-927C-4F0C-9C65-73595913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5612"/>
            <a:ext cx="5943600" cy="778951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b="1" dirty="0">
                <a:solidFill>
                  <a:prstClr val="black"/>
                </a:solidFill>
              </a:rPr>
              <a:t/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prstClr val="black"/>
                </a:solidFill>
              </a:rPr>
              <a:t>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97F639D-BA8E-442E-8735-74B58365D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940341"/>
              </p:ext>
            </p:extLst>
          </p:nvPr>
        </p:nvGraphicFramePr>
        <p:xfrm>
          <a:off x="457200" y="1143000"/>
          <a:ext cx="8229600" cy="5516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AF3D1F4-D0E2-4861-B1B9-EE6DF2D2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Process </a:t>
            </a:r>
            <a:endParaRPr lang="en-US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4111848E-8A54-4D8B-9F1D-EE0572D43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791971"/>
              </p:ext>
            </p:extLst>
          </p:nvPr>
        </p:nvGraphicFramePr>
        <p:xfrm>
          <a:off x="609600" y="1295400"/>
          <a:ext cx="83820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2B408DF-2D16-48A5-A7F2-2529D22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Control Process</a:t>
            </a:r>
            <a:endParaRPr lang="en-US" sz="3600" dirty="0">
              <a:solidFill>
                <a:schemeClr val="tx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44A86169-288E-489C-A10A-A18112242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725781"/>
              </p:ext>
            </p:extLst>
          </p:nvPr>
        </p:nvGraphicFramePr>
        <p:xfrm>
          <a:off x="457200" y="1219200"/>
          <a:ext cx="86106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7D3DE3D-3507-423A-8234-4BC34C6F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en-US" sz="4400" b="1" kern="1200" dirty="0">
                <a:solidFill>
                  <a:prstClr val="black"/>
                </a:solidFill>
                <a:latin typeface="Calibri"/>
                <a:ea typeface="+mj-ea"/>
                <a:cs typeface="+mj-cs"/>
              </a:rPr>
              <a:t>Control Process</a:t>
            </a:r>
            <a:r>
              <a:rPr lang="en-US" sz="3200" b="1" i="1" dirty="0">
                <a:latin typeface="+mj-lt"/>
              </a:rPr>
              <a:t/>
            </a:r>
            <a:br>
              <a:rPr lang="en-US" sz="3200" b="1" i="1" dirty="0">
                <a:latin typeface="+mj-lt"/>
              </a:rPr>
            </a:br>
            <a:endParaRPr lang="en-US" sz="3200" dirty="0">
              <a:latin typeface="+mj-lt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36F1637D-2A32-4D42-A8F2-26B0A603F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368616"/>
              </p:ext>
            </p:extLst>
          </p:nvPr>
        </p:nvGraphicFramePr>
        <p:xfrm>
          <a:off x="685800" y="1600200"/>
          <a:ext cx="83058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7BB2E-EBBA-4631-A5E0-97B50469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Control Process</a:t>
            </a: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7305A79B-8821-4636-B5D1-DD13AB502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088439"/>
              </p:ext>
            </p:extLst>
          </p:nvPr>
        </p:nvGraphicFramePr>
        <p:xfrm>
          <a:off x="600222" y="1219200"/>
          <a:ext cx="8001000" cy="5211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9156F5-D984-4EBB-8A84-EA45F710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Types of Control</a:t>
            </a:r>
            <a:endParaRPr lang="en-US" sz="32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B6913D72-622D-465C-B132-673EBD3B1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092981"/>
              </p:ext>
            </p:extLst>
          </p:nvPr>
        </p:nvGraphicFramePr>
        <p:xfrm>
          <a:off x="609600" y="12954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F3BFCF2-1C99-4EEF-B5EE-13E129EC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Types of Control</a:t>
            </a:r>
            <a:endParaRPr lang="en-US" sz="3200" dirty="0">
              <a:solidFill>
                <a:schemeClr val="tx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5F211624-4703-4E41-A934-6FF40E52BD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32509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6" name="Picture 5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79E099E-57DC-4381-90A9-B3EF4AC0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Types of Control </a:t>
            </a:r>
            <a:endParaRPr lang="en-US" sz="30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08A87759-74B1-49A6-B4A3-BFA119272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852301"/>
              </p:ext>
            </p:extLst>
          </p:nvPr>
        </p:nvGraphicFramePr>
        <p:xfrm>
          <a:off x="457200" y="1143000"/>
          <a:ext cx="8382000" cy="4983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123B3F-7C62-4B5A-A45D-E4DC8603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en-US" sz="4400" b="1" kern="1200" dirty="0">
                <a:solidFill>
                  <a:prstClr val="black"/>
                </a:solidFill>
                <a:latin typeface="Calibri"/>
                <a:ea typeface="+mj-ea"/>
                <a:cs typeface="+mj-cs"/>
              </a:rPr>
              <a:t>Types of Control</a:t>
            </a:r>
            <a:r>
              <a:rPr lang="en-US" b="1" i="1" dirty="0"/>
              <a:t/>
            </a:r>
            <a:br>
              <a:rPr lang="en-US" b="1" i="1" dirty="0"/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258478A1-218E-4C46-84AF-ADFF1DEE40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36713"/>
              </p:ext>
            </p:extLst>
          </p:nvPr>
        </p:nvGraphicFramePr>
        <p:xfrm>
          <a:off x="457200" y="1143000"/>
          <a:ext cx="82296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C63912A-E9B0-418E-AEFC-C8A572E4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Types of Control</a:t>
            </a:r>
            <a:r>
              <a:rPr lang="en-US" sz="3200" b="1" i="1" dirty="0"/>
              <a:t/>
            </a:r>
            <a:br>
              <a:rPr lang="en-US" sz="3200" b="1" i="1" dirty="0"/>
            </a:b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1BEBA174-8D75-40BF-97DA-7579DCA3B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374890"/>
              </p:ext>
            </p:extLst>
          </p:nvPr>
        </p:nvGraphicFramePr>
        <p:xfrm>
          <a:off x="609600" y="1371600"/>
          <a:ext cx="83820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7BDB17A-5634-4993-9D75-0A95AA7F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911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/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sz="3600" b="1" dirty="0">
                <a:solidFill>
                  <a:prstClr val="black"/>
                </a:solidFill>
              </a:rPr>
              <a:t>Characteristics of Effective Control Systems</a:t>
            </a:r>
            <a:r>
              <a:rPr lang="en-US" sz="2800" b="1" i="1" dirty="0"/>
              <a:t/>
            </a:r>
            <a:br>
              <a:rPr lang="en-US" sz="2800" b="1" i="1" dirty="0"/>
            </a:b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0C98AFC5-F04F-4B6C-9784-E9F500C7A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830875"/>
              </p:ext>
            </p:extLst>
          </p:nvPr>
        </p:nvGraphicFramePr>
        <p:xfrm>
          <a:off x="648511" y="1371600"/>
          <a:ext cx="822960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F18E485-8E5D-4309-B078-4F0ECEC0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67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/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sz="3600" b="1" dirty="0">
                <a:solidFill>
                  <a:prstClr val="black"/>
                </a:solidFill>
              </a:rPr>
              <a:t>Characteristics of Effective Control Systems</a:t>
            </a:r>
            <a:r>
              <a:rPr lang="en-US" sz="2800" b="1" i="1" dirty="0"/>
              <a:t/>
            </a:r>
            <a:br>
              <a:rPr lang="en-US" sz="2800" b="1" i="1" dirty="0"/>
            </a:b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B0D9D80-B9E1-462D-B821-C564DCEE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3170557"/>
              </p:ext>
            </p:extLst>
          </p:nvPr>
        </p:nvGraphicFramePr>
        <p:xfrm>
          <a:off x="648511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E9F434B-8BC9-4A9F-816F-EE9DD1BC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372959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64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/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sz="3600" b="1" dirty="0">
                <a:solidFill>
                  <a:prstClr val="black"/>
                </a:solidFill>
              </a:rPr>
              <a:t>Characteristics of Effective Control Systems</a:t>
            </a:r>
            <a:r>
              <a:rPr lang="en-US" sz="2800" b="1" i="1" dirty="0"/>
              <a:t/>
            </a:r>
            <a:br>
              <a:rPr lang="en-US" sz="2800" b="1" i="1" dirty="0"/>
            </a:b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C8D25810-4C8D-4586-BE93-A69D4B9B2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207455"/>
              </p:ext>
            </p:extLst>
          </p:nvPr>
        </p:nvGraphicFramePr>
        <p:xfrm>
          <a:off x="648511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52DCA2D-9C50-40F0-809F-0BD0A238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96229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6071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/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sz="3600" b="1" dirty="0">
                <a:solidFill>
                  <a:prstClr val="black"/>
                </a:solidFill>
              </a:rPr>
              <a:t>Characteristics of Effective Control Systems</a:t>
            </a:r>
            <a:r>
              <a:rPr lang="en-US" sz="2800" b="1" i="1" dirty="0"/>
              <a:t/>
            </a:r>
            <a:br>
              <a:rPr lang="en-US" sz="2800" b="1" i="1" dirty="0"/>
            </a:br>
            <a:endParaRPr lang="en-US" sz="28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AD40AC6B-C63B-4776-A8D3-27B4E2EB0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905598"/>
              </p:ext>
            </p:extLst>
          </p:nvPr>
        </p:nvGraphicFramePr>
        <p:xfrm>
          <a:off x="648511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E256917-93F1-453F-8AF1-56A82B7C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18942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ACA7CF5E-D4D3-4927-84BC-3B6BF47BA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590660"/>
              </p:ext>
            </p:extLst>
          </p:nvPr>
        </p:nvGraphicFramePr>
        <p:xfrm>
          <a:off x="457200" y="1143000"/>
          <a:ext cx="8382000" cy="521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6" name="Picture 5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029A1C0-B876-4218-97EA-2DD3BAC6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1F3C3F07-B341-44F4-A5A5-40B353CDD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546997"/>
              </p:ext>
            </p:extLst>
          </p:nvPr>
        </p:nvGraphicFramePr>
        <p:xfrm>
          <a:off x="457200" y="1219200"/>
          <a:ext cx="8382000" cy="5364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6" name="Picture 5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A3C5DD-EB98-4BBE-A3B0-9C5F4240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88595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B76137DA-BA20-41C7-8E70-99EF85E5F6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682521"/>
              </p:ext>
            </p:extLst>
          </p:nvPr>
        </p:nvGraphicFramePr>
        <p:xfrm>
          <a:off x="541606" y="952903"/>
          <a:ext cx="8297594" cy="5768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18" name="Picture 17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19" name="Rectangle 18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388469-C1F6-41E9-840F-E9D213A1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CDE5411D-F7F9-4E42-96F3-CBA507F89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355663"/>
              </p:ext>
            </p:extLst>
          </p:nvPr>
        </p:nvGraphicFramePr>
        <p:xfrm>
          <a:off x="619593" y="12192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18" name="Picture 17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19" name="Rectangle 18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1CFA93A-2AB7-4759-82AE-A582E7D7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19899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868362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600" b="1" dirty="0">
                <a:solidFill>
                  <a:schemeClr val="tx2"/>
                </a:solidFill>
              </a:rPr>
              <a:t>Control Techniques</a:t>
            </a:r>
            <a:r>
              <a:rPr lang="en-US" sz="3600" dirty="0">
                <a:solidFill>
                  <a:schemeClr val="tx2"/>
                </a:solidFill>
              </a:rPr>
              <a:t/>
            </a:r>
            <a:br>
              <a:rPr lang="en-US" sz="3600" dirty="0">
                <a:solidFill>
                  <a:schemeClr val="tx2"/>
                </a:solidFill>
              </a:rPr>
            </a:br>
            <a:endParaRPr lang="en-US" sz="3600" dirty="0">
              <a:solidFill>
                <a:schemeClr val="tx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BDDC6728-59A7-4B14-8050-44CAAD56F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552858"/>
              </p:ext>
            </p:extLst>
          </p:nvPr>
        </p:nvGraphicFramePr>
        <p:xfrm>
          <a:off x="609600" y="1066800"/>
          <a:ext cx="8229600" cy="528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520FDA8-2289-46A3-B9AA-2C325C10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9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0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7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1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28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84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31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52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40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63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32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76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43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994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3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4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SERVICE EXCELLENCE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4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2F622C72-E45D-40B3-9C1F-21A887227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483238"/>
              </p:ext>
            </p:extLst>
          </p:nvPr>
        </p:nvGraphicFramePr>
        <p:xfrm>
          <a:off x="457200" y="944562"/>
          <a:ext cx="8229600" cy="5608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22" name="Picture 21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23" name="Rectangle 22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1A21E70-4141-40A1-A22A-A59BC632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600" b="1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xmlns="" id="{061AD09C-0A52-4C78-B0D2-C4E68094A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662457"/>
              </p:ext>
            </p:extLst>
          </p:nvPr>
        </p:nvGraphicFramePr>
        <p:xfrm>
          <a:off x="468549" y="1143000"/>
          <a:ext cx="8599251" cy="5151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6" name="Picture 5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256D378-0558-49FD-9FD1-7B33AF9D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</a:t>
            </a:r>
            <a:endParaRPr lang="en-US" sz="36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731BDFE4-FB6B-44F2-86A5-5FF285D6F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710190"/>
              </p:ext>
            </p:extLst>
          </p:nvPr>
        </p:nvGraphicFramePr>
        <p:xfrm>
          <a:off x="468548" y="1417638"/>
          <a:ext cx="8599251" cy="5151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6" name="Picture 5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7" name="Rectangle 6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9587A3F-6CC2-4279-93FD-12A107CF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79202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44562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Control Techniques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42F03B2C-AE01-436E-8343-C86300FCA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426211"/>
              </p:ext>
            </p:extLst>
          </p:nvPr>
        </p:nvGraphicFramePr>
        <p:xfrm>
          <a:off x="609600" y="1059264"/>
          <a:ext cx="8534400" cy="5570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034E029-339E-412F-8CF1-29E8DAAC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44562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Control Techniques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0B3521F-F362-42F0-A183-19CA52A54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818113"/>
              </p:ext>
            </p:extLst>
          </p:nvPr>
        </p:nvGraphicFramePr>
        <p:xfrm>
          <a:off x="609600" y="1059264"/>
          <a:ext cx="8534400" cy="5570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5F409B3-C3AE-4252-9CCB-368FE735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220016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94456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b="1" dirty="0">
                <a:solidFill>
                  <a:prstClr val="black"/>
                </a:solidFill>
              </a:rPr>
              <a:t>Control Techniques Limitation for IT 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5A30466E-2102-4F45-B873-69C7F6EBD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426636"/>
              </p:ext>
            </p:extLst>
          </p:nvPr>
        </p:nvGraphicFramePr>
        <p:xfrm>
          <a:off x="609600" y="1180330"/>
          <a:ext cx="8229600" cy="4906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913BA27-B9CA-4219-9E02-1984FC99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 </a:t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prstClr val="black"/>
                </a:solidFill>
              </a:rPr>
              <a:t>limitation for IT 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F475D44A-BCF6-4DD8-B6E2-8240B15FF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833066"/>
              </p:ext>
            </p:extLst>
          </p:nvPr>
        </p:nvGraphicFramePr>
        <p:xfrm>
          <a:off x="685800" y="1447800"/>
          <a:ext cx="8229600" cy="4906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C7C6CFB-9E7C-4AE8-936A-E0840318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331330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 </a:t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prstClr val="black"/>
                </a:solidFill>
              </a:rPr>
              <a:t>limitation for IT 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C23B2BB3-20C1-4809-9742-42113BB41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304363"/>
              </p:ext>
            </p:extLst>
          </p:nvPr>
        </p:nvGraphicFramePr>
        <p:xfrm>
          <a:off x="685800" y="1447800"/>
          <a:ext cx="8229600" cy="4906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59FE9A6-034D-4E4A-9B45-E5ADEEEC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64079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Control Techniques </a:t>
            </a:r>
            <a:br>
              <a:rPr lang="en-US" altLang="en-US" b="1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prstClr val="black"/>
                </a:solidFill>
              </a:rPr>
              <a:t>limitation for IT control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8E8B391-ED9A-40A7-907D-A47819165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579109"/>
              </p:ext>
            </p:extLst>
          </p:nvPr>
        </p:nvGraphicFramePr>
        <p:xfrm>
          <a:off x="685800" y="1447800"/>
          <a:ext cx="8229600" cy="4906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731B9DD-3FB3-413D-A890-E8E2F242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353290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Trial Questions</a:t>
            </a:r>
            <a:r>
              <a:rPr lang="en-US" dirty="0">
                <a:solidFill>
                  <a:schemeClr val="tx2"/>
                </a:solidFill>
              </a:rPr>
              <a:t/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14" y="1242462"/>
            <a:ext cx="8229600" cy="4906962"/>
          </a:xfrm>
        </p:spPr>
        <p:txBody>
          <a:bodyPr>
            <a:normAutofit fontScale="92500"/>
          </a:bodyPr>
          <a:lstStyle/>
          <a:p>
            <a:pPr marL="514350" lvl="0" indent="-51435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prstClr val="black"/>
                </a:solidFill>
              </a:rPr>
              <a:t>“Control is a fundamental management function that ensures work accomplishment according to plans." Analyse this statement and outline the various steps in control process.</a:t>
            </a:r>
          </a:p>
          <a:p>
            <a:pPr marL="514350" lvl="0" indent="-51435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prstClr val="black"/>
                </a:solidFill>
              </a:rPr>
              <a:t>Explain the importance of control in a business organisation. What are the requirements of an effective control system?</a:t>
            </a:r>
          </a:p>
          <a:p>
            <a:pPr marL="514350" lvl="0" indent="-51435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prstClr val="black"/>
                </a:solidFill>
              </a:rPr>
              <a:t>In what way are planning and control related to each other? Explain clearly the essential steps in control process.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" y="0"/>
            <a:ext cx="9067800" cy="6858000"/>
            <a:chOff x="76200" y="0"/>
            <a:chExt cx="9067800" cy="6858000"/>
          </a:xfrm>
        </p:grpSpPr>
        <p:pic>
          <p:nvPicPr>
            <p:cNvPr id="5" name="Picture 4" descr="C:\Users\AUGUSTINE\Desktop\logo-UPSA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5200" y="0"/>
              <a:ext cx="1828800" cy="678264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6200" y="0"/>
              <a:ext cx="152400" cy="6858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0"/>
              <a:ext cx="152400" cy="6858000"/>
            </a:xfrm>
            <a:prstGeom prst="rect">
              <a:avLst/>
            </a:prstGeom>
            <a:solidFill>
              <a:srgbClr val="D59B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9F5C524-0784-4835-9F24-640EEB5F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SERVICE EXCELLENCE</a:t>
            </a:r>
          </a:p>
        </p:txBody>
      </p:sp>
    </p:spTree>
    <p:extLst>
      <p:ext uri="{BB962C8B-B14F-4D97-AF65-F5344CB8AC3E}">
        <p14:creationId xmlns:p14="http://schemas.microsoft.com/office/powerpoint/2010/main" val="356824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14076</TotalTime>
  <Words>2955</Words>
  <Application>Microsoft Office PowerPoint</Application>
  <PresentationFormat>On-screen Show (4:3)</PresentationFormat>
  <Paragraphs>259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Office Theme</vt:lpstr>
      <vt:lpstr>2_Office Theme</vt:lpstr>
      <vt:lpstr>PowerPoint Presentation</vt:lpstr>
      <vt:lpstr>Control</vt:lpstr>
      <vt:lpstr> Control </vt:lpstr>
      <vt:lpstr>Control</vt:lpstr>
      <vt:lpstr>Control</vt:lpstr>
      <vt:lpstr>Control</vt:lpstr>
      <vt:lpstr>Control</vt:lpstr>
      <vt:lpstr> Control </vt:lpstr>
      <vt:lpstr>Control Process </vt:lpstr>
      <vt:lpstr>Control Process</vt:lpstr>
      <vt:lpstr>Control Process </vt:lpstr>
      <vt:lpstr>Control Process</vt:lpstr>
      <vt:lpstr>Types of Control</vt:lpstr>
      <vt:lpstr>Types of Control</vt:lpstr>
      <vt:lpstr>Types of Control </vt:lpstr>
      <vt:lpstr>Types of Control </vt:lpstr>
      <vt:lpstr>Types of Control </vt:lpstr>
      <vt:lpstr> Characteristics of Effective Control Systems </vt:lpstr>
      <vt:lpstr> Characteristics of Effective Control Systems </vt:lpstr>
      <vt:lpstr> Characteristics of Effective Control Systems </vt:lpstr>
      <vt:lpstr> Characteristics of Effective Control Systems </vt:lpstr>
      <vt:lpstr>Control Techniques</vt:lpstr>
      <vt:lpstr>Control Techniques</vt:lpstr>
      <vt:lpstr>Control Techniques</vt:lpstr>
      <vt:lpstr>Control Techniques</vt:lpstr>
      <vt:lpstr>Control Techniques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Techniques</vt:lpstr>
      <vt:lpstr>Control Techniques</vt:lpstr>
      <vt:lpstr>Control Techniques</vt:lpstr>
      <vt:lpstr>Control Techniques </vt:lpstr>
      <vt:lpstr>Control Techniques </vt:lpstr>
      <vt:lpstr>Control Techniques Limitation for IT control </vt:lpstr>
      <vt:lpstr>Control Techniques  limitation for IT control </vt:lpstr>
      <vt:lpstr>Control Techniques  limitation for IT control </vt:lpstr>
      <vt:lpstr>Control Techniques  limitation for IT control </vt:lpstr>
      <vt:lpstr>PowerPoint Presentation</vt:lpstr>
      <vt:lpstr>Trial Questions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Management</dc:title>
  <dc:creator>Kingsley Anagba</dc:creator>
  <cp:lastModifiedBy>HECTOR</cp:lastModifiedBy>
  <cp:revision>138</cp:revision>
  <dcterms:created xsi:type="dcterms:W3CDTF">2017-02-09T02:05:48Z</dcterms:created>
  <dcterms:modified xsi:type="dcterms:W3CDTF">2026-03-26T13:20:54Z</dcterms:modified>
</cp:coreProperties>
</file>