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27"/>
  </p:notesMasterIdLst>
  <p:sldIdLst>
    <p:sldId id="281" r:id="rId2"/>
    <p:sldId id="283"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46" d="100"/>
          <a:sy n="46" d="100"/>
        </p:scale>
        <p:origin x="1420"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712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6525884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92850284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6277732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7/12/2026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extLst>
      <p:ext uri="{BB962C8B-B14F-4D97-AF65-F5344CB8AC3E}">
        <p14:creationId xmlns:p14="http://schemas.microsoft.com/office/powerpoint/2010/main" val="286815099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2446257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06637090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1135075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7/12/2026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29795281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10249598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25142888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75088361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9337202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5606589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6049492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extLst>
      <p:ext uri="{BB962C8B-B14F-4D97-AF65-F5344CB8AC3E}">
        <p14:creationId xmlns:p14="http://schemas.microsoft.com/office/powerpoint/2010/main" val="342336518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44512085"/>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8492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7/12/2026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33248635"/>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8545" y="845128"/>
            <a:ext cx="11546353" cy="5846618"/>
          </a:xfrm>
        </p:spPr>
        <p:txBody>
          <a:bodyPr/>
          <a:lstStyle/>
          <a:p>
            <a:pPr algn="ctr">
              <a:lnSpc>
                <a:spcPct val="150000"/>
              </a:lnSpc>
            </a:pPr>
            <a:r>
              <a:rPr lang="en-GB" sz="1400" b="1" dirty="0" smtClean="0">
                <a:solidFill>
                  <a:schemeClr val="tx2"/>
                </a:solidFill>
                <a:latin typeface="Times New Roman" panose="02020603050405020304" pitchFamily="18" charset="0"/>
                <a:cs typeface="Times New Roman" panose="02020603050405020304" pitchFamily="18" charset="0"/>
              </a:rPr>
              <a:t>UNIVERSITY OF PROFESSIONAL STUDIES, ACCRA</a:t>
            </a:r>
            <a:br>
              <a:rPr lang="en-GB" sz="1400" b="1" dirty="0" smtClean="0">
                <a:solidFill>
                  <a:schemeClr val="tx2"/>
                </a:solidFill>
                <a:latin typeface="Times New Roman" panose="02020603050405020304" pitchFamily="18" charset="0"/>
                <a:cs typeface="Times New Roman" panose="02020603050405020304" pitchFamily="18" charset="0"/>
              </a:rPr>
            </a:br>
            <a:r>
              <a:rPr lang="en-GB" sz="1400" b="1" dirty="0" smtClean="0">
                <a:solidFill>
                  <a:schemeClr val="tx2"/>
                </a:solidFill>
                <a:latin typeface="Times New Roman" panose="02020603050405020304" pitchFamily="18" charset="0"/>
                <a:cs typeface="Times New Roman" panose="02020603050405020304" pitchFamily="18" charset="0"/>
              </a:rPr>
              <a:t>PROGRAMME</a:t>
            </a:r>
            <a:r>
              <a:rPr lang="en-GB" sz="1400" b="1" dirty="0">
                <a:solidFill>
                  <a:schemeClr val="tx2"/>
                </a:solidFill>
                <a:latin typeface="Times New Roman" panose="02020603050405020304" pitchFamily="18" charset="0"/>
                <a:cs typeface="Times New Roman" panose="02020603050405020304" pitchFamily="18" charset="0"/>
              </a:rPr>
              <a:t>: BSc Information Technology</a:t>
            </a:r>
            <a:r>
              <a:rPr lang="en-US" sz="1400" dirty="0">
                <a:solidFill>
                  <a:schemeClr val="tx2"/>
                </a:solidFill>
                <a:latin typeface="Times New Roman" panose="02020603050405020304" pitchFamily="18" charset="0"/>
                <a:cs typeface="Times New Roman" panose="02020603050405020304" pitchFamily="18" charset="0"/>
              </a:rPr>
              <a:t/>
            </a:r>
            <a:br>
              <a:rPr lang="en-US" sz="1400" dirty="0">
                <a:solidFill>
                  <a:schemeClr val="tx2"/>
                </a:solidFill>
                <a:latin typeface="Times New Roman" panose="02020603050405020304" pitchFamily="18" charset="0"/>
                <a:cs typeface="Times New Roman" panose="02020603050405020304" pitchFamily="18" charset="0"/>
              </a:rPr>
            </a:br>
            <a:r>
              <a:rPr lang="en-GB" sz="1400" b="1" dirty="0">
                <a:solidFill>
                  <a:schemeClr val="tx2"/>
                </a:solidFill>
                <a:latin typeface="Times New Roman" panose="02020603050405020304" pitchFamily="18" charset="0"/>
                <a:cs typeface="Times New Roman" panose="02020603050405020304" pitchFamily="18" charset="0"/>
              </a:rPr>
              <a:t>COURSE: Introduction to Management</a:t>
            </a:r>
            <a:r>
              <a:rPr lang="en-US" sz="1400" dirty="0">
                <a:solidFill>
                  <a:schemeClr val="tx2"/>
                </a:solidFill>
                <a:latin typeface="Times New Roman" panose="02020603050405020304" pitchFamily="18" charset="0"/>
                <a:cs typeface="Times New Roman" panose="02020603050405020304" pitchFamily="18" charset="0"/>
              </a:rPr>
              <a:t/>
            </a:r>
            <a:br>
              <a:rPr lang="en-US" sz="1400" dirty="0">
                <a:solidFill>
                  <a:schemeClr val="tx2"/>
                </a:solidFill>
                <a:latin typeface="Times New Roman" panose="02020603050405020304" pitchFamily="18" charset="0"/>
                <a:cs typeface="Times New Roman" panose="02020603050405020304" pitchFamily="18" charset="0"/>
              </a:rPr>
            </a:br>
            <a:r>
              <a:rPr lang="en-GB" sz="1400" b="1" dirty="0">
                <a:solidFill>
                  <a:schemeClr val="tx2"/>
                </a:solidFill>
                <a:latin typeface="Times New Roman" panose="02020603050405020304" pitchFamily="18" charset="0"/>
                <a:cs typeface="Times New Roman" panose="02020603050405020304" pitchFamily="18" charset="0"/>
              </a:rPr>
              <a:t>COURSE CODE: BCPC 108</a:t>
            </a:r>
            <a:r>
              <a:rPr lang="en-US" sz="1400" dirty="0">
                <a:solidFill>
                  <a:schemeClr val="tx2"/>
                </a:solidFill>
                <a:latin typeface="Times New Roman" panose="02020603050405020304" pitchFamily="18" charset="0"/>
                <a:cs typeface="Times New Roman" panose="02020603050405020304" pitchFamily="18" charset="0"/>
              </a:rPr>
              <a:t/>
            </a:r>
            <a:br>
              <a:rPr lang="en-US" sz="1400" dirty="0">
                <a:solidFill>
                  <a:schemeClr val="tx2"/>
                </a:solidFill>
                <a:latin typeface="Times New Roman" panose="02020603050405020304" pitchFamily="18" charset="0"/>
                <a:cs typeface="Times New Roman" panose="02020603050405020304" pitchFamily="18" charset="0"/>
              </a:rPr>
            </a:br>
            <a:r>
              <a:rPr lang="en-GB" sz="1400" b="1" dirty="0">
                <a:solidFill>
                  <a:schemeClr val="tx2"/>
                </a:solidFill>
                <a:latin typeface="Times New Roman" panose="02020603050405020304" pitchFamily="18" charset="0"/>
                <a:cs typeface="Times New Roman" panose="02020603050405020304" pitchFamily="18" charset="0"/>
              </a:rPr>
              <a:t>CLASS: IT 1 (GROUP 7)</a:t>
            </a:r>
            <a:r>
              <a:rPr lang="en-US" sz="1400" dirty="0">
                <a:solidFill>
                  <a:schemeClr val="tx2"/>
                </a:solidFill>
                <a:latin typeface="Times New Roman" panose="02020603050405020304" pitchFamily="18" charset="0"/>
                <a:cs typeface="Times New Roman" panose="02020603050405020304" pitchFamily="18" charset="0"/>
              </a:rPr>
              <a:t/>
            </a:r>
            <a:br>
              <a:rPr lang="en-US" sz="1400" dirty="0">
                <a:solidFill>
                  <a:schemeClr val="tx2"/>
                </a:solidFill>
                <a:latin typeface="Times New Roman" panose="02020603050405020304" pitchFamily="18" charset="0"/>
                <a:cs typeface="Times New Roman" panose="02020603050405020304" pitchFamily="18" charset="0"/>
              </a:rPr>
            </a:br>
            <a:r>
              <a:rPr lang="en-GB" sz="1400" b="1" dirty="0">
                <a:solidFill>
                  <a:schemeClr val="tx2"/>
                </a:solidFill>
                <a:latin typeface="Times New Roman" panose="02020603050405020304" pitchFamily="18" charset="0"/>
                <a:cs typeface="Times New Roman" panose="02020603050405020304" pitchFamily="18" charset="0"/>
              </a:rPr>
              <a:t>SESSION: Weekend</a:t>
            </a:r>
            <a:r>
              <a:rPr lang="en-US" sz="1400" dirty="0">
                <a:solidFill>
                  <a:schemeClr val="tx2"/>
                </a:solidFill>
                <a:latin typeface="Times New Roman" panose="02020603050405020304" pitchFamily="18" charset="0"/>
                <a:cs typeface="Times New Roman" panose="02020603050405020304" pitchFamily="18" charset="0"/>
              </a:rPr>
              <a:t/>
            </a:r>
            <a:br>
              <a:rPr lang="en-US" sz="1400" dirty="0">
                <a:solidFill>
                  <a:schemeClr val="tx2"/>
                </a:solidFill>
                <a:latin typeface="Times New Roman" panose="02020603050405020304" pitchFamily="18" charset="0"/>
                <a:cs typeface="Times New Roman" panose="02020603050405020304" pitchFamily="18" charset="0"/>
              </a:rPr>
            </a:br>
            <a:r>
              <a:rPr lang="en-GB" sz="1400" b="1" dirty="0">
                <a:solidFill>
                  <a:schemeClr val="tx2"/>
                </a:solidFill>
                <a:latin typeface="Times New Roman" panose="02020603050405020304" pitchFamily="18" charset="0"/>
                <a:cs typeface="Times New Roman" panose="02020603050405020304" pitchFamily="18" charset="0"/>
              </a:rPr>
              <a:t>NAME OF LECTURER: ABDUL-JAIL IBRAHIM</a:t>
            </a:r>
            <a:r>
              <a:rPr lang="en-US" sz="1400" dirty="0">
                <a:solidFill>
                  <a:schemeClr val="tx2"/>
                </a:solidFill>
                <a:latin typeface="Times New Roman" panose="02020603050405020304" pitchFamily="18" charset="0"/>
                <a:cs typeface="Times New Roman" panose="02020603050405020304" pitchFamily="18" charset="0"/>
              </a:rPr>
              <a:t/>
            </a:r>
            <a:br>
              <a:rPr lang="en-US" sz="1400" dirty="0">
                <a:solidFill>
                  <a:schemeClr val="tx2"/>
                </a:solidFill>
                <a:latin typeface="Times New Roman" panose="02020603050405020304" pitchFamily="18" charset="0"/>
                <a:cs typeface="Times New Roman" panose="02020603050405020304" pitchFamily="18" charset="0"/>
              </a:rPr>
            </a:br>
            <a:r>
              <a:rPr lang="en-GB" sz="1400" dirty="0">
                <a:solidFill>
                  <a:schemeClr val="tx2"/>
                </a:solidFill>
                <a:latin typeface="Times New Roman" panose="02020603050405020304" pitchFamily="18" charset="0"/>
                <a:cs typeface="Times New Roman" panose="02020603050405020304" pitchFamily="18" charset="0"/>
              </a:rPr>
              <a:t>NAMES OF </a:t>
            </a:r>
            <a:r>
              <a:rPr lang="en-GB" sz="1400" dirty="0" smtClean="0">
                <a:solidFill>
                  <a:schemeClr val="tx2"/>
                </a:solidFill>
                <a:latin typeface="Times New Roman" panose="02020603050405020304" pitchFamily="18" charset="0"/>
                <a:cs typeface="Times New Roman" panose="02020603050405020304" pitchFamily="18" charset="0"/>
              </a:rPr>
              <a:t>MEMBERS</a:t>
            </a:r>
            <a:br>
              <a:rPr lang="en-GB" sz="1400" dirty="0" smtClean="0">
                <a:solidFill>
                  <a:schemeClr val="tx2"/>
                </a:solidFill>
                <a:latin typeface="Times New Roman" panose="02020603050405020304" pitchFamily="18" charset="0"/>
                <a:cs typeface="Times New Roman" panose="02020603050405020304" pitchFamily="18" charset="0"/>
              </a:rPr>
            </a:br>
            <a:r>
              <a:rPr lang="en-GB" sz="1400" i="1" dirty="0" smtClean="0">
                <a:solidFill>
                  <a:schemeClr val="tx2"/>
                </a:solidFill>
                <a:latin typeface="Times New Roman" panose="02020603050405020304" pitchFamily="18" charset="0"/>
                <a:cs typeface="Times New Roman" panose="02020603050405020304" pitchFamily="18" charset="0"/>
              </a:rPr>
              <a:t>ROONEY ADJETEY          10342006</a:t>
            </a:r>
            <a:br>
              <a:rPr lang="en-GB" sz="1400" i="1" dirty="0" smtClean="0">
                <a:solidFill>
                  <a:schemeClr val="tx2"/>
                </a:solidFill>
                <a:latin typeface="Times New Roman" panose="02020603050405020304" pitchFamily="18" charset="0"/>
                <a:cs typeface="Times New Roman" panose="02020603050405020304" pitchFamily="18" charset="0"/>
              </a:rPr>
            </a:br>
            <a:r>
              <a:rPr lang="en-GB" sz="1400" i="1" dirty="0" smtClean="0">
                <a:solidFill>
                  <a:schemeClr val="tx2"/>
                </a:solidFill>
                <a:latin typeface="Times New Roman" panose="02020603050405020304" pitchFamily="18" charset="0"/>
                <a:cs typeface="Times New Roman" panose="02020603050405020304" pitchFamily="18" charset="0"/>
              </a:rPr>
              <a:t>PRINCE MARTEY ARDEN 10348709</a:t>
            </a:r>
            <a:br>
              <a:rPr lang="en-GB" sz="1400" i="1" dirty="0" smtClean="0">
                <a:solidFill>
                  <a:schemeClr val="tx2"/>
                </a:solidFill>
                <a:latin typeface="Times New Roman" panose="02020603050405020304" pitchFamily="18" charset="0"/>
                <a:cs typeface="Times New Roman" panose="02020603050405020304" pitchFamily="18" charset="0"/>
              </a:rPr>
            </a:br>
            <a:r>
              <a:rPr lang="en-GB" sz="1400" i="1" dirty="0" smtClean="0">
                <a:solidFill>
                  <a:schemeClr val="tx2"/>
                </a:solidFill>
                <a:latin typeface="Times New Roman" panose="02020603050405020304" pitchFamily="18" charset="0"/>
                <a:cs typeface="Times New Roman" panose="02020603050405020304" pitchFamily="18" charset="0"/>
              </a:rPr>
              <a:t>KWAME TABIRI OBIRI AMOAKO     10341572</a:t>
            </a:r>
            <a:br>
              <a:rPr lang="en-GB" sz="1400" i="1" dirty="0" smtClean="0">
                <a:solidFill>
                  <a:schemeClr val="tx2"/>
                </a:solidFill>
                <a:latin typeface="Times New Roman" panose="02020603050405020304" pitchFamily="18" charset="0"/>
                <a:cs typeface="Times New Roman" panose="02020603050405020304" pitchFamily="18" charset="0"/>
              </a:rPr>
            </a:br>
            <a:r>
              <a:rPr lang="en-GB" sz="1400" i="1" dirty="0" smtClean="0">
                <a:solidFill>
                  <a:schemeClr val="tx2"/>
                </a:solidFill>
                <a:latin typeface="Times New Roman" panose="02020603050405020304" pitchFamily="18" charset="0"/>
                <a:cs typeface="Times New Roman" panose="02020603050405020304" pitchFamily="18" charset="0"/>
              </a:rPr>
              <a:t>JOSEPH MANAWUBA   10337576</a:t>
            </a:r>
            <a:br>
              <a:rPr lang="en-GB" sz="1400" i="1" dirty="0" smtClean="0">
                <a:solidFill>
                  <a:schemeClr val="tx2"/>
                </a:solidFill>
                <a:latin typeface="Times New Roman" panose="02020603050405020304" pitchFamily="18" charset="0"/>
                <a:cs typeface="Times New Roman" panose="02020603050405020304" pitchFamily="18" charset="0"/>
              </a:rPr>
            </a:br>
            <a:r>
              <a:rPr lang="en-GB" sz="1400" i="1" dirty="0" smtClean="0">
                <a:solidFill>
                  <a:schemeClr val="tx2"/>
                </a:solidFill>
                <a:latin typeface="Times New Roman" panose="02020603050405020304" pitchFamily="18" charset="0"/>
                <a:cs typeface="Times New Roman" panose="02020603050405020304" pitchFamily="18" charset="0"/>
              </a:rPr>
              <a:t>AMENYO JOHN YAW    10342213</a:t>
            </a:r>
            <a:br>
              <a:rPr lang="en-GB" sz="1400" i="1" dirty="0" smtClean="0">
                <a:solidFill>
                  <a:schemeClr val="tx2"/>
                </a:solidFill>
                <a:latin typeface="Times New Roman" panose="02020603050405020304" pitchFamily="18" charset="0"/>
                <a:cs typeface="Times New Roman" panose="02020603050405020304" pitchFamily="18" charset="0"/>
              </a:rPr>
            </a:br>
            <a:r>
              <a:rPr lang="en-GB" sz="1400" i="1" dirty="0" smtClean="0">
                <a:solidFill>
                  <a:schemeClr val="tx2"/>
                </a:solidFill>
                <a:latin typeface="Times New Roman" panose="02020603050405020304" pitchFamily="18" charset="0"/>
                <a:cs typeface="Times New Roman" panose="02020603050405020304" pitchFamily="18" charset="0"/>
              </a:rPr>
              <a:t>ADJETEY ROONEY ADJEI    10343006</a:t>
            </a:r>
            <a:br>
              <a:rPr lang="en-GB" sz="1400" i="1" dirty="0" smtClean="0">
                <a:solidFill>
                  <a:schemeClr val="tx2"/>
                </a:solidFill>
                <a:latin typeface="Times New Roman" panose="02020603050405020304" pitchFamily="18" charset="0"/>
                <a:cs typeface="Times New Roman" panose="02020603050405020304" pitchFamily="18" charset="0"/>
              </a:rPr>
            </a:br>
            <a:r>
              <a:rPr lang="en-GB" sz="1400" i="1" dirty="0" smtClean="0">
                <a:solidFill>
                  <a:schemeClr val="tx2"/>
                </a:solidFill>
                <a:latin typeface="Times New Roman" panose="02020603050405020304" pitchFamily="18" charset="0"/>
                <a:cs typeface="Times New Roman" panose="02020603050405020304" pitchFamily="18" charset="0"/>
              </a:rPr>
              <a:t>AARON ADAMS ANKRAH   10341565</a:t>
            </a:r>
            <a:r>
              <a:rPr lang="en-GB" sz="1400" dirty="0" smtClean="0">
                <a:solidFill>
                  <a:schemeClr val="tx2"/>
                </a:solidFill>
                <a:latin typeface="Times New Roman" panose="02020603050405020304" pitchFamily="18" charset="0"/>
                <a:cs typeface="Times New Roman" panose="02020603050405020304" pitchFamily="18" charset="0"/>
              </a:rPr>
              <a:t/>
            </a:r>
            <a:br>
              <a:rPr lang="en-GB" sz="1400" dirty="0" smtClean="0">
                <a:solidFill>
                  <a:schemeClr val="tx2"/>
                </a:solidFill>
                <a:latin typeface="Times New Roman" panose="02020603050405020304" pitchFamily="18" charset="0"/>
                <a:cs typeface="Times New Roman" panose="02020603050405020304" pitchFamily="18" charset="0"/>
              </a:rPr>
            </a:br>
            <a:endParaRPr lang="en-US" sz="1400" dirty="0">
              <a:solidFill>
                <a:schemeClr val="tx2"/>
              </a:solidFill>
              <a:latin typeface="Times New Roman" panose="02020603050405020304" pitchFamily="18" charset="0"/>
              <a:cs typeface="Times New Roman" panose="02020603050405020304" pitchFamily="18" charset="0"/>
            </a:endParaRPr>
          </a:p>
        </p:txBody>
      </p:sp>
      <p:pic>
        <p:nvPicPr>
          <p:cNvPr id="4" name="Picture 3" descr="C:\Users\madam\AppData\Local\Temp\UPSA NEW LOGO.png"/>
          <p:cNvPicPr/>
          <p:nvPr/>
        </p:nvPicPr>
        <p:blipFill>
          <a:blip r:embed="rId2" cstate="print"/>
          <a:srcRect/>
          <a:stretch>
            <a:fillRect/>
          </a:stretch>
        </p:blipFill>
        <p:spPr bwMode="auto">
          <a:xfrm>
            <a:off x="6433167" y="404603"/>
            <a:ext cx="5251731" cy="987227"/>
          </a:xfrm>
          <a:prstGeom prst="rect">
            <a:avLst/>
          </a:prstGeom>
          <a:noFill/>
          <a:ln w="9525">
            <a:noFill/>
            <a:miter lim="800000"/>
            <a:headEnd/>
            <a:tailEnd/>
          </a:ln>
        </p:spPr>
      </p:pic>
    </p:spTree>
    <p:extLst>
      <p:ext uri="{BB962C8B-B14F-4D97-AF65-F5344CB8AC3E}">
        <p14:creationId xmlns:p14="http://schemas.microsoft.com/office/powerpoint/2010/main" val="1126361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8036" y="1565564"/>
            <a:ext cx="10958946" cy="2867891"/>
          </a:xfrm>
        </p:spPr>
        <p:txBody>
          <a:bodyPr>
            <a:normAutofit/>
          </a:bodyPr>
          <a:lstStyle/>
          <a:p>
            <a:r>
              <a:rPr lang="en-US" sz="27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WEEK 7 . MANAGEMENT</a:t>
            </a:r>
            <a:r>
              <a:rPr lang="en-US" sz="24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
            </a:r>
            <a:br>
              <a:rPr lang="en-US" sz="2400" dirty="0" smtClean="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4400" dirty="0" smtClean="0">
                <a:latin typeface="Calibri" panose="020F0502020204030204" pitchFamily="34" charset="0"/>
                <a:ea typeface="Calibri" panose="020F0502020204030204" pitchFamily="34" charset="0"/>
                <a:cs typeface="Calibri" panose="020F0502020204030204" pitchFamily="34" charset="0"/>
              </a:rPr>
              <a:t>Organizing</a:t>
            </a:r>
            <a:r>
              <a:rPr lang="en-US" sz="44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
            </a:r>
            <a:br>
              <a:rPr lang="en-US" sz="4400" dirty="0" smtClean="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4400" dirty="0" smtClean="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A simple, student-friendly guide to how companies structure their work</a:t>
            </a:r>
            <a:r>
              <a:rPr lang="en-US" sz="4400" dirty="0" smtClean="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en-US" sz="44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descr="C:\Users\madam\AppData\Local\Temp\UPSA NEW LOGO.png"/>
          <p:cNvPicPr/>
          <p:nvPr/>
        </p:nvPicPr>
        <p:blipFill>
          <a:blip r:embed="rId2" cstate="print"/>
          <a:srcRect/>
          <a:stretch>
            <a:fillRect/>
          </a:stretch>
        </p:blipFill>
        <p:spPr bwMode="auto">
          <a:xfrm>
            <a:off x="6262255" y="124691"/>
            <a:ext cx="5458690" cy="1440873"/>
          </a:xfrm>
          <a:prstGeom prst="rect">
            <a:avLst/>
          </a:prstGeom>
          <a:noFill/>
          <a:ln w="9525">
            <a:noFill/>
            <a:miter lim="800000"/>
            <a:headEnd/>
            <a:tailEnd/>
          </a:ln>
        </p:spPr>
      </p:pic>
    </p:spTree>
    <p:extLst>
      <p:ext uri="{BB962C8B-B14F-4D97-AF65-F5344CB8AC3E}">
        <p14:creationId xmlns:p14="http://schemas.microsoft.com/office/powerpoint/2010/main" val="4196179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594360"/>
            <a:ext cx="10972800" cy="68580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What We'll Cover</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Shape 3"/>
          <p:cNvSpPr/>
          <p:nvPr/>
        </p:nvSpPr>
        <p:spPr>
          <a:xfrm>
            <a:off x="640080" y="1645920"/>
            <a:ext cx="502920" cy="502920"/>
          </a:xfrm>
          <a:prstGeom prst="ellipse">
            <a:avLst/>
          </a:prstGeom>
          <a:solidFill>
            <a:srgbClr val="1C7293"/>
          </a:solidFill>
          <a:ln/>
        </p:spPr>
      </p:sp>
      <p:sp>
        <p:nvSpPr>
          <p:cNvPr id="6" name="Text 4"/>
          <p:cNvSpPr/>
          <p:nvPr/>
        </p:nvSpPr>
        <p:spPr>
          <a:xfrm>
            <a:off x="640080" y="1645920"/>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371600" y="1600200"/>
            <a:ext cx="9144000" cy="548640"/>
          </a:xfrm>
          <a:prstGeom prst="rect">
            <a:avLst/>
          </a:prstGeom>
          <a:noFill/>
          <a:ln/>
        </p:spPr>
        <p:txBody>
          <a:bodyPr wrap="square" rtlCol="0" anchor="ctr"/>
          <a:lstStyle/>
          <a:p>
            <a:pPr marL="0" indent="0">
              <a:buNone/>
            </a:pPr>
            <a:r>
              <a:rPr lang="en-US" sz="1900" b="1" dirty="0">
                <a:solidFill>
                  <a:srgbClr val="222222"/>
                </a:solidFill>
                <a:latin typeface="Calibri" pitchFamily="34" charset="0"/>
                <a:ea typeface="Calibri" pitchFamily="34" charset="-122"/>
                <a:cs typeface="Calibri" pitchFamily="34" charset="-120"/>
              </a:rPr>
              <a:t>Organizational Chart</a:t>
            </a:r>
            <a:endParaRPr lang="en-US" sz="1900" dirty="0"/>
          </a:p>
        </p:txBody>
      </p:sp>
      <p:sp>
        <p:nvSpPr>
          <p:cNvPr id="8" name="Shape 6"/>
          <p:cNvSpPr/>
          <p:nvPr/>
        </p:nvSpPr>
        <p:spPr>
          <a:xfrm>
            <a:off x="640080" y="2542032"/>
            <a:ext cx="502920" cy="502920"/>
          </a:xfrm>
          <a:prstGeom prst="ellipse">
            <a:avLst/>
          </a:prstGeom>
          <a:solidFill>
            <a:srgbClr val="1C7293"/>
          </a:solidFill>
          <a:ln/>
        </p:spPr>
      </p:sp>
      <p:sp>
        <p:nvSpPr>
          <p:cNvPr id="9" name="Text 7"/>
          <p:cNvSpPr/>
          <p:nvPr/>
        </p:nvSpPr>
        <p:spPr>
          <a:xfrm>
            <a:off x="640080" y="2542032"/>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p:nvPr/>
        </p:nvSpPr>
        <p:spPr>
          <a:xfrm>
            <a:off x="1371600" y="2496312"/>
            <a:ext cx="9144000" cy="548640"/>
          </a:xfrm>
          <a:prstGeom prst="rect">
            <a:avLst/>
          </a:prstGeom>
          <a:noFill/>
          <a:ln/>
        </p:spPr>
        <p:txBody>
          <a:bodyPr wrap="square" rtlCol="0" anchor="ctr"/>
          <a:lstStyle/>
          <a:p>
            <a:pPr marL="0" indent="0">
              <a:buNone/>
            </a:pPr>
            <a:r>
              <a:rPr lang="en-US" sz="1900" b="1" dirty="0">
                <a:solidFill>
                  <a:srgbClr val="222222"/>
                </a:solidFill>
                <a:latin typeface="Calibri" pitchFamily="34" charset="0"/>
                <a:ea typeface="Calibri" pitchFamily="34" charset="-122"/>
                <a:cs typeface="Calibri" pitchFamily="34" charset="-120"/>
              </a:rPr>
              <a:t>Kinds of Organizational Charts</a:t>
            </a:r>
            <a:endParaRPr lang="en-US" sz="1900" dirty="0"/>
          </a:p>
        </p:txBody>
      </p:sp>
      <p:sp>
        <p:nvSpPr>
          <p:cNvPr id="11" name="Shape 9"/>
          <p:cNvSpPr/>
          <p:nvPr/>
        </p:nvSpPr>
        <p:spPr>
          <a:xfrm>
            <a:off x="640080" y="3438144"/>
            <a:ext cx="502920" cy="502920"/>
          </a:xfrm>
          <a:prstGeom prst="ellipse">
            <a:avLst/>
          </a:prstGeom>
          <a:solidFill>
            <a:srgbClr val="1C7293"/>
          </a:solidFill>
          <a:ln/>
        </p:spPr>
      </p:sp>
      <p:sp>
        <p:nvSpPr>
          <p:cNvPr id="12" name="Text 10"/>
          <p:cNvSpPr/>
          <p:nvPr/>
        </p:nvSpPr>
        <p:spPr>
          <a:xfrm>
            <a:off x="640080" y="3438144"/>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3" name="Text 11"/>
          <p:cNvSpPr/>
          <p:nvPr/>
        </p:nvSpPr>
        <p:spPr>
          <a:xfrm>
            <a:off x="1371600" y="3392424"/>
            <a:ext cx="9144000" cy="548640"/>
          </a:xfrm>
          <a:prstGeom prst="rect">
            <a:avLst/>
          </a:prstGeom>
          <a:noFill/>
          <a:ln/>
        </p:spPr>
        <p:txBody>
          <a:bodyPr wrap="square" rtlCol="0" anchor="ctr"/>
          <a:lstStyle/>
          <a:p>
            <a:pPr marL="0" indent="0">
              <a:buNone/>
            </a:pPr>
            <a:r>
              <a:rPr lang="en-US" sz="1900" b="1" dirty="0">
                <a:solidFill>
                  <a:srgbClr val="222222"/>
                </a:solidFill>
                <a:latin typeface="Calibri" pitchFamily="34" charset="0"/>
                <a:ea typeface="Calibri" pitchFamily="34" charset="-122"/>
                <a:cs typeface="Calibri" pitchFamily="34" charset="-120"/>
              </a:rPr>
              <a:t>Span of Management</a:t>
            </a:r>
            <a:endParaRPr lang="en-US" sz="1900" dirty="0"/>
          </a:p>
        </p:txBody>
      </p:sp>
      <p:sp>
        <p:nvSpPr>
          <p:cNvPr id="14" name="Shape 12"/>
          <p:cNvSpPr/>
          <p:nvPr/>
        </p:nvSpPr>
        <p:spPr>
          <a:xfrm>
            <a:off x="640080" y="4334256"/>
            <a:ext cx="502920" cy="502920"/>
          </a:xfrm>
          <a:prstGeom prst="ellipse">
            <a:avLst/>
          </a:prstGeom>
          <a:solidFill>
            <a:srgbClr val="1C7293"/>
          </a:solidFill>
          <a:ln/>
        </p:spPr>
      </p:sp>
      <p:sp>
        <p:nvSpPr>
          <p:cNvPr id="15" name="Text 13"/>
          <p:cNvSpPr/>
          <p:nvPr/>
        </p:nvSpPr>
        <p:spPr>
          <a:xfrm>
            <a:off x="640080" y="4334256"/>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6" name="Text 14"/>
          <p:cNvSpPr/>
          <p:nvPr/>
        </p:nvSpPr>
        <p:spPr>
          <a:xfrm>
            <a:off x="1371600" y="4288536"/>
            <a:ext cx="9144000" cy="548640"/>
          </a:xfrm>
          <a:prstGeom prst="rect">
            <a:avLst/>
          </a:prstGeom>
          <a:noFill/>
          <a:ln/>
        </p:spPr>
        <p:txBody>
          <a:bodyPr wrap="square" rtlCol="0" anchor="ctr"/>
          <a:lstStyle/>
          <a:p>
            <a:pPr marL="0" indent="0">
              <a:buNone/>
            </a:pPr>
            <a:r>
              <a:rPr lang="en-US" sz="1900" b="1" dirty="0">
                <a:solidFill>
                  <a:srgbClr val="222222"/>
                </a:solidFill>
                <a:latin typeface="Calibri" pitchFamily="34" charset="0"/>
                <a:ea typeface="Calibri" pitchFamily="34" charset="-122"/>
                <a:cs typeface="Calibri" pitchFamily="34" charset="-120"/>
              </a:rPr>
              <a:t>Principles of Organizing</a:t>
            </a:r>
            <a:endParaRPr lang="en-US" sz="1900" dirty="0"/>
          </a:p>
        </p:txBody>
      </p:sp>
      <p:sp>
        <p:nvSpPr>
          <p:cNvPr id="17" name="Shape 15"/>
          <p:cNvSpPr/>
          <p:nvPr/>
        </p:nvSpPr>
        <p:spPr>
          <a:xfrm>
            <a:off x="640080" y="5230368"/>
            <a:ext cx="502920" cy="502920"/>
          </a:xfrm>
          <a:prstGeom prst="ellipse">
            <a:avLst/>
          </a:prstGeom>
          <a:solidFill>
            <a:srgbClr val="1C7293"/>
          </a:solidFill>
          <a:ln/>
        </p:spPr>
      </p:sp>
      <p:sp>
        <p:nvSpPr>
          <p:cNvPr id="18" name="Text 16"/>
          <p:cNvSpPr/>
          <p:nvPr/>
        </p:nvSpPr>
        <p:spPr>
          <a:xfrm>
            <a:off x="640080" y="5230368"/>
            <a:ext cx="5029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19" name="Text 17"/>
          <p:cNvSpPr/>
          <p:nvPr/>
        </p:nvSpPr>
        <p:spPr>
          <a:xfrm>
            <a:off x="1371600" y="5184648"/>
            <a:ext cx="9144000" cy="548640"/>
          </a:xfrm>
          <a:prstGeom prst="rect">
            <a:avLst/>
          </a:prstGeom>
          <a:noFill/>
          <a:ln/>
        </p:spPr>
        <p:txBody>
          <a:bodyPr wrap="square" rtlCol="0" anchor="ctr"/>
          <a:lstStyle/>
          <a:p>
            <a:pPr marL="0" indent="0">
              <a:buNone/>
            </a:pPr>
            <a:r>
              <a:rPr lang="en-US" sz="1900" b="1" dirty="0">
                <a:solidFill>
                  <a:srgbClr val="222222"/>
                </a:solidFill>
                <a:latin typeface="Calibri" pitchFamily="34" charset="0"/>
                <a:ea typeface="Calibri" pitchFamily="34" charset="-122"/>
                <a:cs typeface="Calibri" pitchFamily="34" charset="-120"/>
              </a:rPr>
              <a:t>Formal and Informal Organization</a:t>
            </a:r>
            <a:endParaRPr lang="en-US" sz="1900" dirty="0"/>
          </a:p>
        </p:txBody>
      </p:sp>
      <p:pic>
        <p:nvPicPr>
          <p:cNvPr id="20" name="Picture 19" descr="C:\Users\madam\AppData\Local\Temp\UPSA NEW LOGO.png"/>
          <p:cNvPicPr/>
          <p:nvPr/>
        </p:nvPicPr>
        <p:blipFill>
          <a:blip r:embed="rId3" cstate="print"/>
          <a:srcRect/>
          <a:stretch>
            <a:fillRect/>
          </a:stretch>
        </p:blipFill>
        <p:spPr bwMode="auto">
          <a:xfrm>
            <a:off x="6035040" y="320041"/>
            <a:ext cx="5860252" cy="853304"/>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22960" y="2286000"/>
            <a:ext cx="3657600" cy="1371600"/>
          </a:xfrm>
          <a:prstGeom prst="rect">
            <a:avLst/>
          </a:prstGeom>
          <a:noFill/>
          <a:ln/>
        </p:spPr>
        <p:txBody>
          <a:bodyPr wrap="square" rtlCol="0" anchor="ctr"/>
          <a:lstStyle/>
          <a:p>
            <a:pPr marL="0" indent="0">
              <a:buNone/>
            </a:pPr>
            <a:r>
              <a:rPr lang="en-US" sz="7200" b="1" dirty="0">
                <a:solidFill>
                  <a:srgbClr val="3D85A6"/>
                </a:solidFill>
                <a:latin typeface="Cambria" pitchFamily="34" charset="0"/>
                <a:ea typeface="Cambria" pitchFamily="34" charset="-122"/>
                <a:cs typeface="Cambria" pitchFamily="34" charset="-120"/>
              </a:rPr>
              <a:t>01</a:t>
            </a:r>
            <a:endParaRPr lang="en-US" sz="7200" dirty="0"/>
          </a:p>
        </p:txBody>
      </p:sp>
      <p:sp>
        <p:nvSpPr>
          <p:cNvPr id="3" name="Text 1"/>
          <p:cNvSpPr/>
          <p:nvPr/>
        </p:nvSpPr>
        <p:spPr>
          <a:xfrm>
            <a:off x="822960" y="3383280"/>
            <a:ext cx="9601200" cy="109728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Organizational Chart</a:t>
            </a:r>
            <a:endParaRPr lang="en-US" sz="3800" dirty="0"/>
          </a:p>
        </p:txBody>
      </p:sp>
      <p:sp>
        <p:nvSpPr>
          <p:cNvPr id="4" name="Shape 2"/>
          <p:cNvSpPr/>
          <p:nvPr/>
        </p:nvSpPr>
        <p:spPr>
          <a:xfrm>
            <a:off x="0" y="0"/>
            <a:ext cx="164592" cy="6858000"/>
          </a:xfrm>
          <a:prstGeom prst="rect">
            <a:avLst/>
          </a:prstGeom>
          <a:solidFill>
            <a:srgbClr val="1C7293"/>
          </a:solidFill>
          <a:ln/>
        </p:spPr>
      </p:sp>
      <p:pic>
        <p:nvPicPr>
          <p:cNvPr id="5" name="Picture 4" descr="C:\Users\madam\AppData\Local\Temp\UPSA NEW LOGO.png"/>
          <p:cNvPicPr/>
          <p:nvPr/>
        </p:nvPicPr>
        <p:blipFill>
          <a:blip r:embed="rId3" cstate="print"/>
          <a:srcRect/>
          <a:stretch>
            <a:fillRect/>
          </a:stretch>
        </p:blipFill>
        <p:spPr bwMode="auto">
          <a:xfrm>
            <a:off x="5963830" y="469339"/>
            <a:ext cx="5915278" cy="1157160"/>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119744"/>
            <a:ext cx="7315200" cy="969819"/>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ORGANIZATIONAL CHART</a:t>
            </a:r>
            <a:endParaRPr lang="en-US" sz="1200" dirty="0"/>
          </a:p>
        </p:txBody>
      </p:sp>
      <p:sp>
        <p:nvSpPr>
          <p:cNvPr id="3" name="Text 1"/>
          <p:cNvSpPr/>
          <p:nvPr/>
        </p:nvSpPr>
        <p:spPr>
          <a:xfrm>
            <a:off x="548640" y="2784764"/>
            <a:ext cx="10354887" cy="704088"/>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Why Do We Need One?</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Text 3"/>
          <p:cNvSpPr/>
          <p:nvPr/>
        </p:nvSpPr>
        <p:spPr>
          <a:xfrm>
            <a:off x="640080" y="3699164"/>
            <a:ext cx="10748356" cy="2564476"/>
          </a:xfrm>
          <a:prstGeom prst="rect">
            <a:avLst/>
          </a:prstGeom>
          <a:noFill/>
          <a:ln/>
        </p:spPr>
        <p:txBody>
          <a:bodyPr wrap="square" rtlCol="0" anchor="t"/>
          <a:lstStyle/>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As companies grow, they get more departments, sub-units, and people.</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The distance between top executives and lower-level staff increases.</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Interactions between people become more complex.</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A visual map helps everyone understand positions, departments, and how they relate.</a:t>
            </a:r>
            <a:endParaRPr lang="en-US" sz="1600" dirty="0"/>
          </a:p>
        </p:txBody>
      </p:sp>
      <p:pic>
        <p:nvPicPr>
          <p:cNvPr id="6" name="Picture 5" descr="C:\Users\madam\AppData\Local\Temp\UPSA NEW LOGO.png"/>
          <p:cNvPicPr/>
          <p:nvPr/>
        </p:nvPicPr>
        <p:blipFill>
          <a:blip r:embed="rId3" cstate="print"/>
          <a:srcRect/>
          <a:stretch>
            <a:fillRect/>
          </a:stretch>
        </p:blipFill>
        <p:spPr bwMode="auto">
          <a:xfrm>
            <a:off x="6805402" y="320041"/>
            <a:ext cx="5386597" cy="1120341"/>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280160"/>
            <a:ext cx="7315200" cy="630936"/>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ORGANIZATIONAL CHART</a:t>
            </a:r>
            <a:endParaRPr lang="en-US" sz="1200" dirty="0"/>
          </a:p>
        </p:txBody>
      </p:sp>
      <p:sp>
        <p:nvSpPr>
          <p:cNvPr id="3" name="Text 1"/>
          <p:cNvSpPr/>
          <p:nvPr/>
        </p:nvSpPr>
        <p:spPr>
          <a:xfrm>
            <a:off x="548640" y="2048256"/>
            <a:ext cx="10972800" cy="528688"/>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What Is It?</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Text 3"/>
          <p:cNvSpPr/>
          <p:nvPr/>
        </p:nvSpPr>
        <p:spPr>
          <a:xfrm>
            <a:off x="640080" y="1508760"/>
            <a:ext cx="6675120" cy="3931920"/>
          </a:xfrm>
          <a:prstGeom prst="rect">
            <a:avLst/>
          </a:prstGeom>
          <a:noFill/>
          <a:ln/>
        </p:spPr>
        <p:txBody>
          <a:bodyPr wrap="square" rtlCol="0" anchor="ctr"/>
          <a:lstStyle/>
          <a:p>
            <a:pPr marL="342900" indent="-342900">
              <a:spcAft>
                <a:spcPts val="1000"/>
              </a:spcAft>
              <a:buSzPct val="100000"/>
              <a:buChar char="●"/>
            </a:pPr>
            <a:r>
              <a:rPr lang="en-US" sz="1600" dirty="0">
                <a:solidFill>
                  <a:srgbClr val="222222"/>
                </a:solidFill>
                <a:latin typeface="Calibri" pitchFamily="34" charset="0"/>
                <a:ea typeface="Calibri" pitchFamily="34" charset="-122"/>
                <a:cs typeface="Calibri" pitchFamily="34" charset="-120"/>
              </a:rPr>
              <a:t>A visual picture of a company's structure and reporting lines.</a:t>
            </a:r>
            <a:endParaRPr lang="en-US" sz="1600" dirty="0"/>
          </a:p>
          <a:p>
            <a:pPr marL="342900" indent="-342900">
              <a:spcAft>
                <a:spcPts val="1000"/>
              </a:spcAft>
              <a:buSzPct val="100000"/>
              <a:buChar char="●"/>
            </a:pPr>
            <a:r>
              <a:rPr lang="en-US" sz="1600" dirty="0">
                <a:solidFill>
                  <a:srgbClr val="222222"/>
                </a:solidFill>
                <a:latin typeface="Calibri" pitchFamily="34" charset="0"/>
                <a:ea typeface="Calibri" pitchFamily="34" charset="-122"/>
                <a:cs typeface="Calibri" pitchFamily="34" charset="-120"/>
              </a:rPr>
              <a:t>Shows the division of labour — who does what.</a:t>
            </a:r>
            <a:endParaRPr lang="en-US" sz="1600" dirty="0"/>
          </a:p>
          <a:p>
            <a:pPr marL="342900" indent="-342900">
              <a:spcAft>
                <a:spcPts val="1000"/>
              </a:spcAft>
              <a:buSzPct val="100000"/>
              <a:buChar char="●"/>
            </a:pPr>
            <a:r>
              <a:rPr lang="en-US" sz="1600" dirty="0">
                <a:solidFill>
                  <a:srgbClr val="222222"/>
                </a:solidFill>
                <a:latin typeface="Calibri" pitchFamily="34" charset="0"/>
                <a:ea typeface="Calibri" pitchFamily="34" charset="-122"/>
                <a:cs typeface="Calibri" pitchFamily="34" charset="-120"/>
              </a:rPr>
              <a:t>Shows each person's authority, responsibility, and accountability.</a:t>
            </a:r>
            <a:endParaRPr lang="en-US" sz="1600" dirty="0"/>
          </a:p>
          <a:p>
            <a:pPr marL="342900" indent="-342900">
              <a:spcAft>
                <a:spcPts val="1000"/>
              </a:spcAft>
              <a:buSzPct val="100000"/>
              <a:buChar char="●"/>
            </a:pPr>
            <a:r>
              <a:rPr lang="en-US" sz="1600" dirty="0">
                <a:solidFill>
                  <a:srgbClr val="222222"/>
                </a:solidFill>
                <a:latin typeface="Calibri" pitchFamily="34" charset="0"/>
                <a:ea typeface="Calibri" pitchFamily="34" charset="-122"/>
                <a:cs typeface="Calibri" pitchFamily="34" charset="-120"/>
              </a:rPr>
              <a:t>Respects the chain of command: unity of command + scalar chain.</a:t>
            </a:r>
            <a:endParaRPr lang="en-US" sz="1600" dirty="0"/>
          </a:p>
        </p:txBody>
      </p:sp>
      <p:sp>
        <p:nvSpPr>
          <p:cNvPr id="6" name="Shape 4"/>
          <p:cNvSpPr/>
          <p:nvPr/>
        </p:nvSpPr>
        <p:spPr>
          <a:xfrm>
            <a:off x="548640" y="5669280"/>
            <a:ext cx="11064240" cy="658368"/>
          </a:xfrm>
          <a:prstGeom prst="roundRect">
            <a:avLst>
              <a:gd name="adj" fmla="val 11111"/>
            </a:avLst>
          </a:prstGeom>
          <a:solidFill>
            <a:srgbClr val="EAF3F7"/>
          </a:solidFill>
          <a:ln/>
        </p:spPr>
      </p:sp>
      <p:sp>
        <p:nvSpPr>
          <p:cNvPr id="7" name="Text 5"/>
          <p:cNvSpPr/>
          <p:nvPr/>
        </p:nvSpPr>
        <p:spPr>
          <a:xfrm>
            <a:off x="777240" y="5724144"/>
            <a:ext cx="10607040" cy="548640"/>
          </a:xfrm>
          <a:prstGeom prst="rect">
            <a:avLst/>
          </a:prstGeom>
          <a:noFill/>
          <a:ln/>
        </p:spPr>
        <p:txBody>
          <a:bodyPr wrap="square" rtlCol="0" anchor="ctr"/>
          <a:lstStyle/>
          <a:p>
            <a:pPr marL="0" indent="0">
              <a:buNone/>
            </a:pPr>
            <a:r>
              <a:rPr lang="en-US" sz="1300" i="1" dirty="0">
                <a:solidFill>
                  <a:srgbClr val="21295C"/>
                </a:solidFill>
                <a:latin typeface="Calibri" pitchFamily="34" charset="0"/>
                <a:ea typeface="Calibri" pitchFamily="34" charset="-122"/>
                <a:cs typeface="Calibri" pitchFamily="34" charset="-120"/>
              </a:rPr>
              <a:t>💡 Think of it like a family tree — but for a company.</a:t>
            </a:r>
            <a:endParaRPr lang="en-US" sz="1300" dirty="0"/>
          </a:p>
        </p:txBody>
      </p:sp>
      <p:sp>
        <p:nvSpPr>
          <p:cNvPr id="8" name="Shape 6"/>
          <p:cNvSpPr/>
          <p:nvPr/>
        </p:nvSpPr>
        <p:spPr>
          <a:xfrm>
            <a:off x="7680960" y="1600200"/>
            <a:ext cx="3931920" cy="3931920"/>
          </a:xfrm>
          <a:prstGeom prst="roundRect">
            <a:avLst>
              <a:gd name="adj" fmla="val 2326"/>
            </a:avLst>
          </a:prstGeom>
          <a:solidFill>
            <a:srgbClr val="EAF3F7"/>
          </a:solidFill>
          <a:ln/>
        </p:spPr>
      </p:sp>
      <p:sp>
        <p:nvSpPr>
          <p:cNvPr id="9" name="Text 7"/>
          <p:cNvSpPr/>
          <p:nvPr/>
        </p:nvSpPr>
        <p:spPr>
          <a:xfrm>
            <a:off x="7955280" y="1783080"/>
            <a:ext cx="3474720" cy="365760"/>
          </a:xfrm>
          <a:prstGeom prst="rect">
            <a:avLst/>
          </a:prstGeom>
          <a:noFill/>
          <a:ln/>
        </p:spPr>
        <p:txBody>
          <a:bodyPr wrap="square"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A Chart Shows:</a:t>
            </a:r>
            <a:endParaRPr lang="en-US" sz="1400" dirty="0"/>
          </a:p>
        </p:txBody>
      </p:sp>
      <p:sp>
        <p:nvSpPr>
          <p:cNvPr id="10" name="Text 8"/>
          <p:cNvSpPr/>
          <p:nvPr/>
        </p:nvSpPr>
        <p:spPr>
          <a:xfrm>
            <a:off x="7955280" y="2194560"/>
            <a:ext cx="3474720" cy="3108960"/>
          </a:xfrm>
          <a:prstGeom prst="rect">
            <a:avLst/>
          </a:prstGeom>
          <a:noFill/>
          <a:ln/>
        </p:spPr>
        <p:txBody>
          <a:bodyPr wrap="square" rtlCol="0" anchor="ctr"/>
          <a:lstStyle/>
          <a:p>
            <a:pPr marL="342900" indent="-3429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Levels of hierarchy</a:t>
            </a:r>
            <a:endParaRPr lang="en-US" sz="1300" dirty="0"/>
          </a:p>
          <a:p>
            <a:pPr marL="342900" indent="-3429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Chain of command</a:t>
            </a:r>
            <a:endParaRPr lang="en-US" sz="1300" dirty="0"/>
          </a:p>
          <a:p>
            <a:pPr marL="342900" indent="-3429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Span of management</a:t>
            </a:r>
            <a:endParaRPr lang="en-US" sz="1300" dirty="0"/>
          </a:p>
          <a:p>
            <a:pPr marL="342900" indent="-3429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How work is structured</a:t>
            </a:r>
            <a:endParaRPr lang="en-US" sz="1300" dirty="0"/>
          </a:p>
          <a:p>
            <a:pPr marL="342900" indent="-342900">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Reporting relationships</a:t>
            </a:r>
            <a:endParaRPr lang="en-US" sz="1300" dirty="0"/>
          </a:p>
        </p:txBody>
      </p:sp>
      <p:pic>
        <p:nvPicPr>
          <p:cNvPr id="11" name="Picture 10" descr="C:\Users\madam\AppData\Local\Temp\UPSA NEW LOGO.png"/>
          <p:cNvPicPr/>
          <p:nvPr/>
        </p:nvPicPr>
        <p:blipFill>
          <a:blip r:embed="rId3" cstate="print"/>
          <a:srcRect/>
          <a:stretch>
            <a:fillRect/>
          </a:stretch>
        </p:blipFill>
        <p:spPr bwMode="auto">
          <a:xfrm>
            <a:off x="6247050" y="320041"/>
            <a:ext cx="5632057" cy="104241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22960" y="2286000"/>
            <a:ext cx="3657600" cy="1371600"/>
          </a:xfrm>
          <a:prstGeom prst="rect">
            <a:avLst/>
          </a:prstGeom>
          <a:noFill/>
          <a:ln/>
        </p:spPr>
        <p:txBody>
          <a:bodyPr wrap="square" rtlCol="0" anchor="ctr"/>
          <a:lstStyle/>
          <a:p>
            <a:pPr marL="0" indent="0">
              <a:buNone/>
            </a:pPr>
            <a:r>
              <a:rPr lang="en-US" sz="7200" b="1" dirty="0">
                <a:solidFill>
                  <a:srgbClr val="3D85A6"/>
                </a:solidFill>
                <a:latin typeface="Cambria" pitchFamily="34" charset="0"/>
                <a:ea typeface="Cambria" pitchFamily="34" charset="-122"/>
                <a:cs typeface="Cambria" pitchFamily="34" charset="-120"/>
              </a:rPr>
              <a:t>02</a:t>
            </a:r>
            <a:endParaRPr lang="en-US" sz="7200" dirty="0"/>
          </a:p>
        </p:txBody>
      </p:sp>
      <p:sp>
        <p:nvSpPr>
          <p:cNvPr id="3" name="Text 1"/>
          <p:cNvSpPr/>
          <p:nvPr/>
        </p:nvSpPr>
        <p:spPr>
          <a:xfrm>
            <a:off x="822960" y="3383280"/>
            <a:ext cx="9601200" cy="109728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Kinds of Organizational Charts</a:t>
            </a:r>
            <a:endParaRPr lang="en-US" sz="3800" dirty="0"/>
          </a:p>
        </p:txBody>
      </p:sp>
      <p:sp>
        <p:nvSpPr>
          <p:cNvPr id="4" name="Shape 2"/>
          <p:cNvSpPr/>
          <p:nvPr/>
        </p:nvSpPr>
        <p:spPr>
          <a:xfrm>
            <a:off x="0" y="0"/>
            <a:ext cx="164592" cy="6858000"/>
          </a:xfrm>
          <a:prstGeom prst="rect">
            <a:avLst/>
          </a:prstGeom>
          <a:solidFill>
            <a:srgbClr val="1C7293"/>
          </a:solidFill>
          <a:ln/>
        </p:spPr>
      </p:sp>
      <p:pic>
        <p:nvPicPr>
          <p:cNvPr id="5" name="Picture 4" descr="C:\Users\madam\AppData\Local\Temp\UPSA NEW LOGO.png"/>
          <p:cNvPicPr/>
          <p:nvPr/>
        </p:nvPicPr>
        <p:blipFill>
          <a:blip r:embed="rId3" cstate="print"/>
          <a:srcRect/>
          <a:stretch>
            <a:fillRect/>
          </a:stretch>
        </p:blipFill>
        <p:spPr bwMode="auto">
          <a:xfrm>
            <a:off x="5866726" y="323681"/>
            <a:ext cx="6052841" cy="1068149"/>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KINDS OF CHARTS</a:t>
            </a:r>
            <a:endParaRPr lang="en-US" sz="1200" dirty="0"/>
          </a:p>
        </p:txBody>
      </p:sp>
      <p:sp>
        <p:nvSpPr>
          <p:cNvPr id="3" name="Text 1"/>
          <p:cNvSpPr/>
          <p:nvPr/>
        </p:nvSpPr>
        <p:spPr>
          <a:xfrm>
            <a:off x="548640" y="594360"/>
            <a:ext cx="10972800" cy="68580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Three Main Types</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Shape 3"/>
          <p:cNvSpPr/>
          <p:nvPr/>
        </p:nvSpPr>
        <p:spPr>
          <a:xfrm>
            <a:off x="640080" y="1645920"/>
            <a:ext cx="3520440" cy="4206240"/>
          </a:xfrm>
          <a:prstGeom prst="roundRect">
            <a:avLst>
              <a:gd name="adj" fmla="val 2597"/>
            </a:avLst>
          </a:prstGeom>
          <a:solidFill>
            <a:srgbClr val="EAF3F7"/>
          </a:solidFill>
          <a:ln/>
        </p:spPr>
      </p:sp>
      <p:sp>
        <p:nvSpPr>
          <p:cNvPr id="6" name="Shape 4"/>
          <p:cNvSpPr/>
          <p:nvPr/>
        </p:nvSpPr>
        <p:spPr>
          <a:xfrm>
            <a:off x="960120" y="1965960"/>
            <a:ext cx="548640" cy="548640"/>
          </a:xfrm>
          <a:prstGeom prst="ellipse">
            <a:avLst/>
          </a:prstGeom>
          <a:solidFill>
            <a:srgbClr val="1C7293"/>
          </a:solidFill>
          <a:ln/>
        </p:spPr>
      </p:sp>
      <p:sp>
        <p:nvSpPr>
          <p:cNvPr id="7" name="Text 5"/>
          <p:cNvSpPr/>
          <p:nvPr/>
        </p:nvSpPr>
        <p:spPr>
          <a:xfrm>
            <a:off x="960120" y="1965960"/>
            <a:ext cx="548640" cy="548640"/>
          </a:xfrm>
          <a:prstGeom prst="rect">
            <a:avLst/>
          </a:prstGeom>
          <a:noFill/>
          <a:ln/>
        </p:spPr>
        <p:txBody>
          <a:bodyPr wrap="square" rtlCol="0" anchor="ctr"/>
          <a:lstStyle/>
          <a:p>
            <a:pPr marL="0" indent="0" algn="ctr">
              <a:buNone/>
            </a:pPr>
            <a:endParaRPr lang="en-US" sz="2000" dirty="0"/>
          </a:p>
        </p:txBody>
      </p:sp>
      <p:sp>
        <p:nvSpPr>
          <p:cNvPr id="8" name="Text 6"/>
          <p:cNvSpPr/>
          <p:nvPr/>
        </p:nvSpPr>
        <p:spPr>
          <a:xfrm>
            <a:off x="960120" y="2743200"/>
            <a:ext cx="2880360" cy="457200"/>
          </a:xfrm>
          <a:prstGeom prst="rect">
            <a:avLst/>
          </a:prstGeom>
          <a:noFill/>
          <a:ln/>
        </p:spPr>
        <p:txBody>
          <a:bodyPr wrap="square" rtlCol="0" anchor="ctr"/>
          <a:lstStyle/>
          <a:p>
            <a:pPr marL="0" indent="0">
              <a:buNone/>
            </a:pPr>
            <a:r>
              <a:rPr lang="en-US" sz="2000" b="1" dirty="0">
                <a:solidFill>
                  <a:srgbClr val="21295C"/>
                </a:solidFill>
                <a:latin typeface="Cambria" pitchFamily="34" charset="0"/>
                <a:ea typeface="Cambria" pitchFamily="34" charset="-122"/>
                <a:cs typeface="Cambria" pitchFamily="34" charset="-120"/>
              </a:rPr>
              <a:t>Vertical</a:t>
            </a:r>
            <a:endParaRPr lang="en-US" sz="2000" dirty="0"/>
          </a:p>
        </p:txBody>
      </p:sp>
      <p:sp>
        <p:nvSpPr>
          <p:cNvPr id="9" name="Text 7"/>
          <p:cNvSpPr/>
          <p:nvPr/>
        </p:nvSpPr>
        <p:spPr>
          <a:xfrm>
            <a:off x="960120" y="3291840"/>
            <a:ext cx="2880360" cy="2286000"/>
          </a:xfrm>
          <a:prstGeom prst="rect">
            <a:avLst/>
          </a:prstGeom>
          <a:noFill/>
          <a:ln/>
        </p:spPr>
        <p:txBody>
          <a:bodyPr wrap="square" rtlCol="0" anchor="ctr"/>
          <a:lstStyle/>
          <a:p>
            <a:pPr marL="0" indent="0">
              <a:buNone/>
            </a:pPr>
            <a:r>
              <a:rPr lang="en-US" sz="1400" dirty="0">
                <a:solidFill>
                  <a:srgbClr val="222222"/>
                </a:solidFill>
                <a:latin typeface="Calibri" pitchFamily="34" charset="0"/>
                <a:ea typeface="Calibri" pitchFamily="34" charset="-122"/>
                <a:cs typeface="Calibri" pitchFamily="34" charset="-120"/>
              </a:rPr>
              <a:t>Authority flows top to bottom. The most commonly used chart type.</a:t>
            </a:r>
            <a:endParaRPr lang="en-US" sz="1400" dirty="0"/>
          </a:p>
        </p:txBody>
      </p:sp>
      <p:sp>
        <p:nvSpPr>
          <p:cNvPr id="10" name="Shape 8"/>
          <p:cNvSpPr/>
          <p:nvPr/>
        </p:nvSpPr>
        <p:spPr>
          <a:xfrm>
            <a:off x="4480560" y="1645920"/>
            <a:ext cx="3520440" cy="4206240"/>
          </a:xfrm>
          <a:prstGeom prst="roundRect">
            <a:avLst>
              <a:gd name="adj" fmla="val 2597"/>
            </a:avLst>
          </a:prstGeom>
          <a:solidFill>
            <a:srgbClr val="065A82"/>
          </a:solidFill>
          <a:ln/>
        </p:spPr>
      </p:sp>
      <p:sp>
        <p:nvSpPr>
          <p:cNvPr id="11" name="Shape 9"/>
          <p:cNvSpPr/>
          <p:nvPr/>
        </p:nvSpPr>
        <p:spPr>
          <a:xfrm>
            <a:off x="4800600" y="1965960"/>
            <a:ext cx="548640" cy="548640"/>
          </a:xfrm>
          <a:prstGeom prst="ellipse">
            <a:avLst/>
          </a:prstGeom>
          <a:solidFill>
            <a:srgbClr val="1C7293"/>
          </a:solidFill>
          <a:ln/>
        </p:spPr>
      </p:sp>
      <p:sp>
        <p:nvSpPr>
          <p:cNvPr id="12" name="Text 10"/>
          <p:cNvSpPr/>
          <p:nvPr/>
        </p:nvSpPr>
        <p:spPr>
          <a:xfrm>
            <a:off x="4800600" y="1965960"/>
            <a:ext cx="548640" cy="548640"/>
          </a:xfrm>
          <a:prstGeom prst="rect">
            <a:avLst/>
          </a:prstGeom>
          <a:noFill/>
          <a:ln/>
        </p:spPr>
        <p:txBody>
          <a:bodyPr wrap="square" rtlCol="0" anchor="ctr"/>
          <a:lstStyle/>
          <a:p>
            <a:pPr marL="0" indent="0" algn="ctr">
              <a:buNone/>
            </a:pPr>
            <a:endParaRPr lang="en-US" sz="2000" dirty="0"/>
          </a:p>
        </p:txBody>
      </p:sp>
      <p:sp>
        <p:nvSpPr>
          <p:cNvPr id="13" name="Text 11"/>
          <p:cNvSpPr/>
          <p:nvPr/>
        </p:nvSpPr>
        <p:spPr>
          <a:xfrm>
            <a:off x="4800600" y="2743200"/>
            <a:ext cx="2880360" cy="45720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Horizontal</a:t>
            </a:r>
            <a:endParaRPr lang="en-US" sz="2000" dirty="0"/>
          </a:p>
        </p:txBody>
      </p:sp>
      <p:sp>
        <p:nvSpPr>
          <p:cNvPr id="14" name="Text 12"/>
          <p:cNvSpPr/>
          <p:nvPr/>
        </p:nvSpPr>
        <p:spPr>
          <a:xfrm>
            <a:off x="4800600" y="3291840"/>
            <a:ext cx="2880360" cy="228600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Authority flows left to right across the page.</a:t>
            </a:r>
            <a:endParaRPr lang="en-US" sz="1400" dirty="0"/>
          </a:p>
        </p:txBody>
      </p:sp>
      <p:sp>
        <p:nvSpPr>
          <p:cNvPr id="15" name="Shape 13"/>
          <p:cNvSpPr/>
          <p:nvPr/>
        </p:nvSpPr>
        <p:spPr>
          <a:xfrm>
            <a:off x="8321040" y="1645920"/>
            <a:ext cx="3520440" cy="4206240"/>
          </a:xfrm>
          <a:prstGeom prst="roundRect">
            <a:avLst>
              <a:gd name="adj" fmla="val 2597"/>
            </a:avLst>
          </a:prstGeom>
          <a:solidFill>
            <a:srgbClr val="EAF3F7"/>
          </a:solidFill>
          <a:ln/>
        </p:spPr>
      </p:sp>
      <p:sp>
        <p:nvSpPr>
          <p:cNvPr id="16" name="Shape 14"/>
          <p:cNvSpPr/>
          <p:nvPr/>
        </p:nvSpPr>
        <p:spPr>
          <a:xfrm>
            <a:off x="8641080" y="1965960"/>
            <a:ext cx="548640" cy="548640"/>
          </a:xfrm>
          <a:prstGeom prst="ellipse">
            <a:avLst/>
          </a:prstGeom>
          <a:solidFill>
            <a:srgbClr val="1C7293"/>
          </a:solidFill>
          <a:ln/>
        </p:spPr>
      </p:sp>
      <p:sp>
        <p:nvSpPr>
          <p:cNvPr id="17" name="Text 15"/>
          <p:cNvSpPr/>
          <p:nvPr/>
        </p:nvSpPr>
        <p:spPr>
          <a:xfrm>
            <a:off x="8641080" y="1965960"/>
            <a:ext cx="548640" cy="548640"/>
          </a:xfrm>
          <a:prstGeom prst="rect">
            <a:avLst/>
          </a:prstGeom>
          <a:noFill/>
          <a:ln/>
        </p:spPr>
        <p:txBody>
          <a:bodyPr wrap="square" rtlCol="0" anchor="ctr"/>
          <a:lstStyle/>
          <a:p>
            <a:pPr marL="0" indent="0" algn="ctr">
              <a:buNone/>
            </a:pPr>
            <a:endParaRPr lang="en-US" sz="2000" dirty="0"/>
          </a:p>
        </p:txBody>
      </p:sp>
      <p:sp>
        <p:nvSpPr>
          <p:cNvPr id="18" name="Text 16"/>
          <p:cNvSpPr/>
          <p:nvPr/>
        </p:nvSpPr>
        <p:spPr>
          <a:xfrm>
            <a:off x="8641080" y="2743200"/>
            <a:ext cx="2880360" cy="457200"/>
          </a:xfrm>
          <a:prstGeom prst="rect">
            <a:avLst/>
          </a:prstGeom>
          <a:noFill/>
          <a:ln/>
        </p:spPr>
        <p:txBody>
          <a:bodyPr wrap="square" rtlCol="0" anchor="ctr"/>
          <a:lstStyle/>
          <a:p>
            <a:pPr marL="0" indent="0">
              <a:buNone/>
            </a:pPr>
            <a:r>
              <a:rPr lang="en-US" sz="2000" b="1" dirty="0">
                <a:solidFill>
                  <a:srgbClr val="21295C"/>
                </a:solidFill>
                <a:latin typeface="Cambria" pitchFamily="34" charset="0"/>
                <a:ea typeface="Cambria" pitchFamily="34" charset="-122"/>
                <a:cs typeface="Cambria" pitchFamily="34" charset="-120"/>
              </a:rPr>
              <a:t>Circular</a:t>
            </a:r>
            <a:endParaRPr lang="en-US" sz="2000" dirty="0"/>
          </a:p>
        </p:txBody>
      </p:sp>
      <p:sp>
        <p:nvSpPr>
          <p:cNvPr id="19" name="Text 17"/>
          <p:cNvSpPr/>
          <p:nvPr/>
        </p:nvSpPr>
        <p:spPr>
          <a:xfrm>
            <a:off x="8641080" y="3291840"/>
            <a:ext cx="2880360" cy="2286000"/>
          </a:xfrm>
          <a:prstGeom prst="rect">
            <a:avLst/>
          </a:prstGeom>
          <a:noFill/>
          <a:ln/>
        </p:spPr>
        <p:txBody>
          <a:bodyPr wrap="square" rtlCol="0" anchor="ctr"/>
          <a:lstStyle/>
          <a:p>
            <a:pPr marL="0" indent="0">
              <a:buNone/>
            </a:pPr>
            <a:r>
              <a:rPr lang="en-US" sz="1400" dirty="0">
                <a:solidFill>
                  <a:srgbClr val="222222"/>
                </a:solidFill>
                <a:latin typeface="Calibri" pitchFamily="34" charset="0"/>
                <a:ea typeface="Calibri" pitchFamily="34" charset="-122"/>
                <a:cs typeface="Calibri" pitchFamily="34" charset="-120"/>
              </a:rPr>
              <a:t>Top position sits in the center; lower levels sit in outer rings.</a:t>
            </a:r>
            <a:endParaRPr lang="en-US" sz="1400" dirty="0"/>
          </a:p>
        </p:txBody>
      </p:sp>
      <p:pic>
        <p:nvPicPr>
          <p:cNvPr id="20" name="Picture 19" descr="C:\Users\madam\AppData\Local\Temp\UPSA NEW LOGO.png"/>
          <p:cNvPicPr/>
          <p:nvPr/>
        </p:nvPicPr>
        <p:blipFill>
          <a:blip r:embed="rId3" cstate="print"/>
          <a:srcRect/>
          <a:stretch>
            <a:fillRect/>
          </a:stretch>
        </p:blipFill>
        <p:spPr bwMode="auto">
          <a:xfrm>
            <a:off x="7234280" y="320041"/>
            <a:ext cx="4741931" cy="960119"/>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22960" y="2286000"/>
            <a:ext cx="3657600" cy="1371600"/>
          </a:xfrm>
          <a:prstGeom prst="rect">
            <a:avLst/>
          </a:prstGeom>
          <a:noFill/>
          <a:ln/>
        </p:spPr>
        <p:txBody>
          <a:bodyPr wrap="square" rtlCol="0" anchor="ctr"/>
          <a:lstStyle/>
          <a:p>
            <a:pPr marL="0" indent="0">
              <a:buNone/>
            </a:pPr>
            <a:r>
              <a:rPr lang="en-US" sz="7200" b="1" dirty="0">
                <a:solidFill>
                  <a:srgbClr val="3D85A6"/>
                </a:solidFill>
                <a:latin typeface="Cambria" pitchFamily="34" charset="0"/>
                <a:ea typeface="Cambria" pitchFamily="34" charset="-122"/>
                <a:cs typeface="Cambria" pitchFamily="34" charset="-120"/>
              </a:rPr>
              <a:t>03</a:t>
            </a:r>
            <a:endParaRPr lang="en-US" sz="7200" dirty="0"/>
          </a:p>
        </p:txBody>
      </p:sp>
      <p:sp>
        <p:nvSpPr>
          <p:cNvPr id="3" name="Text 1"/>
          <p:cNvSpPr/>
          <p:nvPr/>
        </p:nvSpPr>
        <p:spPr>
          <a:xfrm>
            <a:off x="822960" y="3383280"/>
            <a:ext cx="9601200" cy="109728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Span of Management</a:t>
            </a:r>
            <a:endParaRPr lang="en-US" sz="3800" dirty="0"/>
          </a:p>
        </p:txBody>
      </p:sp>
      <p:sp>
        <p:nvSpPr>
          <p:cNvPr id="4" name="Shape 2"/>
          <p:cNvSpPr/>
          <p:nvPr/>
        </p:nvSpPr>
        <p:spPr>
          <a:xfrm>
            <a:off x="0" y="0"/>
            <a:ext cx="164592" cy="6858000"/>
          </a:xfrm>
          <a:prstGeom prst="rect">
            <a:avLst/>
          </a:prstGeom>
          <a:solidFill>
            <a:srgbClr val="1C7293"/>
          </a:solidFill>
          <a:ln/>
        </p:spPr>
      </p:sp>
      <p:pic>
        <p:nvPicPr>
          <p:cNvPr id="5" name="Picture 4" descr="C:\Users\madam\AppData\Local\Temp\UPSA NEW LOGO.png"/>
          <p:cNvPicPr/>
          <p:nvPr/>
        </p:nvPicPr>
        <p:blipFill>
          <a:blip r:embed="rId3" cstate="print"/>
          <a:srcRect/>
          <a:stretch>
            <a:fillRect/>
          </a:stretch>
        </p:blipFill>
        <p:spPr bwMode="auto">
          <a:xfrm>
            <a:off x="6853953" y="267037"/>
            <a:ext cx="5195087" cy="1196003"/>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953490"/>
            <a:ext cx="7315200" cy="651163"/>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SPAN OF MANAGEMENT</a:t>
            </a:r>
            <a:endParaRPr lang="en-US" sz="1200" dirty="0"/>
          </a:p>
        </p:txBody>
      </p:sp>
      <p:sp>
        <p:nvSpPr>
          <p:cNvPr id="3" name="Text 1"/>
          <p:cNvSpPr/>
          <p:nvPr/>
        </p:nvSpPr>
        <p:spPr>
          <a:xfrm>
            <a:off x="548640" y="2604654"/>
            <a:ext cx="10972800" cy="775853"/>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What Is Span of Control?</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Text 3"/>
          <p:cNvSpPr/>
          <p:nvPr/>
        </p:nvSpPr>
        <p:spPr>
          <a:xfrm>
            <a:off x="640080" y="3380508"/>
            <a:ext cx="10881360" cy="2883131"/>
          </a:xfrm>
          <a:prstGeom prst="rect">
            <a:avLst/>
          </a:prstGeom>
          <a:noFill/>
          <a:ln/>
        </p:spPr>
        <p:txBody>
          <a:bodyPr wrap="square" rtlCol="0" anchor="t"/>
          <a:lstStyle/>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The number of workers a manager can effectively supervise.</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Historically, experts believed 5–6 subordinates was the max at senior levels.</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Beyond that, managers faced: work overload, coordination difficulty, and control problems.</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Today, span of management is situational — there's no fixed "right" number.</a:t>
            </a:r>
            <a:endParaRPr lang="en-US" sz="1600" dirty="0"/>
          </a:p>
        </p:txBody>
      </p:sp>
      <p:pic>
        <p:nvPicPr>
          <p:cNvPr id="6" name="Picture 5" descr="C:\Users\madam\AppData\Local\Temp\UPSA NEW LOGO.png"/>
          <p:cNvPicPr/>
          <p:nvPr/>
        </p:nvPicPr>
        <p:blipFill>
          <a:blip r:embed="rId3" cstate="print"/>
          <a:srcRect/>
          <a:stretch>
            <a:fillRect/>
          </a:stretch>
        </p:blipFill>
        <p:spPr bwMode="auto">
          <a:xfrm>
            <a:off x="6748758" y="129474"/>
            <a:ext cx="5259822" cy="1043872"/>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SPAN OF MANAGEMENT</a:t>
            </a:r>
            <a:endParaRPr lang="en-US" sz="1200" dirty="0"/>
          </a:p>
        </p:txBody>
      </p:sp>
      <p:sp>
        <p:nvSpPr>
          <p:cNvPr id="3" name="Text 1"/>
          <p:cNvSpPr/>
          <p:nvPr/>
        </p:nvSpPr>
        <p:spPr>
          <a:xfrm>
            <a:off x="548640" y="594360"/>
            <a:ext cx="10972800" cy="68580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Tall vs. Flat Structures</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Shape 3"/>
          <p:cNvSpPr/>
          <p:nvPr/>
        </p:nvSpPr>
        <p:spPr>
          <a:xfrm>
            <a:off x="640080" y="1554480"/>
            <a:ext cx="5257800" cy="4480560"/>
          </a:xfrm>
          <a:prstGeom prst="roundRect">
            <a:avLst>
              <a:gd name="adj" fmla="val 2041"/>
            </a:avLst>
          </a:prstGeom>
          <a:solidFill>
            <a:srgbClr val="EAF3F7"/>
          </a:solidFill>
          <a:ln/>
        </p:spPr>
      </p:sp>
      <p:sp>
        <p:nvSpPr>
          <p:cNvPr id="6" name="Shape 4"/>
          <p:cNvSpPr/>
          <p:nvPr/>
        </p:nvSpPr>
        <p:spPr>
          <a:xfrm>
            <a:off x="640080" y="1554480"/>
            <a:ext cx="5257800" cy="822960"/>
          </a:xfrm>
          <a:prstGeom prst="rect">
            <a:avLst/>
          </a:prstGeom>
          <a:solidFill>
            <a:srgbClr val="065A82"/>
          </a:solidFill>
          <a:ln/>
        </p:spPr>
      </p:sp>
      <p:sp>
        <p:nvSpPr>
          <p:cNvPr id="7" name="Text 5"/>
          <p:cNvSpPr/>
          <p:nvPr/>
        </p:nvSpPr>
        <p:spPr>
          <a:xfrm>
            <a:off x="914400" y="1627632"/>
            <a:ext cx="4709160" cy="41148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Tall Structure</a:t>
            </a:r>
            <a:endParaRPr lang="en-US" sz="2000" dirty="0"/>
          </a:p>
        </p:txBody>
      </p:sp>
      <p:sp>
        <p:nvSpPr>
          <p:cNvPr id="8" name="Text 6"/>
          <p:cNvSpPr/>
          <p:nvPr/>
        </p:nvSpPr>
        <p:spPr>
          <a:xfrm>
            <a:off x="914400" y="2011680"/>
            <a:ext cx="4709160" cy="320040"/>
          </a:xfrm>
          <a:prstGeom prst="rect">
            <a:avLst/>
          </a:prstGeom>
          <a:noFill/>
          <a:ln/>
        </p:spPr>
        <p:txBody>
          <a:bodyPr wrap="square" rtlCol="0" anchor="ctr"/>
          <a:lstStyle/>
          <a:p>
            <a:pPr marL="0" indent="0">
              <a:buNone/>
            </a:pPr>
            <a:r>
              <a:rPr lang="en-US" sz="1200" i="1" dirty="0">
                <a:solidFill>
                  <a:srgbClr val="E4F0F5"/>
                </a:solidFill>
                <a:latin typeface="Calibri" pitchFamily="34" charset="0"/>
                <a:ea typeface="Calibri" pitchFamily="34" charset="-122"/>
                <a:cs typeface="Calibri" pitchFamily="34" charset="-120"/>
              </a:rPr>
              <a:t>Narrow span of control</a:t>
            </a:r>
            <a:endParaRPr lang="en-US" sz="1200" dirty="0"/>
          </a:p>
        </p:txBody>
      </p:sp>
      <p:sp>
        <p:nvSpPr>
          <p:cNvPr id="9" name="Text 7"/>
          <p:cNvSpPr/>
          <p:nvPr/>
        </p:nvSpPr>
        <p:spPr>
          <a:xfrm>
            <a:off x="914400" y="2606040"/>
            <a:ext cx="4709160" cy="3200400"/>
          </a:xfrm>
          <a:prstGeom prst="rect">
            <a:avLst/>
          </a:prstGeom>
          <a:noFill/>
          <a:ln/>
        </p:spPr>
        <p:txBody>
          <a:bodyPr wrap="square" rtlCol="0" anchor="ctr"/>
          <a:lstStyle/>
          <a:p>
            <a:pPr marL="342900" indent="-342900">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A manager supervises only a few people</a:t>
            </a:r>
            <a:endParaRPr lang="en-US" sz="1400" dirty="0"/>
          </a:p>
          <a:p>
            <a:pPr marL="342900" indent="-342900">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Creates many levels in the company</a:t>
            </a:r>
            <a:endParaRPr lang="en-US" sz="1400" dirty="0"/>
          </a:p>
          <a:p>
            <a:pPr marL="342900" indent="-342900">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Allows tighter control over activities</a:t>
            </a:r>
            <a:endParaRPr lang="en-US" sz="1400" dirty="0"/>
          </a:p>
          <a:p>
            <a:pPr marL="342900" indent="-342900">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Common in classical bureaucratic organizations</a:t>
            </a:r>
            <a:endParaRPr lang="en-US" sz="1400" dirty="0"/>
          </a:p>
        </p:txBody>
      </p:sp>
      <p:sp>
        <p:nvSpPr>
          <p:cNvPr id="10" name="Shape 8"/>
          <p:cNvSpPr/>
          <p:nvPr/>
        </p:nvSpPr>
        <p:spPr>
          <a:xfrm>
            <a:off x="6355080" y="1554480"/>
            <a:ext cx="5257800" cy="4480560"/>
          </a:xfrm>
          <a:prstGeom prst="roundRect">
            <a:avLst>
              <a:gd name="adj" fmla="val 2041"/>
            </a:avLst>
          </a:prstGeom>
          <a:solidFill>
            <a:srgbClr val="EAF3F7"/>
          </a:solidFill>
          <a:ln/>
        </p:spPr>
      </p:sp>
      <p:sp>
        <p:nvSpPr>
          <p:cNvPr id="11" name="Shape 9"/>
          <p:cNvSpPr/>
          <p:nvPr/>
        </p:nvSpPr>
        <p:spPr>
          <a:xfrm>
            <a:off x="6355080" y="1554480"/>
            <a:ext cx="5257800" cy="822960"/>
          </a:xfrm>
          <a:prstGeom prst="rect">
            <a:avLst/>
          </a:prstGeom>
          <a:solidFill>
            <a:srgbClr val="1C7293"/>
          </a:solidFill>
          <a:ln/>
        </p:spPr>
      </p:sp>
      <p:sp>
        <p:nvSpPr>
          <p:cNvPr id="12" name="Text 10"/>
          <p:cNvSpPr/>
          <p:nvPr/>
        </p:nvSpPr>
        <p:spPr>
          <a:xfrm>
            <a:off x="6629400" y="1627632"/>
            <a:ext cx="4709160" cy="41148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Flat Structure</a:t>
            </a:r>
            <a:endParaRPr lang="en-US" sz="2000" dirty="0"/>
          </a:p>
        </p:txBody>
      </p:sp>
      <p:sp>
        <p:nvSpPr>
          <p:cNvPr id="13" name="Text 11"/>
          <p:cNvSpPr/>
          <p:nvPr/>
        </p:nvSpPr>
        <p:spPr>
          <a:xfrm>
            <a:off x="6629400" y="2011680"/>
            <a:ext cx="4709160" cy="320040"/>
          </a:xfrm>
          <a:prstGeom prst="rect">
            <a:avLst/>
          </a:prstGeom>
          <a:noFill/>
          <a:ln/>
        </p:spPr>
        <p:txBody>
          <a:bodyPr wrap="square" rtlCol="0" anchor="ctr"/>
          <a:lstStyle/>
          <a:p>
            <a:pPr marL="0" indent="0">
              <a:buNone/>
            </a:pPr>
            <a:r>
              <a:rPr lang="en-US" sz="1200" i="1" dirty="0">
                <a:solidFill>
                  <a:srgbClr val="E4F0F5"/>
                </a:solidFill>
                <a:latin typeface="Calibri" pitchFamily="34" charset="0"/>
                <a:ea typeface="Calibri" pitchFamily="34" charset="-122"/>
                <a:cs typeface="Calibri" pitchFamily="34" charset="-120"/>
              </a:rPr>
              <a:t>Wide span of control</a:t>
            </a:r>
            <a:endParaRPr lang="en-US" sz="1200" dirty="0"/>
          </a:p>
        </p:txBody>
      </p:sp>
      <p:sp>
        <p:nvSpPr>
          <p:cNvPr id="14" name="Text 12"/>
          <p:cNvSpPr/>
          <p:nvPr/>
        </p:nvSpPr>
        <p:spPr>
          <a:xfrm>
            <a:off x="6629400" y="2606040"/>
            <a:ext cx="4709160" cy="3200400"/>
          </a:xfrm>
          <a:prstGeom prst="rect">
            <a:avLst/>
          </a:prstGeom>
          <a:noFill/>
          <a:ln/>
        </p:spPr>
        <p:txBody>
          <a:bodyPr wrap="square" rtlCol="0" anchor="ctr"/>
          <a:lstStyle/>
          <a:p>
            <a:pPr marL="342900" indent="-342900">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One manager supervises many people</a:t>
            </a:r>
            <a:endParaRPr lang="en-US" sz="1400" dirty="0"/>
          </a:p>
          <a:p>
            <a:pPr marL="342900" indent="-342900">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Creates fewer hierarchical levels</a:t>
            </a:r>
            <a:endParaRPr lang="en-US" sz="1400" dirty="0"/>
          </a:p>
          <a:p>
            <a:pPr marL="342900" indent="-342900">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Common when work is routine or repetitive</a:t>
            </a:r>
            <a:endParaRPr lang="en-US" sz="1400" dirty="0"/>
          </a:p>
          <a:p>
            <a:pPr marL="342900" indent="-342900">
              <a:spcAft>
                <a:spcPts val="1200"/>
              </a:spcAft>
              <a:buSzPct val="100000"/>
              <a:buChar char="●"/>
            </a:pPr>
            <a:r>
              <a:rPr lang="en-US" sz="1400" dirty="0">
                <a:solidFill>
                  <a:srgbClr val="222222"/>
                </a:solidFill>
                <a:latin typeface="Calibri" pitchFamily="34" charset="0"/>
                <a:ea typeface="Calibri" pitchFamily="34" charset="-122"/>
                <a:cs typeface="Calibri" pitchFamily="34" charset="-120"/>
              </a:rPr>
              <a:t>Needs competent, self-sufficient staff</a:t>
            </a:r>
            <a:endParaRPr lang="en-US" sz="1400" dirty="0"/>
          </a:p>
        </p:txBody>
      </p:sp>
      <p:pic>
        <p:nvPicPr>
          <p:cNvPr id="15" name="Picture 14" descr="C:\Users\madam\AppData\Local\Temp\UPSA NEW LOGO.png"/>
          <p:cNvPicPr/>
          <p:nvPr/>
        </p:nvPicPr>
        <p:blipFill>
          <a:blip r:embed="rId3" cstate="print"/>
          <a:srcRect/>
          <a:stretch>
            <a:fillRect/>
          </a:stretch>
        </p:blipFill>
        <p:spPr bwMode="auto">
          <a:xfrm>
            <a:off x="7048163" y="242761"/>
            <a:ext cx="5041338" cy="1156271"/>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SPAN OF MANAGEMENT</a:t>
            </a:r>
            <a:endParaRPr lang="en-US" sz="1200" dirty="0"/>
          </a:p>
        </p:txBody>
      </p:sp>
      <p:sp>
        <p:nvSpPr>
          <p:cNvPr id="3" name="Text 1"/>
          <p:cNvSpPr/>
          <p:nvPr/>
        </p:nvSpPr>
        <p:spPr>
          <a:xfrm>
            <a:off x="548640" y="594360"/>
            <a:ext cx="10972800" cy="68580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Tall Structure: Pros &amp; Cons</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Shape 3"/>
          <p:cNvSpPr/>
          <p:nvPr/>
        </p:nvSpPr>
        <p:spPr>
          <a:xfrm>
            <a:off x="640080" y="1508760"/>
            <a:ext cx="5349240" cy="502920"/>
          </a:xfrm>
          <a:prstGeom prst="roundRect">
            <a:avLst>
              <a:gd name="adj" fmla="val 14545"/>
            </a:avLst>
          </a:prstGeom>
          <a:solidFill>
            <a:srgbClr val="2E8B57"/>
          </a:solidFill>
          <a:ln/>
        </p:spPr>
      </p:sp>
      <p:sp>
        <p:nvSpPr>
          <p:cNvPr id="6" name="Text 4"/>
          <p:cNvSpPr/>
          <p:nvPr/>
        </p:nvSpPr>
        <p:spPr>
          <a:xfrm>
            <a:off x="640080" y="1508760"/>
            <a:ext cx="534924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Advantages</a:t>
            </a:r>
            <a:endParaRPr lang="en-US" sz="1500" dirty="0"/>
          </a:p>
        </p:txBody>
      </p:sp>
      <p:sp>
        <p:nvSpPr>
          <p:cNvPr id="7" name="Text 5"/>
          <p:cNvSpPr/>
          <p:nvPr/>
        </p:nvSpPr>
        <p:spPr>
          <a:xfrm>
            <a:off x="777240" y="2194560"/>
            <a:ext cx="5074920" cy="4206240"/>
          </a:xfrm>
          <a:prstGeom prst="rect">
            <a:avLst/>
          </a:prstGeom>
          <a:noFill/>
          <a:ln/>
        </p:spPr>
        <p:txBody>
          <a:bodyPr wrap="square" rtlCol="0" anchor="ctr"/>
          <a:lstStyle/>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Managers can closely supervise employees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Better communication between superiors and subordinates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Builds personal relationships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Tighter control over subordinates</a:t>
            </a:r>
            <a:endParaRPr lang="en-US" sz="1300" dirty="0"/>
          </a:p>
        </p:txBody>
      </p:sp>
      <p:sp>
        <p:nvSpPr>
          <p:cNvPr id="8" name="Shape 6"/>
          <p:cNvSpPr/>
          <p:nvPr/>
        </p:nvSpPr>
        <p:spPr>
          <a:xfrm>
            <a:off x="6355080" y="1508760"/>
            <a:ext cx="5349240" cy="502920"/>
          </a:xfrm>
          <a:prstGeom prst="roundRect">
            <a:avLst>
              <a:gd name="adj" fmla="val 14545"/>
            </a:avLst>
          </a:prstGeom>
          <a:solidFill>
            <a:srgbClr val="B23A48"/>
          </a:solidFill>
          <a:ln/>
        </p:spPr>
      </p:sp>
      <p:sp>
        <p:nvSpPr>
          <p:cNvPr id="9" name="Text 7"/>
          <p:cNvSpPr/>
          <p:nvPr/>
        </p:nvSpPr>
        <p:spPr>
          <a:xfrm>
            <a:off x="6355080" y="1508760"/>
            <a:ext cx="534924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Disadvantages</a:t>
            </a:r>
            <a:endParaRPr lang="en-US" sz="1500" dirty="0"/>
          </a:p>
        </p:txBody>
      </p:sp>
      <p:sp>
        <p:nvSpPr>
          <p:cNvPr id="10" name="Text 8"/>
          <p:cNvSpPr/>
          <p:nvPr/>
        </p:nvSpPr>
        <p:spPr>
          <a:xfrm>
            <a:off x="6492240" y="2194560"/>
            <a:ext cx="5074920" cy="4206240"/>
          </a:xfrm>
          <a:prstGeom prst="rect">
            <a:avLst/>
          </a:prstGeom>
          <a:noFill/>
          <a:ln/>
        </p:spPr>
        <p:txBody>
          <a:bodyPr wrap="square" rtlCol="0" anchor="ctr"/>
          <a:lstStyle/>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Too many levels complicates coordination</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More managers needed — higher overhead cost</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Growing gap slows communication</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Decision-making becomes difficult</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Restricts creativity due to strict control</a:t>
            </a:r>
            <a:endParaRPr lang="en-US" sz="1300" dirty="0"/>
          </a:p>
        </p:txBody>
      </p:sp>
      <p:pic>
        <p:nvPicPr>
          <p:cNvPr id="11" name="Picture 10" descr="C:\Users\madam\AppData\Local\Temp\UPSA NEW LOGO.png"/>
          <p:cNvPicPr/>
          <p:nvPr/>
        </p:nvPicPr>
        <p:blipFill>
          <a:blip r:embed="rId3" cstate="print"/>
          <a:srcRect/>
          <a:stretch>
            <a:fillRect/>
          </a:stretch>
        </p:blipFill>
        <p:spPr bwMode="auto">
          <a:xfrm>
            <a:off x="7574145" y="113289"/>
            <a:ext cx="4426342" cy="1100516"/>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SPAN OF MANAGEMENT</a:t>
            </a:r>
            <a:endParaRPr lang="en-US" sz="1200" dirty="0"/>
          </a:p>
        </p:txBody>
      </p:sp>
      <p:sp>
        <p:nvSpPr>
          <p:cNvPr id="3" name="Text 1"/>
          <p:cNvSpPr/>
          <p:nvPr/>
        </p:nvSpPr>
        <p:spPr>
          <a:xfrm>
            <a:off x="548640" y="594360"/>
            <a:ext cx="10972800" cy="68580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Flat Structure: Pros &amp; Cons</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Shape 3"/>
          <p:cNvSpPr/>
          <p:nvPr/>
        </p:nvSpPr>
        <p:spPr>
          <a:xfrm>
            <a:off x="640080" y="1508760"/>
            <a:ext cx="5349240" cy="502920"/>
          </a:xfrm>
          <a:prstGeom prst="roundRect">
            <a:avLst>
              <a:gd name="adj" fmla="val 14545"/>
            </a:avLst>
          </a:prstGeom>
          <a:solidFill>
            <a:srgbClr val="2E8B57"/>
          </a:solidFill>
          <a:ln/>
        </p:spPr>
      </p:sp>
      <p:sp>
        <p:nvSpPr>
          <p:cNvPr id="6" name="Text 4"/>
          <p:cNvSpPr/>
          <p:nvPr/>
        </p:nvSpPr>
        <p:spPr>
          <a:xfrm>
            <a:off x="640080" y="1508760"/>
            <a:ext cx="534924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Advantages</a:t>
            </a:r>
            <a:endParaRPr lang="en-US" sz="1500" dirty="0"/>
          </a:p>
        </p:txBody>
      </p:sp>
      <p:sp>
        <p:nvSpPr>
          <p:cNvPr id="7" name="Text 5"/>
          <p:cNvSpPr/>
          <p:nvPr/>
        </p:nvSpPr>
        <p:spPr>
          <a:xfrm>
            <a:off x="777240" y="2194560"/>
            <a:ext cx="5074920" cy="4206240"/>
          </a:xfrm>
          <a:prstGeom prst="rect">
            <a:avLst/>
          </a:prstGeom>
          <a:noFill/>
          <a:ln/>
        </p:spPr>
        <p:txBody>
          <a:bodyPr wrap="square" rtlCol="0" anchor="ctr"/>
          <a:lstStyle/>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Lower cost — fewer managers needed</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Faster decisions since authority is delegated</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Subordinates work efficiently, feel trusted</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Better communication — fewer levels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Encourages innovation from top management</a:t>
            </a:r>
            <a:endParaRPr lang="en-US" sz="1300" dirty="0"/>
          </a:p>
        </p:txBody>
      </p:sp>
      <p:sp>
        <p:nvSpPr>
          <p:cNvPr id="8" name="Shape 6"/>
          <p:cNvSpPr/>
          <p:nvPr/>
        </p:nvSpPr>
        <p:spPr>
          <a:xfrm>
            <a:off x="6355080" y="1508760"/>
            <a:ext cx="5349240" cy="502920"/>
          </a:xfrm>
          <a:prstGeom prst="roundRect">
            <a:avLst>
              <a:gd name="adj" fmla="val 14545"/>
            </a:avLst>
          </a:prstGeom>
          <a:solidFill>
            <a:srgbClr val="B23A48"/>
          </a:solidFill>
          <a:ln/>
        </p:spPr>
      </p:sp>
      <p:sp>
        <p:nvSpPr>
          <p:cNvPr id="9" name="Text 7"/>
          <p:cNvSpPr/>
          <p:nvPr/>
        </p:nvSpPr>
        <p:spPr>
          <a:xfrm>
            <a:off x="6355080" y="1508760"/>
            <a:ext cx="534924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Disadvantages</a:t>
            </a:r>
            <a:endParaRPr lang="en-US" sz="1500" dirty="0"/>
          </a:p>
        </p:txBody>
      </p:sp>
      <p:sp>
        <p:nvSpPr>
          <p:cNvPr id="10" name="Text 8"/>
          <p:cNvSpPr/>
          <p:nvPr/>
        </p:nvSpPr>
        <p:spPr>
          <a:xfrm>
            <a:off x="6492240" y="2194560"/>
            <a:ext cx="5074920" cy="4206240"/>
          </a:xfrm>
          <a:prstGeom prst="rect">
            <a:avLst/>
          </a:prstGeom>
          <a:noFill/>
          <a:ln/>
        </p:spPr>
        <p:txBody>
          <a:bodyPr wrap="square" rtlCol="0" anchor="ctr"/>
          <a:lstStyle/>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Needs highly competent managers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Works best for routine, repetitive work</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Needs educated, capable subordinates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Requires clear plans and policies</a:t>
            </a:r>
            <a:endParaRPr lang="en-US" sz="1300" dirty="0"/>
          </a:p>
        </p:txBody>
      </p:sp>
      <p:pic>
        <p:nvPicPr>
          <p:cNvPr id="11" name="Picture 10" descr="C:\Users\madam\AppData\Local\Temp\UPSA NEW LOGO.png"/>
          <p:cNvPicPr/>
          <p:nvPr/>
        </p:nvPicPr>
        <p:blipFill>
          <a:blip r:embed="rId3" cstate="print"/>
          <a:srcRect/>
          <a:stretch>
            <a:fillRect/>
          </a:stretch>
        </p:blipFill>
        <p:spPr bwMode="auto">
          <a:xfrm>
            <a:off x="6247051" y="153749"/>
            <a:ext cx="5729162" cy="1126412"/>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22960" y="2286000"/>
            <a:ext cx="3657600" cy="1371600"/>
          </a:xfrm>
          <a:prstGeom prst="rect">
            <a:avLst/>
          </a:prstGeom>
          <a:noFill/>
          <a:ln/>
        </p:spPr>
        <p:txBody>
          <a:bodyPr wrap="square" rtlCol="0" anchor="ctr"/>
          <a:lstStyle/>
          <a:p>
            <a:pPr marL="0" indent="0">
              <a:buNone/>
            </a:pPr>
            <a:r>
              <a:rPr lang="en-US" sz="7200" b="1" dirty="0">
                <a:solidFill>
                  <a:srgbClr val="3D85A6"/>
                </a:solidFill>
                <a:latin typeface="Cambria" pitchFamily="34" charset="0"/>
                <a:ea typeface="Cambria" pitchFamily="34" charset="-122"/>
                <a:cs typeface="Cambria" pitchFamily="34" charset="-120"/>
              </a:rPr>
              <a:t>04</a:t>
            </a:r>
            <a:endParaRPr lang="en-US" sz="7200" dirty="0"/>
          </a:p>
        </p:txBody>
      </p:sp>
      <p:sp>
        <p:nvSpPr>
          <p:cNvPr id="3" name="Text 1"/>
          <p:cNvSpPr/>
          <p:nvPr/>
        </p:nvSpPr>
        <p:spPr>
          <a:xfrm>
            <a:off x="822960" y="3383280"/>
            <a:ext cx="9601200" cy="109728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Principles of Organizing</a:t>
            </a:r>
            <a:endParaRPr lang="en-US" sz="3800" dirty="0"/>
          </a:p>
        </p:txBody>
      </p:sp>
      <p:sp>
        <p:nvSpPr>
          <p:cNvPr id="4" name="Shape 2"/>
          <p:cNvSpPr/>
          <p:nvPr/>
        </p:nvSpPr>
        <p:spPr>
          <a:xfrm>
            <a:off x="0" y="0"/>
            <a:ext cx="164592" cy="6858000"/>
          </a:xfrm>
          <a:prstGeom prst="rect">
            <a:avLst/>
          </a:prstGeom>
          <a:solidFill>
            <a:srgbClr val="1C7293"/>
          </a:solidFill>
          <a:ln/>
        </p:spPr>
      </p:sp>
      <p:pic>
        <p:nvPicPr>
          <p:cNvPr id="5" name="Picture 4" descr="C:\Users\madam\AppData\Local\Temp\UPSA NEW LOGO.png"/>
          <p:cNvPicPr/>
          <p:nvPr/>
        </p:nvPicPr>
        <p:blipFill>
          <a:blip r:embed="rId3" cstate="print"/>
          <a:srcRect/>
          <a:stretch>
            <a:fillRect/>
          </a:stretch>
        </p:blipFill>
        <p:spPr bwMode="auto">
          <a:xfrm>
            <a:off x="6465536" y="331774"/>
            <a:ext cx="5203179" cy="1302818"/>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PRINCIPLES OF ORGANIZING</a:t>
            </a:r>
            <a:endParaRPr lang="en-US" sz="1200" dirty="0"/>
          </a:p>
        </p:txBody>
      </p:sp>
      <p:sp>
        <p:nvSpPr>
          <p:cNvPr id="3" name="Text 1"/>
          <p:cNvSpPr/>
          <p:nvPr/>
        </p:nvSpPr>
        <p:spPr>
          <a:xfrm>
            <a:off x="548640" y="594360"/>
            <a:ext cx="10972800" cy="68580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Principles 1–8</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Shape 3"/>
          <p:cNvSpPr/>
          <p:nvPr/>
        </p:nvSpPr>
        <p:spPr>
          <a:xfrm>
            <a:off x="548640" y="1463040"/>
            <a:ext cx="5394960" cy="1033272"/>
          </a:xfrm>
          <a:prstGeom prst="roundRect">
            <a:avLst>
              <a:gd name="adj" fmla="val 5310"/>
            </a:avLst>
          </a:prstGeom>
          <a:solidFill>
            <a:srgbClr val="EAF3F7"/>
          </a:solidFill>
          <a:ln/>
        </p:spPr>
      </p:sp>
      <p:sp>
        <p:nvSpPr>
          <p:cNvPr id="6" name="Text 4"/>
          <p:cNvSpPr/>
          <p:nvPr/>
        </p:nvSpPr>
        <p:spPr>
          <a:xfrm>
            <a:off x="731520" y="1517904"/>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1. Unity of Objectives</a:t>
            </a:r>
            <a:endParaRPr lang="en-US" sz="1300" dirty="0"/>
          </a:p>
        </p:txBody>
      </p:sp>
      <p:sp>
        <p:nvSpPr>
          <p:cNvPr id="7" name="Text 5"/>
          <p:cNvSpPr/>
          <p:nvPr/>
        </p:nvSpPr>
        <p:spPr>
          <a:xfrm>
            <a:off x="731520" y="1810512"/>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All activities aim toward shared, clearly understood goals.</a:t>
            </a:r>
            <a:endParaRPr lang="en-US" sz="1100" dirty="0"/>
          </a:p>
        </p:txBody>
      </p:sp>
      <p:sp>
        <p:nvSpPr>
          <p:cNvPr id="8" name="Shape 6"/>
          <p:cNvSpPr/>
          <p:nvPr/>
        </p:nvSpPr>
        <p:spPr>
          <a:xfrm>
            <a:off x="548640" y="2633472"/>
            <a:ext cx="5394960" cy="1033272"/>
          </a:xfrm>
          <a:prstGeom prst="roundRect">
            <a:avLst>
              <a:gd name="adj" fmla="val 5310"/>
            </a:avLst>
          </a:prstGeom>
          <a:solidFill>
            <a:srgbClr val="EAF3F7"/>
          </a:solidFill>
          <a:ln/>
        </p:spPr>
      </p:sp>
      <p:sp>
        <p:nvSpPr>
          <p:cNvPr id="9" name="Text 7"/>
          <p:cNvSpPr/>
          <p:nvPr/>
        </p:nvSpPr>
        <p:spPr>
          <a:xfrm>
            <a:off x="731520" y="2688336"/>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2. Organizational Efficiency</a:t>
            </a:r>
            <a:endParaRPr lang="en-US" sz="1300" dirty="0"/>
          </a:p>
        </p:txBody>
      </p:sp>
      <p:sp>
        <p:nvSpPr>
          <p:cNvPr id="10" name="Text 8"/>
          <p:cNvSpPr/>
          <p:nvPr/>
        </p:nvSpPr>
        <p:spPr>
          <a:xfrm>
            <a:off x="731520" y="2980944"/>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Achieve goals using minimum resources for maximum output.</a:t>
            </a:r>
            <a:endParaRPr lang="en-US" sz="1100" dirty="0"/>
          </a:p>
        </p:txBody>
      </p:sp>
      <p:sp>
        <p:nvSpPr>
          <p:cNvPr id="11" name="Shape 9"/>
          <p:cNvSpPr/>
          <p:nvPr/>
        </p:nvSpPr>
        <p:spPr>
          <a:xfrm>
            <a:off x="548640" y="3803904"/>
            <a:ext cx="5394960" cy="1033272"/>
          </a:xfrm>
          <a:prstGeom prst="roundRect">
            <a:avLst>
              <a:gd name="adj" fmla="val 5310"/>
            </a:avLst>
          </a:prstGeom>
          <a:solidFill>
            <a:srgbClr val="EAF3F7"/>
          </a:solidFill>
          <a:ln/>
        </p:spPr>
      </p:sp>
      <p:sp>
        <p:nvSpPr>
          <p:cNvPr id="12" name="Text 10"/>
          <p:cNvSpPr/>
          <p:nvPr/>
        </p:nvSpPr>
        <p:spPr>
          <a:xfrm>
            <a:off x="731520" y="3858768"/>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3. Division of Labour</a:t>
            </a:r>
            <a:endParaRPr lang="en-US" sz="1300" dirty="0"/>
          </a:p>
        </p:txBody>
      </p:sp>
      <p:sp>
        <p:nvSpPr>
          <p:cNvPr id="13" name="Text 11"/>
          <p:cNvSpPr/>
          <p:nvPr/>
        </p:nvSpPr>
        <p:spPr>
          <a:xfrm>
            <a:off x="731520" y="4151376"/>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Break the main task into smaller units of work.</a:t>
            </a:r>
            <a:endParaRPr lang="en-US" sz="1100" dirty="0"/>
          </a:p>
        </p:txBody>
      </p:sp>
      <p:sp>
        <p:nvSpPr>
          <p:cNvPr id="14" name="Shape 12"/>
          <p:cNvSpPr/>
          <p:nvPr/>
        </p:nvSpPr>
        <p:spPr>
          <a:xfrm>
            <a:off x="548640" y="4974336"/>
            <a:ext cx="5394960" cy="1033272"/>
          </a:xfrm>
          <a:prstGeom prst="roundRect">
            <a:avLst>
              <a:gd name="adj" fmla="val 5310"/>
            </a:avLst>
          </a:prstGeom>
          <a:solidFill>
            <a:srgbClr val="EAF3F7"/>
          </a:solidFill>
          <a:ln/>
        </p:spPr>
      </p:sp>
      <p:sp>
        <p:nvSpPr>
          <p:cNvPr id="15" name="Text 13"/>
          <p:cNvSpPr/>
          <p:nvPr/>
        </p:nvSpPr>
        <p:spPr>
          <a:xfrm>
            <a:off x="731520" y="5029200"/>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4. Authority-Responsibility</a:t>
            </a:r>
            <a:endParaRPr lang="en-US" sz="1300" dirty="0"/>
          </a:p>
        </p:txBody>
      </p:sp>
      <p:sp>
        <p:nvSpPr>
          <p:cNvPr id="16" name="Text 14"/>
          <p:cNvSpPr/>
          <p:nvPr/>
        </p:nvSpPr>
        <p:spPr>
          <a:xfrm>
            <a:off x="731520" y="5321808"/>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Authority and responsibility must go hand in hand.</a:t>
            </a:r>
            <a:endParaRPr lang="en-US" sz="1100" dirty="0"/>
          </a:p>
        </p:txBody>
      </p:sp>
      <p:sp>
        <p:nvSpPr>
          <p:cNvPr id="17" name="Shape 15"/>
          <p:cNvSpPr/>
          <p:nvPr/>
        </p:nvSpPr>
        <p:spPr>
          <a:xfrm>
            <a:off x="6309360" y="1463040"/>
            <a:ext cx="5394960" cy="1033272"/>
          </a:xfrm>
          <a:prstGeom prst="roundRect">
            <a:avLst>
              <a:gd name="adj" fmla="val 5310"/>
            </a:avLst>
          </a:prstGeom>
          <a:solidFill>
            <a:srgbClr val="EAF3F7"/>
          </a:solidFill>
          <a:ln/>
        </p:spPr>
      </p:sp>
      <p:sp>
        <p:nvSpPr>
          <p:cNvPr id="18" name="Text 16"/>
          <p:cNvSpPr/>
          <p:nvPr/>
        </p:nvSpPr>
        <p:spPr>
          <a:xfrm>
            <a:off x="6492240" y="1517904"/>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5. Delegation</a:t>
            </a:r>
            <a:endParaRPr lang="en-US" sz="1300" dirty="0"/>
          </a:p>
        </p:txBody>
      </p:sp>
      <p:sp>
        <p:nvSpPr>
          <p:cNvPr id="19" name="Text 17"/>
          <p:cNvSpPr/>
          <p:nvPr/>
        </p:nvSpPr>
        <p:spPr>
          <a:xfrm>
            <a:off x="6492240" y="1810512"/>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Assign parts of the workload — plus the authority to do it — to subordinates.</a:t>
            </a:r>
            <a:endParaRPr lang="en-US" sz="1100" dirty="0"/>
          </a:p>
        </p:txBody>
      </p:sp>
      <p:sp>
        <p:nvSpPr>
          <p:cNvPr id="20" name="Shape 18"/>
          <p:cNvSpPr/>
          <p:nvPr/>
        </p:nvSpPr>
        <p:spPr>
          <a:xfrm>
            <a:off x="6309360" y="2633472"/>
            <a:ext cx="5394960" cy="1033272"/>
          </a:xfrm>
          <a:prstGeom prst="roundRect">
            <a:avLst>
              <a:gd name="adj" fmla="val 5310"/>
            </a:avLst>
          </a:prstGeom>
          <a:solidFill>
            <a:srgbClr val="EAF3F7"/>
          </a:solidFill>
          <a:ln/>
        </p:spPr>
      </p:sp>
      <p:sp>
        <p:nvSpPr>
          <p:cNvPr id="21" name="Text 19"/>
          <p:cNvSpPr/>
          <p:nvPr/>
        </p:nvSpPr>
        <p:spPr>
          <a:xfrm>
            <a:off x="6492240" y="2688336"/>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6. Scalar Chain</a:t>
            </a:r>
            <a:endParaRPr lang="en-US" sz="1300" dirty="0"/>
          </a:p>
        </p:txBody>
      </p:sp>
      <p:sp>
        <p:nvSpPr>
          <p:cNvPr id="22" name="Text 20"/>
          <p:cNvSpPr/>
          <p:nvPr/>
        </p:nvSpPr>
        <p:spPr>
          <a:xfrm>
            <a:off x="6492240" y="2980944"/>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Authority flows top to bottom; responsibility flows bottom to top.</a:t>
            </a:r>
            <a:endParaRPr lang="en-US" sz="1100" dirty="0"/>
          </a:p>
        </p:txBody>
      </p:sp>
      <p:sp>
        <p:nvSpPr>
          <p:cNvPr id="23" name="Shape 21"/>
          <p:cNvSpPr/>
          <p:nvPr/>
        </p:nvSpPr>
        <p:spPr>
          <a:xfrm>
            <a:off x="6309360" y="3803904"/>
            <a:ext cx="5394960" cy="1033272"/>
          </a:xfrm>
          <a:prstGeom prst="roundRect">
            <a:avLst>
              <a:gd name="adj" fmla="val 5310"/>
            </a:avLst>
          </a:prstGeom>
          <a:solidFill>
            <a:srgbClr val="EAF3F7"/>
          </a:solidFill>
          <a:ln/>
        </p:spPr>
      </p:sp>
      <p:sp>
        <p:nvSpPr>
          <p:cNvPr id="24" name="Text 22"/>
          <p:cNvSpPr/>
          <p:nvPr/>
        </p:nvSpPr>
        <p:spPr>
          <a:xfrm>
            <a:off x="6492240" y="3858768"/>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7. Span of Control</a:t>
            </a:r>
            <a:endParaRPr lang="en-US" sz="1300" dirty="0"/>
          </a:p>
        </p:txBody>
      </p:sp>
      <p:sp>
        <p:nvSpPr>
          <p:cNvPr id="25" name="Text 23"/>
          <p:cNvSpPr/>
          <p:nvPr/>
        </p:nvSpPr>
        <p:spPr>
          <a:xfrm>
            <a:off x="6492240" y="4151376"/>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Limit how many workers one manager can effectively supervise.</a:t>
            </a:r>
            <a:endParaRPr lang="en-US" sz="1100" dirty="0"/>
          </a:p>
        </p:txBody>
      </p:sp>
      <p:sp>
        <p:nvSpPr>
          <p:cNvPr id="26" name="Shape 24"/>
          <p:cNvSpPr/>
          <p:nvPr/>
        </p:nvSpPr>
        <p:spPr>
          <a:xfrm>
            <a:off x="6309360" y="4974336"/>
            <a:ext cx="5394960" cy="1033272"/>
          </a:xfrm>
          <a:prstGeom prst="roundRect">
            <a:avLst>
              <a:gd name="adj" fmla="val 5310"/>
            </a:avLst>
          </a:prstGeom>
          <a:solidFill>
            <a:srgbClr val="EAF3F7"/>
          </a:solidFill>
          <a:ln/>
        </p:spPr>
      </p:sp>
      <p:sp>
        <p:nvSpPr>
          <p:cNvPr id="27" name="Text 25"/>
          <p:cNvSpPr/>
          <p:nvPr/>
        </p:nvSpPr>
        <p:spPr>
          <a:xfrm>
            <a:off x="6492240" y="5029200"/>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8. Unity of Command</a:t>
            </a:r>
            <a:endParaRPr lang="en-US" sz="1300" dirty="0"/>
          </a:p>
        </p:txBody>
      </p:sp>
      <p:sp>
        <p:nvSpPr>
          <p:cNvPr id="28" name="Text 26"/>
          <p:cNvSpPr/>
          <p:nvPr/>
        </p:nvSpPr>
        <p:spPr>
          <a:xfrm>
            <a:off x="6492240" y="5321808"/>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Each employee should report to only one boss.</a:t>
            </a:r>
            <a:endParaRPr lang="en-US" sz="1100" dirty="0"/>
          </a:p>
        </p:txBody>
      </p:sp>
      <p:pic>
        <p:nvPicPr>
          <p:cNvPr id="29" name="Picture 28" descr="C:\Users\madam\AppData\Local\Temp\UPSA NEW LOGO.png"/>
          <p:cNvPicPr/>
          <p:nvPr/>
        </p:nvPicPr>
        <p:blipFill>
          <a:blip r:embed="rId3" cstate="print"/>
          <a:srcRect/>
          <a:stretch>
            <a:fillRect/>
          </a:stretch>
        </p:blipFill>
        <p:spPr bwMode="auto">
          <a:xfrm>
            <a:off x="6902506" y="169933"/>
            <a:ext cx="4919957" cy="826763"/>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PRINCIPLES OF ORGANIZING</a:t>
            </a:r>
            <a:endParaRPr lang="en-US" sz="1200" dirty="0"/>
          </a:p>
        </p:txBody>
      </p:sp>
      <p:sp>
        <p:nvSpPr>
          <p:cNvPr id="3" name="Text 1"/>
          <p:cNvSpPr/>
          <p:nvPr/>
        </p:nvSpPr>
        <p:spPr>
          <a:xfrm>
            <a:off x="548640" y="594360"/>
            <a:ext cx="10972800" cy="68580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Principles 9–17</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Shape 3"/>
          <p:cNvSpPr/>
          <p:nvPr/>
        </p:nvSpPr>
        <p:spPr>
          <a:xfrm>
            <a:off x="548640" y="1463040"/>
            <a:ext cx="5394960" cy="1033272"/>
          </a:xfrm>
          <a:prstGeom prst="roundRect">
            <a:avLst>
              <a:gd name="adj" fmla="val 5310"/>
            </a:avLst>
          </a:prstGeom>
          <a:solidFill>
            <a:srgbClr val="EAF3F7"/>
          </a:solidFill>
          <a:ln/>
        </p:spPr>
      </p:sp>
      <p:sp>
        <p:nvSpPr>
          <p:cNvPr id="6" name="Text 4"/>
          <p:cNvSpPr/>
          <p:nvPr/>
        </p:nvSpPr>
        <p:spPr>
          <a:xfrm>
            <a:off x="731520" y="1517904"/>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9. Balance</a:t>
            </a:r>
            <a:endParaRPr lang="en-US" sz="1300" dirty="0"/>
          </a:p>
        </p:txBody>
      </p:sp>
      <p:sp>
        <p:nvSpPr>
          <p:cNvPr id="7" name="Text 5"/>
          <p:cNvSpPr/>
          <p:nvPr/>
        </p:nvSpPr>
        <p:spPr>
          <a:xfrm>
            <a:off x="731520" y="1810512"/>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Keep balance between centralization/decentralization and span of control.</a:t>
            </a:r>
            <a:endParaRPr lang="en-US" sz="1100" dirty="0"/>
          </a:p>
        </p:txBody>
      </p:sp>
      <p:sp>
        <p:nvSpPr>
          <p:cNvPr id="8" name="Shape 6"/>
          <p:cNvSpPr/>
          <p:nvPr/>
        </p:nvSpPr>
        <p:spPr>
          <a:xfrm>
            <a:off x="548640" y="2633472"/>
            <a:ext cx="5394960" cy="1033272"/>
          </a:xfrm>
          <a:prstGeom prst="roundRect">
            <a:avLst>
              <a:gd name="adj" fmla="val 5310"/>
            </a:avLst>
          </a:prstGeom>
          <a:solidFill>
            <a:srgbClr val="EAF3F7"/>
          </a:solidFill>
          <a:ln/>
        </p:spPr>
      </p:sp>
      <p:sp>
        <p:nvSpPr>
          <p:cNvPr id="9" name="Text 7"/>
          <p:cNvSpPr/>
          <p:nvPr/>
        </p:nvSpPr>
        <p:spPr>
          <a:xfrm>
            <a:off x="731520" y="2688336"/>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10. Flexibility</a:t>
            </a:r>
            <a:endParaRPr lang="en-US" sz="1300" dirty="0"/>
          </a:p>
        </p:txBody>
      </p:sp>
      <p:sp>
        <p:nvSpPr>
          <p:cNvPr id="10" name="Text 8"/>
          <p:cNvSpPr/>
          <p:nvPr/>
        </p:nvSpPr>
        <p:spPr>
          <a:xfrm>
            <a:off x="731520" y="2980944"/>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Structure should adapt as the environment changes.</a:t>
            </a:r>
            <a:endParaRPr lang="en-US" sz="1100" dirty="0"/>
          </a:p>
        </p:txBody>
      </p:sp>
      <p:sp>
        <p:nvSpPr>
          <p:cNvPr id="11" name="Shape 9"/>
          <p:cNvSpPr/>
          <p:nvPr/>
        </p:nvSpPr>
        <p:spPr>
          <a:xfrm>
            <a:off x="548640" y="3803904"/>
            <a:ext cx="5394960" cy="1033272"/>
          </a:xfrm>
          <a:prstGeom prst="roundRect">
            <a:avLst>
              <a:gd name="adj" fmla="val 5310"/>
            </a:avLst>
          </a:prstGeom>
          <a:solidFill>
            <a:srgbClr val="EAF3F7"/>
          </a:solidFill>
          <a:ln/>
        </p:spPr>
      </p:sp>
      <p:sp>
        <p:nvSpPr>
          <p:cNvPr id="12" name="Text 10"/>
          <p:cNvSpPr/>
          <p:nvPr/>
        </p:nvSpPr>
        <p:spPr>
          <a:xfrm>
            <a:off x="731520" y="3858768"/>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11. Continuity</a:t>
            </a:r>
            <a:endParaRPr lang="en-US" sz="1300" dirty="0"/>
          </a:p>
        </p:txBody>
      </p:sp>
      <p:sp>
        <p:nvSpPr>
          <p:cNvPr id="13" name="Text 11"/>
          <p:cNvSpPr/>
          <p:nvPr/>
        </p:nvSpPr>
        <p:spPr>
          <a:xfrm>
            <a:off x="731520" y="4151376"/>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Organization should evolve for long-term survival and growth.</a:t>
            </a:r>
            <a:endParaRPr lang="en-US" sz="1100" dirty="0"/>
          </a:p>
        </p:txBody>
      </p:sp>
      <p:sp>
        <p:nvSpPr>
          <p:cNvPr id="14" name="Shape 12"/>
          <p:cNvSpPr/>
          <p:nvPr/>
        </p:nvSpPr>
        <p:spPr>
          <a:xfrm>
            <a:off x="548640" y="4974336"/>
            <a:ext cx="5394960" cy="1033272"/>
          </a:xfrm>
          <a:prstGeom prst="roundRect">
            <a:avLst>
              <a:gd name="adj" fmla="val 5310"/>
            </a:avLst>
          </a:prstGeom>
          <a:solidFill>
            <a:srgbClr val="EAF3F7"/>
          </a:solidFill>
          <a:ln/>
        </p:spPr>
      </p:sp>
      <p:sp>
        <p:nvSpPr>
          <p:cNvPr id="15" name="Text 13"/>
          <p:cNvSpPr/>
          <p:nvPr/>
        </p:nvSpPr>
        <p:spPr>
          <a:xfrm>
            <a:off x="731520" y="5029200"/>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12. Exception</a:t>
            </a:r>
            <a:endParaRPr lang="en-US" sz="1300" dirty="0"/>
          </a:p>
        </p:txBody>
      </p:sp>
      <p:sp>
        <p:nvSpPr>
          <p:cNvPr id="16" name="Text 14"/>
          <p:cNvSpPr/>
          <p:nvPr/>
        </p:nvSpPr>
        <p:spPr>
          <a:xfrm>
            <a:off x="731520" y="5321808"/>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Only significant issues get escalated to top managers.</a:t>
            </a:r>
            <a:endParaRPr lang="en-US" sz="1100" dirty="0"/>
          </a:p>
        </p:txBody>
      </p:sp>
      <p:sp>
        <p:nvSpPr>
          <p:cNvPr id="17" name="Shape 15"/>
          <p:cNvSpPr/>
          <p:nvPr/>
        </p:nvSpPr>
        <p:spPr>
          <a:xfrm>
            <a:off x="6309360" y="1463040"/>
            <a:ext cx="5394960" cy="1033272"/>
          </a:xfrm>
          <a:prstGeom prst="roundRect">
            <a:avLst>
              <a:gd name="adj" fmla="val 5310"/>
            </a:avLst>
          </a:prstGeom>
          <a:solidFill>
            <a:srgbClr val="EAF3F7"/>
          </a:solidFill>
          <a:ln/>
        </p:spPr>
      </p:sp>
      <p:sp>
        <p:nvSpPr>
          <p:cNvPr id="18" name="Text 16"/>
          <p:cNvSpPr/>
          <p:nvPr/>
        </p:nvSpPr>
        <p:spPr>
          <a:xfrm>
            <a:off x="6492240" y="1517904"/>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13. Simplicity</a:t>
            </a:r>
            <a:endParaRPr lang="en-US" sz="1300" dirty="0"/>
          </a:p>
        </p:txBody>
      </p:sp>
      <p:sp>
        <p:nvSpPr>
          <p:cNvPr id="19" name="Text 17"/>
          <p:cNvSpPr/>
          <p:nvPr/>
        </p:nvSpPr>
        <p:spPr>
          <a:xfrm>
            <a:off x="6492240" y="1810512"/>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Keep the structure simple so everyone understands their role.</a:t>
            </a:r>
            <a:endParaRPr lang="en-US" sz="1100" dirty="0"/>
          </a:p>
        </p:txBody>
      </p:sp>
      <p:sp>
        <p:nvSpPr>
          <p:cNvPr id="20" name="Shape 18"/>
          <p:cNvSpPr/>
          <p:nvPr/>
        </p:nvSpPr>
        <p:spPr>
          <a:xfrm>
            <a:off x="6309360" y="2633472"/>
            <a:ext cx="5394960" cy="1033272"/>
          </a:xfrm>
          <a:prstGeom prst="roundRect">
            <a:avLst>
              <a:gd name="adj" fmla="val 5310"/>
            </a:avLst>
          </a:prstGeom>
          <a:solidFill>
            <a:srgbClr val="EAF3F7"/>
          </a:solidFill>
          <a:ln/>
        </p:spPr>
      </p:sp>
      <p:sp>
        <p:nvSpPr>
          <p:cNvPr id="21" name="Text 19"/>
          <p:cNvSpPr/>
          <p:nvPr/>
        </p:nvSpPr>
        <p:spPr>
          <a:xfrm>
            <a:off x="6492240" y="2688336"/>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14. Departmentation</a:t>
            </a:r>
            <a:endParaRPr lang="en-US" sz="1300" dirty="0"/>
          </a:p>
        </p:txBody>
      </p:sp>
      <p:sp>
        <p:nvSpPr>
          <p:cNvPr id="22" name="Text 20"/>
          <p:cNvSpPr/>
          <p:nvPr/>
        </p:nvSpPr>
        <p:spPr>
          <a:xfrm>
            <a:off x="6492240" y="2980944"/>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Group similar activities into specialized departments.</a:t>
            </a:r>
            <a:endParaRPr lang="en-US" sz="1100" dirty="0"/>
          </a:p>
        </p:txBody>
      </p:sp>
      <p:sp>
        <p:nvSpPr>
          <p:cNvPr id="23" name="Shape 21"/>
          <p:cNvSpPr/>
          <p:nvPr/>
        </p:nvSpPr>
        <p:spPr>
          <a:xfrm>
            <a:off x="6309360" y="3803904"/>
            <a:ext cx="5394960" cy="1033272"/>
          </a:xfrm>
          <a:prstGeom prst="roundRect">
            <a:avLst>
              <a:gd name="adj" fmla="val 5310"/>
            </a:avLst>
          </a:prstGeom>
          <a:solidFill>
            <a:srgbClr val="EAF3F7"/>
          </a:solidFill>
          <a:ln/>
        </p:spPr>
      </p:sp>
      <p:sp>
        <p:nvSpPr>
          <p:cNvPr id="24" name="Text 22"/>
          <p:cNvSpPr/>
          <p:nvPr/>
        </p:nvSpPr>
        <p:spPr>
          <a:xfrm>
            <a:off x="6492240" y="3858768"/>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15. Decentralization</a:t>
            </a:r>
            <a:endParaRPr lang="en-US" sz="1300" dirty="0"/>
          </a:p>
        </p:txBody>
      </p:sp>
      <p:sp>
        <p:nvSpPr>
          <p:cNvPr id="25" name="Text 23"/>
          <p:cNvSpPr/>
          <p:nvPr/>
        </p:nvSpPr>
        <p:spPr>
          <a:xfrm>
            <a:off x="6492240" y="4151376"/>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Delegate more decision-making power to lower-level managers.</a:t>
            </a:r>
            <a:endParaRPr lang="en-US" sz="1100" dirty="0"/>
          </a:p>
        </p:txBody>
      </p:sp>
      <p:sp>
        <p:nvSpPr>
          <p:cNvPr id="26" name="Shape 24"/>
          <p:cNvSpPr/>
          <p:nvPr/>
        </p:nvSpPr>
        <p:spPr>
          <a:xfrm>
            <a:off x="6309360" y="4974336"/>
            <a:ext cx="5394960" cy="1033272"/>
          </a:xfrm>
          <a:prstGeom prst="roundRect">
            <a:avLst>
              <a:gd name="adj" fmla="val 5310"/>
            </a:avLst>
          </a:prstGeom>
          <a:solidFill>
            <a:srgbClr val="EAF3F7"/>
          </a:solidFill>
          <a:ln/>
        </p:spPr>
      </p:sp>
      <p:sp>
        <p:nvSpPr>
          <p:cNvPr id="27" name="Text 25"/>
          <p:cNvSpPr/>
          <p:nvPr/>
        </p:nvSpPr>
        <p:spPr>
          <a:xfrm>
            <a:off x="6492240" y="5029200"/>
            <a:ext cx="5029200" cy="29260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16. Unity of Direction</a:t>
            </a:r>
            <a:endParaRPr lang="en-US" sz="1300" dirty="0"/>
          </a:p>
        </p:txBody>
      </p:sp>
      <p:sp>
        <p:nvSpPr>
          <p:cNvPr id="28" name="Text 26"/>
          <p:cNvSpPr/>
          <p:nvPr/>
        </p:nvSpPr>
        <p:spPr>
          <a:xfrm>
            <a:off x="6492240" y="5321808"/>
            <a:ext cx="5029200" cy="667512"/>
          </a:xfrm>
          <a:prstGeom prst="rect">
            <a:avLst/>
          </a:prstGeom>
          <a:noFill/>
          <a:ln/>
        </p:spPr>
        <p:txBody>
          <a:bodyPr wrap="square" rtlCol="0" anchor="t"/>
          <a:lstStyle/>
          <a:p>
            <a:pPr marL="0" indent="0">
              <a:buNone/>
            </a:pPr>
            <a:r>
              <a:rPr lang="en-US" sz="1100" dirty="0">
                <a:solidFill>
                  <a:srgbClr val="222222"/>
                </a:solidFill>
                <a:latin typeface="Calibri" pitchFamily="34" charset="0"/>
                <a:ea typeface="Calibri" pitchFamily="34" charset="-122"/>
                <a:cs typeface="Calibri" pitchFamily="34" charset="-120"/>
              </a:rPr>
              <a:t>One plan, one goal per department.</a:t>
            </a:r>
            <a:endParaRPr lang="en-US" sz="1100" dirty="0"/>
          </a:p>
        </p:txBody>
      </p:sp>
      <p:pic>
        <p:nvPicPr>
          <p:cNvPr id="29" name="Picture 28" descr="C:\Users\madam\AppData\Local\Temp\UPSA NEW LOGO.png"/>
          <p:cNvPicPr/>
          <p:nvPr/>
        </p:nvPicPr>
        <p:blipFill>
          <a:blip r:embed="rId3" cstate="print"/>
          <a:srcRect/>
          <a:stretch>
            <a:fillRect/>
          </a:stretch>
        </p:blipFill>
        <p:spPr bwMode="auto">
          <a:xfrm>
            <a:off x="6748757" y="178025"/>
            <a:ext cx="4772683" cy="818671"/>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PRINCIPLES OF ORGANIZING</a:t>
            </a:r>
            <a:endParaRPr lang="en-US" sz="1200" dirty="0"/>
          </a:p>
        </p:txBody>
      </p:sp>
      <p:sp>
        <p:nvSpPr>
          <p:cNvPr id="3" name="Text 1"/>
          <p:cNvSpPr/>
          <p:nvPr/>
        </p:nvSpPr>
        <p:spPr>
          <a:xfrm>
            <a:off x="548640" y="594360"/>
            <a:ext cx="10972800" cy="68580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17. Principle of Co-operation</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Text 3"/>
          <p:cNvSpPr/>
          <p:nvPr/>
        </p:nvSpPr>
        <p:spPr>
          <a:xfrm>
            <a:off x="640080" y="1508760"/>
            <a:ext cx="10881360" cy="4754880"/>
          </a:xfrm>
          <a:prstGeom prst="rect">
            <a:avLst/>
          </a:prstGeom>
          <a:noFill/>
          <a:ln/>
        </p:spPr>
        <p:txBody>
          <a:bodyPr wrap="square" rtlCol="0" anchor="t"/>
          <a:lstStyle/>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All individuals and departments should co-operate with one another.</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Cooperation helps the whole organization achieve its shared goals.</a:t>
            </a:r>
            <a:endParaRPr lang="en-US" sz="1600" dirty="0"/>
          </a:p>
        </p:txBody>
      </p:sp>
      <p:pic>
        <p:nvPicPr>
          <p:cNvPr id="6" name="Picture 5" descr="C:\Users\madam\AppData\Local\Temp\UPSA NEW LOGO.png"/>
          <p:cNvPicPr/>
          <p:nvPr/>
        </p:nvPicPr>
        <p:blipFill>
          <a:blip r:embed="rId3" cstate="print"/>
          <a:srcRect/>
          <a:stretch>
            <a:fillRect/>
          </a:stretch>
        </p:blipFill>
        <p:spPr bwMode="auto">
          <a:xfrm>
            <a:off x="6206591" y="339865"/>
            <a:ext cx="5575412" cy="1035782"/>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822960" y="2286000"/>
            <a:ext cx="3657600" cy="1371600"/>
          </a:xfrm>
          <a:prstGeom prst="rect">
            <a:avLst/>
          </a:prstGeom>
          <a:noFill/>
          <a:ln/>
        </p:spPr>
        <p:txBody>
          <a:bodyPr wrap="square" rtlCol="0" anchor="ctr"/>
          <a:lstStyle/>
          <a:p>
            <a:pPr marL="0" indent="0">
              <a:buNone/>
            </a:pPr>
            <a:r>
              <a:rPr lang="en-US" sz="7200" b="1" dirty="0">
                <a:solidFill>
                  <a:srgbClr val="3D85A6"/>
                </a:solidFill>
                <a:latin typeface="Cambria" pitchFamily="34" charset="0"/>
                <a:ea typeface="Cambria" pitchFamily="34" charset="-122"/>
                <a:cs typeface="Cambria" pitchFamily="34" charset="-120"/>
              </a:rPr>
              <a:t>05</a:t>
            </a:r>
            <a:endParaRPr lang="en-US" sz="7200" dirty="0"/>
          </a:p>
        </p:txBody>
      </p:sp>
      <p:sp>
        <p:nvSpPr>
          <p:cNvPr id="3" name="Text 1"/>
          <p:cNvSpPr/>
          <p:nvPr/>
        </p:nvSpPr>
        <p:spPr>
          <a:xfrm>
            <a:off x="822960" y="3383280"/>
            <a:ext cx="9601200" cy="109728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Formal &amp; Informal Organization</a:t>
            </a:r>
            <a:endParaRPr lang="en-US" sz="3800" dirty="0"/>
          </a:p>
        </p:txBody>
      </p:sp>
      <p:sp>
        <p:nvSpPr>
          <p:cNvPr id="4" name="Shape 2"/>
          <p:cNvSpPr/>
          <p:nvPr/>
        </p:nvSpPr>
        <p:spPr>
          <a:xfrm>
            <a:off x="0" y="0"/>
            <a:ext cx="164592" cy="6858000"/>
          </a:xfrm>
          <a:prstGeom prst="rect">
            <a:avLst/>
          </a:prstGeom>
          <a:solidFill>
            <a:srgbClr val="1C7293"/>
          </a:solidFill>
          <a:ln/>
        </p:spPr>
      </p:sp>
      <p:pic>
        <p:nvPicPr>
          <p:cNvPr id="5" name="Picture 4" descr="C:\Users\madam\AppData\Local\Temp\UPSA NEW LOGO.png"/>
          <p:cNvPicPr/>
          <p:nvPr/>
        </p:nvPicPr>
        <p:blipFill>
          <a:blip r:embed="rId3" cstate="print"/>
          <a:srcRect/>
          <a:stretch>
            <a:fillRect/>
          </a:stretch>
        </p:blipFill>
        <p:spPr bwMode="auto">
          <a:xfrm>
            <a:off x="7120991" y="283222"/>
            <a:ext cx="4887590" cy="1100516"/>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FORMAL ORGANIZATION</a:t>
            </a:r>
            <a:endParaRPr lang="en-US" sz="1200" dirty="0"/>
          </a:p>
        </p:txBody>
      </p:sp>
      <p:sp>
        <p:nvSpPr>
          <p:cNvPr id="3" name="Text 1"/>
          <p:cNvSpPr/>
          <p:nvPr/>
        </p:nvSpPr>
        <p:spPr>
          <a:xfrm>
            <a:off x="548640" y="594360"/>
            <a:ext cx="10972800" cy="68580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What Is It?</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Text 3"/>
          <p:cNvSpPr/>
          <p:nvPr/>
        </p:nvSpPr>
        <p:spPr>
          <a:xfrm>
            <a:off x="640080" y="1554480"/>
            <a:ext cx="10881360" cy="731520"/>
          </a:xfrm>
          <a:prstGeom prst="rect">
            <a:avLst/>
          </a:prstGeom>
          <a:noFill/>
          <a:ln/>
        </p:spPr>
        <p:txBody>
          <a:bodyPr wrap="square" rtlCol="0" anchor="ctr"/>
          <a:lstStyle/>
          <a:p>
            <a:pPr marL="0" indent="0">
              <a:buNone/>
            </a:pPr>
            <a:r>
              <a:rPr lang="en-US" sz="1700" dirty="0">
                <a:solidFill>
                  <a:srgbClr val="222222"/>
                </a:solidFill>
                <a:latin typeface="Calibri" pitchFamily="34" charset="0"/>
                <a:ea typeface="Calibri" pitchFamily="34" charset="-122"/>
                <a:cs typeface="Calibri" pitchFamily="34" charset="-120"/>
              </a:rPr>
              <a:t>A formal organization is the </a:t>
            </a:r>
            <a:r>
              <a:rPr lang="en-US" sz="1700" b="1" dirty="0">
                <a:solidFill>
                  <a:srgbClr val="065A82"/>
                </a:solidFill>
                <a:latin typeface="Calibri" pitchFamily="34" charset="0"/>
                <a:ea typeface="Calibri" pitchFamily="34" charset="-122"/>
                <a:cs typeface="Calibri" pitchFamily="34" charset="-120"/>
              </a:rPr>
              <a:t>official structure</a:t>
            </a:r>
            <a:r>
              <a:rPr lang="en-US" sz="1700" dirty="0">
                <a:solidFill>
                  <a:srgbClr val="222222"/>
                </a:solidFill>
                <a:latin typeface="Calibri" pitchFamily="34" charset="0"/>
                <a:ea typeface="Calibri" pitchFamily="34" charset="-122"/>
                <a:cs typeface="Calibri" pitchFamily="34" charset="-120"/>
              </a:rPr>
              <a:t> of a company.</a:t>
            </a:r>
            <a:endParaRPr lang="en-US" sz="1700" dirty="0"/>
          </a:p>
        </p:txBody>
      </p:sp>
      <p:sp>
        <p:nvSpPr>
          <p:cNvPr id="6" name="Text 4"/>
          <p:cNvSpPr/>
          <p:nvPr/>
        </p:nvSpPr>
        <p:spPr>
          <a:xfrm>
            <a:off x="640080" y="2377440"/>
            <a:ext cx="10881360" cy="2926080"/>
          </a:xfrm>
          <a:prstGeom prst="rect">
            <a:avLst/>
          </a:prstGeom>
          <a:noFill/>
          <a:ln/>
        </p:spPr>
        <p:txBody>
          <a:bodyPr wrap="square" rtlCol="0" anchor="ctr"/>
          <a:lstStyle/>
          <a:p>
            <a:pPr marL="342900" indent="-342900">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Clearly defines authority and responsibility relationships.</a:t>
            </a:r>
            <a:endParaRPr lang="en-US" sz="1500" dirty="0"/>
          </a:p>
          <a:p>
            <a:pPr marL="342900" indent="-342900">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Works along pre-defined policies, plans, procedures, and schedules.</a:t>
            </a:r>
            <a:endParaRPr lang="en-US" sz="1500" dirty="0"/>
          </a:p>
          <a:p>
            <a:pPr marL="342900" indent="-342900">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Most decisions are based on pre-determined policies.</a:t>
            </a:r>
            <a:endParaRPr lang="en-US" sz="1500" dirty="0"/>
          </a:p>
          <a:p>
            <a:pPr marL="342900" indent="-342900">
              <a:spcAft>
                <a:spcPts val="1000"/>
              </a:spcAft>
              <a:buSzPct val="100000"/>
              <a:buChar char="●"/>
            </a:pPr>
            <a:r>
              <a:rPr lang="en-US" sz="1500" dirty="0">
                <a:solidFill>
                  <a:srgbClr val="222222"/>
                </a:solidFill>
                <a:latin typeface="Calibri" pitchFamily="34" charset="0"/>
                <a:ea typeface="Calibri" pitchFamily="34" charset="-122"/>
                <a:cs typeface="Calibri" pitchFamily="34" charset="-120"/>
              </a:rPr>
              <a:t>Louis A. Allen: a system of well-defined jobs, each with clear authority, responsibility, and accountability — designed for people to work effectively together.</a:t>
            </a:r>
            <a:endParaRPr lang="en-US" sz="1500" dirty="0"/>
          </a:p>
        </p:txBody>
      </p:sp>
      <p:sp>
        <p:nvSpPr>
          <p:cNvPr id="7" name="Shape 5"/>
          <p:cNvSpPr/>
          <p:nvPr/>
        </p:nvSpPr>
        <p:spPr>
          <a:xfrm>
            <a:off x="548640" y="5669280"/>
            <a:ext cx="11064240" cy="658368"/>
          </a:xfrm>
          <a:prstGeom prst="roundRect">
            <a:avLst>
              <a:gd name="adj" fmla="val 11111"/>
            </a:avLst>
          </a:prstGeom>
          <a:solidFill>
            <a:srgbClr val="EAF3F7"/>
          </a:solidFill>
          <a:ln/>
        </p:spPr>
      </p:sp>
      <p:sp>
        <p:nvSpPr>
          <p:cNvPr id="8" name="Text 6"/>
          <p:cNvSpPr/>
          <p:nvPr/>
        </p:nvSpPr>
        <p:spPr>
          <a:xfrm>
            <a:off x="777240" y="5724144"/>
            <a:ext cx="10607040" cy="548640"/>
          </a:xfrm>
          <a:prstGeom prst="rect">
            <a:avLst/>
          </a:prstGeom>
          <a:noFill/>
          <a:ln/>
        </p:spPr>
        <p:txBody>
          <a:bodyPr wrap="square" rtlCol="0" anchor="ctr"/>
          <a:lstStyle/>
          <a:p>
            <a:pPr marL="0" indent="0">
              <a:buNone/>
            </a:pPr>
            <a:r>
              <a:rPr lang="en-US" sz="1300" i="1" dirty="0">
                <a:solidFill>
                  <a:srgbClr val="21295C"/>
                </a:solidFill>
                <a:latin typeface="Calibri" pitchFamily="34" charset="0"/>
                <a:ea typeface="Calibri" pitchFamily="34" charset="-122"/>
                <a:cs typeface="Calibri" pitchFamily="34" charset="-120"/>
              </a:rPr>
              <a:t>💡 Think of it as the 'official rulebook' version of how the company works.</a:t>
            </a:r>
            <a:endParaRPr lang="en-US" sz="1300" dirty="0"/>
          </a:p>
        </p:txBody>
      </p:sp>
      <p:pic>
        <p:nvPicPr>
          <p:cNvPr id="9" name="Picture 8" descr="C:\Users\madam\AppData\Local\Temp\UPSA NEW LOGO.png"/>
          <p:cNvPicPr/>
          <p:nvPr/>
        </p:nvPicPr>
        <p:blipFill>
          <a:blip r:embed="rId3" cstate="print"/>
          <a:srcRect/>
          <a:stretch>
            <a:fillRect/>
          </a:stretch>
        </p:blipFill>
        <p:spPr bwMode="auto">
          <a:xfrm>
            <a:off x="6773034" y="161841"/>
            <a:ext cx="5097981" cy="1026879"/>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FORMAL ORGANIZATION</a:t>
            </a:r>
            <a:endParaRPr lang="en-US" sz="1200" dirty="0"/>
          </a:p>
        </p:txBody>
      </p:sp>
      <p:sp>
        <p:nvSpPr>
          <p:cNvPr id="3" name="Text 1"/>
          <p:cNvSpPr/>
          <p:nvPr/>
        </p:nvSpPr>
        <p:spPr>
          <a:xfrm>
            <a:off x="548640" y="594360"/>
            <a:ext cx="10972800" cy="68580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Key Features</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Text 3"/>
          <p:cNvSpPr/>
          <p:nvPr/>
        </p:nvSpPr>
        <p:spPr>
          <a:xfrm>
            <a:off x="640080" y="1508760"/>
            <a:ext cx="10881360" cy="4754880"/>
          </a:xfrm>
          <a:prstGeom prst="rect">
            <a:avLst/>
          </a:prstGeom>
          <a:noFill/>
          <a:ln/>
        </p:spPr>
        <p:txBody>
          <a:bodyPr wrap="square" rtlCol="0" anchor="t"/>
          <a:lstStyle/>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Job-oriented — focuses on jobs first, then assigns people to them.</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Division of work — big jobs split into smaller ones by skill.</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Departmentation — the foundation of the structure.</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Formal authority — power comes from official position.</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Delegation — work and authority flow from top to bottom.</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Coordination — managers align everyone toward common goals.</a:t>
            </a:r>
            <a:endParaRPr lang="en-US" sz="1600" dirty="0"/>
          </a:p>
        </p:txBody>
      </p:sp>
      <p:pic>
        <p:nvPicPr>
          <p:cNvPr id="6" name="Picture 5" descr="C:\Users\madam\AppData\Local\Temp\UPSA NEW LOGO.png"/>
          <p:cNvPicPr/>
          <p:nvPr/>
        </p:nvPicPr>
        <p:blipFill>
          <a:blip r:embed="rId3" cstate="print"/>
          <a:srcRect/>
          <a:stretch>
            <a:fillRect/>
          </a:stretch>
        </p:blipFill>
        <p:spPr bwMode="auto">
          <a:xfrm>
            <a:off x="6870138" y="218485"/>
            <a:ext cx="4814760" cy="971043"/>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FORMAL ORGANIZATION</a:t>
            </a:r>
            <a:endParaRPr lang="en-US" sz="1200" dirty="0"/>
          </a:p>
        </p:txBody>
      </p:sp>
      <p:sp>
        <p:nvSpPr>
          <p:cNvPr id="3" name="Text 1"/>
          <p:cNvSpPr/>
          <p:nvPr/>
        </p:nvSpPr>
        <p:spPr>
          <a:xfrm>
            <a:off x="548640" y="594360"/>
            <a:ext cx="10972800" cy="68580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Formal Organization: Benefits &amp; Limits</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Shape 3"/>
          <p:cNvSpPr/>
          <p:nvPr/>
        </p:nvSpPr>
        <p:spPr>
          <a:xfrm>
            <a:off x="640080" y="1508760"/>
            <a:ext cx="5349240" cy="502920"/>
          </a:xfrm>
          <a:prstGeom prst="roundRect">
            <a:avLst>
              <a:gd name="adj" fmla="val 14545"/>
            </a:avLst>
          </a:prstGeom>
          <a:solidFill>
            <a:srgbClr val="2E8B57"/>
          </a:solidFill>
          <a:ln/>
        </p:spPr>
      </p:sp>
      <p:sp>
        <p:nvSpPr>
          <p:cNvPr id="6" name="Text 4"/>
          <p:cNvSpPr/>
          <p:nvPr/>
        </p:nvSpPr>
        <p:spPr>
          <a:xfrm>
            <a:off x="640080" y="1508760"/>
            <a:ext cx="534924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Benefits</a:t>
            </a:r>
            <a:endParaRPr lang="en-US" sz="1500" dirty="0"/>
          </a:p>
        </p:txBody>
      </p:sp>
      <p:sp>
        <p:nvSpPr>
          <p:cNvPr id="7" name="Text 5"/>
          <p:cNvSpPr/>
          <p:nvPr/>
        </p:nvSpPr>
        <p:spPr>
          <a:xfrm>
            <a:off x="777240" y="2194560"/>
            <a:ext cx="5074920" cy="4206240"/>
          </a:xfrm>
          <a:prstGeom prst="rect">
            <a:avLst/>
          </a:prstGeom>
          <a:noFill/>
          <a:ln/>
        </p:spPr>
        <p:txBody>
          <a:bodyPr wrap="square" rtlCol="0" anchor="ctr"/>
          <a:lstStyle/>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Clear goals and authority relationships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Optimum use of scarce resources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Clear communication system</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Avoids overlapping activities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Clear career advancement paths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Reduces employee turnover</a:t>
            </a:r>
            <a:endParaRPr lang="en-US" sz="1300" dirty="0"/>
          </a:p>
        </p:txBody>
      </p:sp>
      <p:sp>
        <p:nvSpPr>
          <p:cNvPr id="8" name="Shape 6"/>
          <p:cNvSpPr/>
          <p:nvPr/>
        </p:nvSpPr>
        <p:spPr>
          <a:xfrm>
            <a:off x="6355080" y="1508760"/>
            <a:ext cx="5349240" cy="502920"/>
          </a:xfrm>
          <a:prstGeom prst="roundRect">
            <a:avLst>
              <a:gd name="adj" fmla="val 14545"/>
            </a:avLst>
          </a:prstGeom>
          <a:solidFill>
            <a:srgbClr val="B23A48"/>
          </a:solidFill>
          <a:ln/>
        </p:spPr>
      </p:sp>
      <p:sp>
        <p:nvSpPr>
          <p:cNvPr id="9" name="Text 7"/>
          <p:cNvSpPr/>
          <p:nvPr/>
        </p:nvSpPr>
        <p:spPr>
          <a:xfrm>
            <a:off x="6355080" y="1508760"/>
            <a:ext cx="534924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Limitations</a:t>
            </a:r>
            <a:endParaRPr lang="en-US" sz="1500" dirty="0"/>
          </a:p>
        </p:txBody>
      </p:sp>
      <p:sp>
        <p:nvSpPr>
          <p:cNvPr id="10" name="Text 8"/>
          <p:cNvSpPr/>
          <p:nvPr/>
        </p:nvSpPr>
        <p:spPr>
          <a:xfrm>
            <a:off x="6492240" y="2194560"/>
            <a:ext cx="5074920" cy="4206240"/>
          </a:xfrm>
          <a:prstGeom prst="rect">
            <a:avLst/>
          </a:prstGeom>
          <a:noFill/>
          <a:ln/>
        </p:spPr>
        <p:txBody>
          <a:bodyPr wrap="square" rtlCol="0" anchor="ctr"/>
          <a:lstStyle/>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Loss of initiative — too much rule focus limits creativity</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Unsatisfied social needs — limited personal interaction</a:t>
            </a:r>
            <a:endParaRPr lang="en-US" sz="1300" dirty="0"/>
          </a:p>
        </p:txBody>
      </p:sp>
      <p:pic>
        <p:nvPicPr>
          <p:cNvPr id="11" name="Picture 10" descr="C:\Users\madam\AppData\Local\Temp\UPSA NEW LOGO.png"/>
          <p:cNvPicPr/>
          <p:nvPr/>
        </p:nvPicPr>
        <p:blipFill>
          <a:blip r:embed="rId3" cstate="print"/>
          <a:srcRect/>
          <a:stretch>
            <a:fillRect/>
          </a:stretch>
        </p:blipFill>
        <p:spPr bwMode="auto">
          <a:xfrm>
            <a:off x="7129083" y="81349"/>
            <a:ext cx="4894872" cy="1189101"/>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INFORMAL ORGANIZATION</a:t>
            </a:r>
            <a:endParaRPr lang="en-US" sz="1200" dirty="0"/>
          </a:p>
        </p:txBody>
      </p:sp>
      <p:sp>
        <p:nvSpPr>
          <p:cNvPr id="3" name="Text 1"/>
          <p:cNvSpPr/>
          <p:nvPr/>
        </p:nvSpPr>
        <p:spPr>
          <a:xfrm>
            <a:off x="548640" y="594360"/>
            <a:ext cx="10972800" cy="68580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What Is It?</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Text 3"/>
          <p:cNvSpPr/>
          <p:nvPr/>
        </p:nvSpPr>
        <p:spPr>
          <a:xfrm>
            <a:off x="640080" y="1508760"/>
            <a:ext cx="10881360" cy="3931920"/>
          </a:xfrm>
          <a:prstGeom prst="rect">
            <a:avLst/>
          </a:prstGeom>
          <a:noFill/>
          <a:ln/>
        </p:spPr>
        <p:txBody>
          <a:bodyPr wrap="square" rtlCol="0" anchor="ctr"/>
          <a:lstStyle/>
          <a:p>
            <a:pPr marL="342900" indent="-342900">
              <a:spcAft>
                <a:spcPts val="1100"/>
              </a:spcAft>
              <a:buSzPct val="100000"/>
              <a:buChar char="●"/>
            </a:pPr>
            <a:r>
              <a:rPr lang="en-US" sz="1600" dirty="0">
                <a:solidFill>
                  <a:srgbClr val="222222"/>
                </a:solidFill>
                <a:latin typeface="Calibri" pitchFamily="34" charset="0"/>
                <a:ea typeface="Calibri" pitchFamily="34" charset="-122"/>
                <a:cs typeface="Calibri" pitchFamily="34" charset="-120"/>
              </a:rPr>
              <a:t>Unplanned, unofficial social interactions among people at work.</a:t>
            </a:r>
            <a:endParaRPr lang="en-US" sz="1600" dirty="0"/>
          </a:p>
          <a:p>
            <a:pPr marL="342900" indent="-342900">
              <a:spcAft>
                <a:spcPts val="1100"/>
              </a:spcAft>
              <a:buSzPct val="100000"/>
              <a:buChar char="●"/>
            </a:pPr>
            <a:r>
              <a:rPr lang="en-US" sz="1600" dirty="0">
                <a:solidFill>
                  <a:srgbClr val="222222"/>
                </a:solidFill>
                <a:latin typeface="Calibri" pitchFamily="34" charset="0"/>
                <a:ea typeface="Calibri" pitchFamily="34" charset="-122"/>
                <a:cs typeface="Calibri" pitchFamily="34" charset="-120"/>
              </a:rPr>
              <a:t>Arise naturally out of people's common interests.</a:t>
            </a:r>
            <a:endParaRPr lang="en-US" sz="1600" dirty="0"/>
          </a:p>
          <a:p>
            <a:pPr marL="342900" indent="-342900">
              <a:spcAft>
                <a:spcPts val="1100"/>
              </a:spcAft>
              <a:buSzPct val="100000"/>
              <a:buChar char="●"/>
            </a:pPr>
            <a:r>
              <a:rPr lang="en-US" sz="1600" dirty="0">
                <a:solidFill>
                  <a:srgbClr val="222222"/>
                </a:solidFill>
                <a:latin typeface="Calibri" pitchFamily="34" charset="0"/>
                <a:ea typeface="Calibri" pitchFamily="34" charset="-122"/>
                <a:cs typeface="Calibri" pitchFamily="34" charset="-120"/>
              </a:rPr>
              <a:t>Not governed by formal rules, but still an important part of the company.</a:t>
            </a:r>
            <a:endParaRPr lang="en-US" sz="1600" dirty="0"/>
          </a:p>
          <a:p>
            <a:pPr marL="342900" indent="-342900">
              <a:spcAft>
                <a:spcPts val="1100"/>
              </a:spcAft>
              <a:buSzPct val="100000"/>
              <a:buChar char="●"/>
            </a:pPr>
            <a:r>
              <a:rPr lang="en-US" sz="1600" dirty="0">
                <a:solidFill>
                  <a:srgbClr val="222222"/>
                </a:solidFill>
                <a:latin typeface="Calibri" pitchFamily="34" charset="0"/>
                <a:ea typeface="Calibri" pitchFamily="34" charset="-122"/>
                <a:cs typeface="Calibri" pitchFamily="34" charset="-120"/>
              </a:rPr>
              <a:t>E. Wright Bakke calls this the "fusion process."</a:t>
            </a:r>
            <a:endParaRPr lang="en-US" sz="1600" dirty="0"/>
          </a:p>
          <a:p>
            <a:pPr marL="342900" indent="-342900">
              <a:spcAft>
                <a:spcPts val="1100"/>
              </a:spcAft>
              <a:buSzPct val="100000"/>
              <a:buChar char="●"/>
            </a:pPr>
            <a:r>
              <a:rPr lang="en-US" sz="1600" dirty="0">
                <a:solidFill>
                  <a:srgbClr val="222222"/>
                </a:solidFill>
                <a:latin typeface="Calibri" pitchFamily="34" charset="0"/>
                <a:ea typeface="Calibri" pitchFamily="34" charset="-122"/>
                <a:cs typeface="Calibri" pitchFamily="34" charset="-120"/>
              </a:rPr>
              <a:t>People form groups around shared goals — known as group goals.</a:t>
            </a:r>
            <a:endParaRPr lang="en-US" sz="1600" dirty="0"/>
          </a:p>
        </p:txBody>
      </p:sp>
      <p:sp>
        <p:nvSpPr>
          <p:cNvPr id="6" name="Shape 4"/>
          <p:cNvSpPr/>
          <p:nvPr/>
        </p:nvSpPr>
        <p:spPr>
          <a:xfrm>
            <a:off x="548640" y="5669280"/>
            <a:ext cx="11064240" cy="658368"/>
          </a:xfrm>
          <a:prstGeom prst="roundRect">
            <a:avLst>
              <a:gd name="adj" fmla="val 11111"/>
            </a:avLst>
          </a:prstGeom>
          <a:solidFill>
            <a:srgbClr val="EAF3F7"/>
          </a:solidFill>
          <a:ln/>
        </p:spPr>
      </p:sp>
      <p:sp>
        <p:nvSpPr>
          <p:cNvPr id="7" name="Text 5"/>
          <p:cNvSpPr/>
          <p:nvPr/>
        </p:nvSpPr>
        <p:spPr>
          <a:xfrm>
            <a:off x="777240" y="5724144"/>
            <a:ext cx="10607040" cy="548640"/>
          </a:xfrm>
          <a:prstGeom prst="rect">
            <a:avLst/>
          </a:prstGeom>
          <a:noFill/>
          <a:ln/>
        </p:spPr>
        <p:txBody>
          <a:bodyPr wrap="square" rtlCol="0" anchor="ctr"/>
          <a:lstStyle/>
          <a:p>
            <a:pPr marL="0" indent="0">
              <a:buNone/>
            </a:pPr>
            <a:r>
              <a:rPr lang="en-US" sz="1300" i="1" dirty="0">
                <a:solidFill>
                  <a:srgbClr val="21295C"/>
                </a:solidFill>
                <a:latin typeface="Calibri" pitchFamily="34" charset="0"/>
                <a:ea typeface="Calibri" pitchFamily="34" charset="-122"/>
                <a:cs typeface="Calibri" pitchFamily="34" charset="-120"/>
              </a:rPr>
              <a:t>💡 It grows naturally alongside the formal structure as a company gets bigger.</a:t>
            </a:r>
            <a:endParaRPr lang="en-US" sz="1300" dirty="0"/>
          </a:p>
        </p:txBody>
      </p:sp>
      <p:pic>
        <p:nvPicPr>
          <p:cNvPr id="8" name="Picture 7" descr="C:\Users\madam\AppData\Local\Temp\UPSA NEW LOGO.png"/>
          <p:cNvPicPr/>
          <p:nvPr/>
        </p:nvPicPr>
        <p:blipFill>
          <a:blip r:embed="rId3" cstate="print"/>
          <a:srcRect/>
          <a:stretch>
            <a:fillRect/>
          </a:stretch>
        </p:blipFill>
        <p:spPr bwMode="auto">
          <a:xfrm>
            <a:off x="6910597" y="129474"/>
            <a:ext cx="4798577" cy="1232982"/>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INFORMAL ORGANIZATION</a:t>
            </a:r>
            <a:endParaRPr lang="en-US" sz="1200" dirty="0"/>
          </a:p>
        </p:txBody>
      </p:sp>
      <p:sp>
        <p:nvSpPr>
          <p:cNvPr id="3" name="Text 1"/>
          <p:cNvSpPr/>
          <p:nvPr/>
        </p:nvSpPr>
        <p:spPr>
          <a:xfrm>
            <a:off x="548640" y="594360"/>
            <a:ext cx="10972800" cy="68580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Key Features</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Text 3"/>
          <p:cNvSpPr/>
          <p:nvPr/>
        </p:nvSpPr>
        <p:spPr>
          <a:xfrm>
            <a:off x="640080" y="1508760"/>
            <a:ext cx="10881360" cy="4754880"/>
          </a:xfrm>
          <a:prstGeom prst="rect">
            <a:avLst/>
          </a:prstGeom>
          <a:noFill/>
          <a:ln/>
        </p:spPr>
        <p:txBody>
          <a:bodyPr wrap="square" rtlCol="0" anchor="t"/>
          <a:lstStyle/>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Unplanned structure — arises spontaneously from interactions.</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Fulfills social needs — friendship, love, and support.</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No formal structure — not shown on any official chart.</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Informal leaders — chosen naturally by the group.</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Informal communication — faster, skips the chain of command.</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No fixed rules — set and changed by the group itself.</a:t>
            </a:r>
            <a:endParaRPr lang="en-US" sz="1600" dirty="0"/>
          </a:p>
          <a:p>
            <a:pPr marL="228600" indent="-228600">
              <a:spcAft>
                <a:spcPts val="1200"/>
              </a:spcAft>
              <a:buSzPct val="100000"/>
              <a:buChar char="●"/>
            </a:pPr>
            <a:r>
              <a:rPr lang="en-US" sz="1600" dirty="0">
                <a:solidFill>
                  <a:srgbClr val="222222"/>
                </a:solidFill>
                <a:latin typeface="Calibri" pitchFamily="34" charset="0"/>
                <a:ea typeface="Calibri" pitchFamily="34" charset="-122"/>
                <a:cs typeface="Calibri" pitchFamily="34" charset="-120"/>
              </a:rPr>
              <a:t>No fixed tenure — forms and dissolves at will.</a:t>
            </a:r>
            <a:endParaRPr lang="en-US" sz="1600" dirty="0"/>
          </a:p>
        </p:txBody>
      </p:sp>
      <p:pic>
        <p:nvPicPr>
          <p:cNvPr id="6" name="Picture 5" descr="C:\Users\madam\AppData\Local\Temp\UPSA NEW LOGO.png"/>
          <p:cNvPicPr/>
          <p:nvPr/>
        </p:nvPicPr>
        <p:blipFill>
          <a:blip r:embed="rId3" cstate="print"/>
          <a:srcRect/>
          <a:stretch>
            <a:fillRect/>
          </a:stretch>
        </p:blipFill>
        <p:spPr bwMode="auto">
          <a:xfrm>
            <a:off x="6684020" y="320041"/>
            <a:ext cx="4850771" cy="978408"/>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INFORMAL ORGANIZATION</a:t>
            </a:r>
            <a:endParaRPr lang="en-US" sz="1200" dirty="0"/>
          </a:p>
        </p:txBody>
      </p:sp>
      <p:sp>
        <p:nvSpPr>
          <p:cNvPr id="3" name="Text 1"/>
          <p:cNvSpPr/>
          <p:nvPr/>
        </p:nvSpPr>
        <p:spPr>
          <a:xfrm>
            <a:off x="548640" y="594360"/>
            <a:ext cx="10972800" cy="685800"/>
          </a:xfrm>
          <a:prstGeom prst="rect">
            <a:avLst/>
          </a:prstGeom>
          <a:noFill/>
          <a:ln/>
        </p:spPr>
        <p:txBody>
          <a:bodyPr wrap="square" rtlCol="0" anchor="ctr"/>
          <a:lstStyle/>
          <a:p>
            <a:pPr marL="0" indent="0">
              <a:buNone/>
            </a:pPr>
            <a:r>
              <a:rPr lang="en-US" sz="2800" b="1" dirty="0">
                <a:solidFill>
                  <a:srgbClr val="21295C"/>
                </a:solidFill>
                <a:latin typeface="Cambria" pitchFamily="34" charset="0"/>
                <a:ea typeface="Cambria" pitchFamily="34" charset="-122"/>
                <a:cs typeface="Cambria" pitchFamily="34" charset="-120"/>
              </a:rPr>
              <a:t>Informal Organization: Benefits &amp; Limits</a:t>
            </a:r>
            <a:endParaRPr lang="en-US" sz="28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AAAAAA"/>
                </a:solidFill>
                <a:latin typeface="Calibri" pitchFamily="34" charset="0"/>
                <a:ea typeface="Calibri" pitchFamily="34" charset="-122"/>
                <a:cs typeface="Calibri" pitchFamily="34" charset="-120"/>
              </a:rPr>
              <a:t>Organizing — Study Guide</a:t>
            </a:r>
            <a:endParaRPr lang="en-US" sz="900" dirty="0"/>
          </a:p>
        </p:txBody>
      </p:sp>
      <p:sp>
        <p:nvSpPr>
          <p:cNvPr id="5" name="Shape 3"/>
          <p:cNvSpPr/>
          <p:nvPr/>
        </p:nvSpPr>
        <p:spPr>
          <a:xfrm>
            <a:off x="640080" y="1508760"/>
            <a:ext cx="5349240" cy="502920"/>
          </a:xfrm>
          <a:prstGeom prst="roundRect">
            <a:avLst>
              <a:gd name="adj" fmla="val 14545"/>
            </a:avLst>
          </a:prstGeom>
          <a:solidFill>
            <a:srgbClr val="2E8B57"/>
          </a:solidFill>
          <a:ln/>
        </p:spPr>
      </p:sp>
      <p:sp>
        <p:nvSpPr>
          <p:cNvPr id="6" name="Text 4"/>
          <p:cNvSpPr/>
          <p:nvPr/>
        </p:nvSpPr>
        <p:spPr>
          <a:xfrm>
            <a:off x="640080" y="1508760"/>
            <a:ext cx="534924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Benefits</a:t>
            </a:r>
            <a:endParaRPr lang="en-US" sz="1500" dirty="0"/>
          </a:p>
        </p:txBody>
      </p:sp>
      <p:sp>
        <p:nvSpPr>
          <p:cNvPr id="7" name="Text 5"/>
          <p:cNvSpPr/>
          <p:nvPr/>
        </p:nvSpPr>
        <p:spPr>
          <a:xfrm>
            <a:off x="777240" y="2194560"/>
            <a:ext cx="5074920" cy="4206240"/>
          </a:xfrm>
          <a:prstGeom prst="rect">
            <a:avLst/>
          </a:prstGeom>
          <a:noFill/>
          <a:ln/>
        </p:spPr>
        <p:txBody>
          <a:bodyPr wrap="square" rtlCol="0" anchor="ctr"/>
          <a:lstStyle/>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Promotes shared social &amp; cultural values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Relief to top managers via cooperation</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Supplements managers' decision-making</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Gives social satisfaction &amp; security</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Faster communication than formal channels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Better relationships across departments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Helps solve work problems quickly</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Encourages creativity &amp; self-control</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Quick, honest feedback to managers</a:t>
            </a:r>
            <a:endParaRPr lang="en-US" sz="1300" dirty="0"/>
          </a:p>
        </p:txBody>
      </p:sp>
      <p:sp>
        <p:nvSpPr>
          <p:cNvPr id="8" name="Shape 6"/>
          <p:cNvSpPr/>
          <p:nvPr/>
        </p:nvSpPr>
        <p:spPr>
          <a:xfrm>
            <a:off x="6355080" y="1508760"/>
            <a:ext cx="5349240" cy="502920"/>
          </a:xfrm>
          <a:prstGeom prst="roundRect">
            <a:avLst>
              <a:gd name="adj" fmla="val 14545"/>
            </a:avLst>
          </a:prstGeom>
          <a:solidFill>
            <a:srgbClr val="B23A48"/>
          </a:solidFill>
          <a:ln/>
        </p:spPr>
      </p:sp>
      <p:sp>
        <p:nvSpPr>
          <p:cNvPr id="9" name="Text 7"/>
          <p:cNvSpPr/>
          <p:nvPr/>
        </p:nvSpPr>
        <p:spPr>
          <a:xfrm>
            <a:off x="6355080" y="1508760"/>
            <a:ext cx="534924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Limitations</a:t>
            </a:r>
            <a:endParaRPr lang="en-US" sz="1500" dirty="0"/>
          </a:p>
        </p:txBody>
      </p:sp>
      <p:sp>
        <p:nvSpPr>
          <p:cNvPr id="10" name="Text 8"/>
          <p:cNvSpPr/>
          <p:nvPr/>
        </p:nvSpPr>
        <p:spPr>
          <a:xfrm>
            <a:off x="6492240" y="2194560"/>
            <a:ext cx="5074920" cy="4206240"/>
          </a:xfrm>
          <a:prstGeom prst="rect">
            <a:avLst/>
          </a:prstGeom>
          <a:noFill/>
          <a:ln/>
        </p:spPr>
        <p:txBody>
          <a:bodyPr wrap="square" rtlCol="0" anchor="ctr"/>
          <a:lstStyle/>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Excessive conformity within groups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Bad leader attitudes can hurt formal goals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Role conflict between formal &amp; informal duties</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Rumors — false info spreads easily</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Resistance to change to protect the group</a:t>
            </a:r>
            <a:endParaRPr lang="en-US" sz="1300" dirty="0"/>
          </a:p>
          <a:p>
            <a:pPr marL="342900" indent="-342900">
              <a:spcAft>
                <a:spcPts val="1000"/>
              </a:spcAft>
              <a:buSzPct val="100000"/>
              <a:buChar char="✗"/>
            </a:pPr>
            <a:r>
              <a:rPr lang="en-US" sz="1300" dirty="0">
                <a:solidFill>
                  <a:srgbClr val="222222"/>
                </a:solidFill>
                <a:latin typeface="Calibri" pitchFamily="34" charset="0"/>
                <a:ea typeface="Calibri" pitchFamily="34" charset="-122"/>
                <a:cs typeface="Calibri" pitchFamily="34" charset="-120"/>
              </a:rPr>
              <a:t>Conflicting goals vs. organizational goals</a:t>
            </a:r>
            <a:endParaRPr lang="en-US" sz="1300" dirty="0"/>
          </a:p>
        </p:txBody>
      </p:sp>
      <p:pic>
        <p:nvPicPr>
          <p:cNvPr id="11" name="Picture 10" descr="C:\Users\madam\AppData\Local\Temp\UPSA NEW LOGO.png"/>
          <p:cNvPicPr/>
          <p:nvPr/>
        </p:nvPicPr>
        <p:blipFill>
          <a:blip r:embed="rId3" cstate="print"/>
          <a:srcRect/>
          <a:stretch>
            <a:fillRect/>
          </a:stretch>
        </p:blipFill>
        <p:spPr bwMode="auto">
          <a:xfrm>
            <a:off x="7477041" y="169933"/>
            <a:ext cx="4539632" cy="1265675"/>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961120" y="-1828800"/>
            <a:ext cx="5486400" cy="5486400"/>
          </a:xfrm>
          <a:prstGeom prst="ellipse">
            <a:avLst/>
          </a:prstGeom>
          <a:solidFill>
            <a:srgbClr val="065A82">
              <a:alpha val="60000"/>
            </a:srgbClr>
          </a:solidFill>
          <a:ln/>
        </p:spPr>
      </p:sp>
      <p:sp>
        <p:nvSpPr>
          <p:cNvPr id="3" name="Text 1"/>
          <p:cNvSpPr/>
          <p:nvPr/>
        </p:nvSpPr>
        <p:spPr>
          <a:xfrm>
            <a:off x="822960" y="2194560"/>
            <a:ext cx="7315200" cy="548640"/>
          </a:xfrm>
          <a:prstGeom prst="rect">
            <a:avLst/>
          </a:prstGeom>
          <a:noFill/>
          <a:ln/>
        </p:spPr>
        <p:txBody>
          <a:bodyPr wrap="square" rtlCol="0" anchor="ctr"/>
          <a:lstStyle/>
          <a:p>
            <a:pPr marL="0" indent="0">
              <a:buNone/>
            </a:pPr>
            <a:r>
              <a:rPr lang="en-US" sz="1500" b="1" kern="0" spc="300" dirty="0">
                <a:solidFill>
                  <a:srgbClr val="8FCDE0"/>
                </a:solidFill>
                <a:latin typeface="Calibri" pitchFamily="34" charset="0"/>
                <a:ea typeface="Calibri" pitchFamily="34" charset="-122"/>
                <a:cs typeface="Calibri" pitchFamily="34" charset="-120"/>
              </a:rPr>
              <a:t>Recap</a:t>
            </a:r>
            <a:endParaRPr lang="en-US" sz="1500" dirty="0"/>
          </a:p>
        </p:txBody>
      </p:sp>
      <p:sp>
        <p:nvSpPr>
          <p:cNvPr id="4" name="Text 2"/>
          <p:cNvSpPr/>
          <p:nvPr/>
        </p:nvSpPr>
        <p:spPr>
          <a:xfrm>
            <a:off x="822960" y="2651760"/>
            <a:ext cx="10058400" cy="18288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Organizing = building the structure</a:t>
            </a:r>
            <a:endParaRPr lang="en-US" sz="3200" dirty="0"/>
          </a:p>
          <a:p>
            <a:pPr marL="0" indent="0">
              <a:buNone/>
            </a:pPr>
            <a:r>
              <a:rPr lang="en-US" sz="3200" b="1" dirty="0">
                <a:solidFill>
                  <a:srgbClr val="FFFFFF"/>
                </a:solidFill>
                <a:latin typeface="Cambria" pitchFamily="34" charset="0"/>
                <a:ea typeface="Cambria" pitchFamily="34" charset="-122"/>
                <a:cs typeface="Cambria" pitchFamily="34" charset="-120"/>
              </a:rPr>
              <a:t>that lets people work well together.</a:t>
            </a:r>
            <a:endParaRPr lang="en-US" sz="3200" dirty="0"/>
          </a:p>
        </p:txBody>
      </p:sp>
      <p:sp>
        <p:nvSpPr>
          <p:cNvPr id="5" name="Text 3"/>
          <p:cNvSpPr/>
          <p:nvPr/>
        </p:nvSpPr>
        <p:spPr>
          <a:xfrm>
            <a:off x="822960" y="4480560"/>
            <a:ext cx="10058400" cy="457200"/>
          </a:xfrm>
          <a:prstGeom prst="rect">
            <a:avLst/>
          </a:prstGeom>
          <a:noFill/>
          <a:ln/>
        </p:spPr>
        <p:txBody>
          <a:bodyPr wrap="square" rtlCol="0" anchor="ctr"/>
          <a:lstStyle/>
          <a:p>
            <a:pPr marL="0" indent="0">
              <a:buNone/>
            </a:pPr>
            <a:r>
              <a:rPr lang="en-US" sz="1500" i="1" dirty="0">
                <a:solidFill>
                  <a:srgbClr val="CADCE0"/>
                </a:solidFill>
                <a:latin typeface="Calibri" pitchFamily="34" charset="0"/>
                <a:ea typeface="Calibri" pitchFamily="34" charset="-122"/>
                <a:cs typeface="Calibri" pitchFamily="34" charset="-120"/>
              </a:rPr>
              <a:t>Charts • Span of Management • Principles • Formal &amp; Informal Organization</a:t>
            </a:r>
            <a:endParaRPr lang="en-US" sz="1500" dirty="0"/>
          </a:p>
        </p:txBody>
      </p:sp>
      <p:pic>
        <p:nvPicPr>
          <p:cNvPr id="6" name="Picture 5" descr="C:\Users\madam\AppData\Local\Temp\UPSA NEW LOGO.png"/>
          <p:cNvPicPr/>
          <p:nvPr/>
        </p:nvPicPr>
        <p:blipFill>
          <a:blip r:embed="rId3" cstate="print"/>
          <a:srcRect/>
          <a:stretch>
            <a:fillRect/>
          </a:stretch>
        </p:blipFill>
        <p:spPr bwMode="auto">
          <a:xfrm>
            <a:off x="7509409" y="64737"/>
            <a:ext cx="4442527" cy="1306864"/>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Face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61</TotalTime>
  <Words>1389</Words>
  <Application>Microsoft Office PowerPoint</Application>
  <PresentationFormat>Widescreen</PresentationFormat>
  <Paragraphs>245</Paragraphs>
  <Slides>25</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Cambria</vt:lpstr>
      <vt:lpstr>Times New Roman</vt:lpstr>
      <vt:lpstr>Trebuchet MS</vt:lpstr>
      <vt:lpstr>Wingdings 3</vt:lpstr>
      <vt:lpstr>Facet</vt:lpstr>
      <vt:lpstr>UNIVERSITY OF PROFESSIONAL STUDIES, ACCRA PROGRAMME: BSc Information Technology COURSE: Introduction to Management COURSE CODE: BCPC 108 CLASS: IT 1 (GROUP 7) SESSION: Weekend NAME OF LECTURER: ABDUL-JAIL IBRAHIM NAMES OF MEMBERS ROONEY ADJETEY          10342006 PRINCE MARTEY ARDEN 10348709 KWAME TABIRI OBIRI AMOAKO     10341572 JOSEPH MANAWUBA   10337576 AMENYO JOHN YAW    10342213 ADJETEY ROONEY ADJEI    10343006 AARON ADAMS ANKRAH   10341565 </vt:lpstr>
      <vt:lpstr>WEEK 7 . MANAGEMENT Organizing A simple, student-friendly guide to how companies structure their 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user</cp:lastModifiedBy>
  <cp:revision>9</cp:revision>
  <dcterms:created xsi:type="dcterms:W3CDTF">2026-07-10T19:56:11Z</dcterms:created>
  <dcterms:modified xsi:type="dcterms:W3CDTF">2026-07-12T11:23:37Z</dcterms:modified>
</cp:coreProperties>
</file>